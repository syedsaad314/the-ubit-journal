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79"/>
  </p:notesMasterIdLst>
  <p:sldIdLst>
    <p:sldId id="256" r:id="rId4"/>
    <p:sldId id="416" r:id="rId5"/>
    <p:sldId id="417" r:id="rId6"/>
    <p:sldId id="418" r:id="rId7"/>
    <p:sldId id="449" r:id="rId8"/>
    <p:sldId id="450" r:id="rId9"/>
    <p:sldId id="419" r:id="rId10"/>
    <p:sldId id="420" r:id="rId11"/>
    <p:sldId id="421" r:id="rId12"/>
    <p:sldId id="422" r:id="rId13"/>
    <p:sldId id="451" r:id="rId14"/>
    <p:sldId id="423" r:id="rId15"/>
    <p:sldId id="424" r:id="rId16"/>
    <p:sldId id="425" r:id="rId17"/>
    <p:sldId id="426" r:id="rId18"/>
    <p:sldId id="452" r:id="rId19"/>
    <p:sldId id="453" r:id="rId20"/>
    <p:sldId id="454" r:id="rId21"/>
    <p:sldId id="455" r:id="rId22"/>
    <p:sldId id="456" r:id="rId23"/>
    <p:sldId id="457" r:id="rId24"/>
    <p:sldId id="458" r:id="rId25"/>
    <p:sldId id="459" r:id="rId26"/>
    <p:sldId id="460" r:id="rId27"/>
    <p:sldId id="461" r:id="rId28"/>
    <p:sldId id="462" r:id="rId29"/>
    <p:sldId id="463" r:id="rId30"/>
    <p:sldId id="464" r:id="rId31"/>
    <p:sldId id="465" r:id="rId32"/>
    <p:sldId id="466" r:id="rId33"/>
    <p:sldId id="467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68" r:id="rId42"/>
    <p:sldId id="469" r:id="rId43"/>
    <p:sldId id="470" r:id="rId44"/>
    <p:sldId id="471" r:id="rId45"/>
    <p:sldId id="472" r:id="rId46"/>
    <p:sldId id="434" r:id="rId47"/>
    <p:sldId id="435" r:id="rId48"/>
    <p:sldId id="436" r:id="rId49"/>
    <p:sldId id="437" r:id="rId50"/>
    <p:sldId id="438" r:id="rId51"/>
    <p:sldId id="439" r:id="rId52"/>
    <p:sldId id="440" r:id="rId53"/>
    <p:sldId id="441" r:id="rId54"/>
    <p:sldId id="442" r:id="rId55"/>
    <p:sldId id="443" r:id="rId56"/>
    <p:sldId id="444" r:id="rId57"/>
    <p:sldId id="473" r:id="rId58"/>
    <p:sldId id="474" r:id="rId59"/>
    <p:sldId id="475" r:id="rId60"/>
    <p:sldId id="476" r:id="rId61"/>
    <p:sldId id="477" r:id="rId62"/>
    <p:sldId id="478" r:id="rId63"/>
    <p:sldId id="479" r:id="rId64"/>
    <p:sldId id="480" r:id="rId65"/>
    <p:sldId id="481" r:id="rId66"/>
    <p:sldId id="482" r:id="rId67"/>
    <p:sldId id="483" r:id="rId68"/>
    <p:sldId id="484" r:id="rId69"/>
    <p:sldId id="485" r:id="rId70"/>
    <p:sldId id="486" r:id="rId71"/>
    <p:sldId id="487" r:id="rId72"/>
    <p:sldId id="488" r:id="rId73"/>
    <p:sldId id="489" r:id="rId74"/>
    <p:sldId id="490" r:id="rId75"/>
    <p:sldId id="491" r:id="rId76"/>
    <p:sldId id="492" r:id="rId77"/>
    <p:sldId id="493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48"/>
    <p:restoredTop sz="94663"/>
  </p:normalViewPr>
  <p:slideViewPr>
    <p:cSldViewPr snapToGrid="0" snapToObjects="1">
      <p:cViewPr varScale="1">
        <p:scale>
          <a:sx n="70" d="100"/>
          <a:sy n="70" d="100"/>
        </p:scale>
        <p:origin x="11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41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43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44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45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887E5588-11DE-4FA5-8B07-6E687CD2B7D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564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7E47B9-1AC7-4CE0-83B9-79A8A5448325}" type="slidenum">
              <a:rPr lang="en-US" altLang="en-US" sz="1300" smtClean="0"/>
              <a:pPr/>
              <a:t>5</a:t>
            </a:fld>
            <a:endParaRPr lang="en-US" altLang="en-US" sz="13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7186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4520CB-7435-4150-8FCD-0D9FA59BDC48}" type="slidenum">
              <a:rPr lang="en-US" altLang="en-US" sz="1300" smtClean="0"/>
              <a:pPr/>
              <a:t>6</a:t>
            </a:fld>
            <a:endParaRPr lang="en-US" altLang="en-US" sz="13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11556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B64257-81BF-41E0-86B9-9D50E77C7BA2}" type="slidenum">
              <a:rPr lang="en-US" altLang="en-US" sz="1300" smtClean="0"/>
              <a:pPr/>
              <a:t>11</a:t>
            </a:fld>
            <a:endParaRPr lang="en-US" altLang="en-US" sz="130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40837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8E1DC3-2D11-4EE2-AE18-7766CD88B73B}" type="slidenum">
              <a:rPr lang="en-US" altLang="en-US" sz="1300" smtClean="0"/>
              <a:pPr/>
              <a:t>16</a:t>
            </a:fld>
            <a:endParaRPr lang="en-US" altLang="en-US" sz="130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78651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5B2AE1-333A-4A2C-A16A-6A3A51EB6E7E}" type="slidenum">
              <a:rPr lang="en-US" altLang="en-US" sz="1300" smtClean="0"/>
              <a:pPr/>
              <a:t>17</a:t>
            </a:fld>
            <a:endParaRPr lang="en-US" altLang="en-US" sz="130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40322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5D19C9-00D7-4CD3-9584-E053597CC044}" type="slidenum">
              <a:rPr lang="en-US" altLang="en-US" sz="1300" smtClean="0"/>
              <a:pPr/>
              <a:t>18</a:t>
            </a:fld>
            <a:endParaRPr lang="en-US" altLang="en-US" sz="130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941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2FB25D-BF0D-44C2-BECE-89103BB4580A}" type="slidenum">
              <a:rPr lang="en-US" altLang="en-US" sz="1300" smtClean="0"/>
              <a:pPr/>
              <a:t>19</a:t>
            </a:fld>
            <a:endParaRPr lang="en-US" altLang="en-US" sz="13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09667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455427-9A0D-41FB-BB9F-2AF3E4E2221E}" type="slidenum">
              <a:rPr lang="en-US" altLang="en-US" sz="1300" smtClean="0"/>
              <a:pPr/>
              <a:t>20</a:t>
            </a:fld>
            <a:endParaRPr lang="en-US" altLang="en-US" sz="13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75652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293AC9-DCC2-4D89-A8E6-8D8A97126805}" type="slidenum">
              <a:rPr lang="en-US" altLang="en-US" sz="1300" smtClean="0"/>
              <a:pPr/>
              <a:t>21</a:t>
            </a:fld>
            <a:endParaRPr lang="en-US" altLang="en-US" sz="130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98518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F5C157-1B93-420E-B7C3-496692BC9995}" type="slidenum">
              <a:rPr lang="en-US" altLang="en-US" sz="1300" smtClean="0"/>
              <a:pPr/>
              <a:t>22</a:t>
            </a:fld>
            <a:endParaRPr lang="en-US" altLang="en-US" sz="13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26395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1C45257-EF8C-40FE-83A4-D800EDD2F375}" type="slidenum">
              <a:rPr lang="en-US" altLang="en-US" sz="1300" smtClean="0"/>
              <a:pPr/>
              <a:t>23</a:t>
            </a:fld>
            <a:endParaRPr lang="en-US" altLang="en-US" sz="13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93577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EB7B2C-8DEA-415E-9DB2-79206D2B4CBC}" type="slidenum">
              <a:rPr lang="en-US" altLang="en-US" sz="1300" smtClean="0"/>
              <a:pPr/>
              <a:t>24</a:t>
            </a:fld>
            <a:endParaRPr lang="en-US" altLang="en-US" sz="130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39525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8EE1A8-6981-43E7-99DD-E0231D6BAD37}" type="slidenum">
              <a:rPr lang="en-US" altLang="en-US" sz="1300" smtClean="0"/>
              <a:pPr/>
              <a:t>25</a:t>
            </a:fld>
            <a:endParaRPr lang="en-US" altLang="en-US" sz="13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26389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17C4AE-78A7-4E1D-8402-0D4C2046236D}" type="slidenum">
              <a:rPr lang="en-US" altLang="en-US" sz="1300" smtClean="0"/>
              <a:pPr/>
              <a:t>26</a:t>
            </a:fld>
            <a:endParaRPr lang="en-US" altLang="en-US" sz="130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72800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634620-ACA2-44F9-AAED-B40623AAC15A}" type="slidenum">
              <a:rPr lang="en-US" altLang="en-US" sz="1300" smtClean="0"/>
              <a:pPr/>
              <a:t>27</a:t>
            </a:fld>
            <a:endParaRPr lang="en-US" altLang="en-US" sz="130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79786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548709-5644-406D-A942-F9B4F20AC396}" type="slidenum">
              <a:rPr lang="en-US" altLang="en-US" sz="1300" smtClean="0"/>
              <a:pPr/>
              <a:t>28</a:t>
            </a:fld>
            <a:endParaRPr lang="en-US" altLang="en-US" sz="130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45184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A047B3-5E8C-4E56-B058-D464A9062B90}" type="slidenum">
              <a:rPr lang="en-US" altLang="en-US" sz="1300" smtClean="0"/>
              <a:pPr/>
              <a:t>29</a:t>
            </a:fld>
            <a:endParaRPr lang="en-US" altLang="en-US" sz="130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58036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DB9AAA-8835-4F5D-A4F1-5EDC8D48E005}" type="slidenum">
              <a:rPr lang="en-US" altLang="en-US" sz="1300" smtClean="0"/>
              <a:pPr/>
              <a:t>30</a:t>
            </a:fld>
            <a:endParaRPr lang="en-US" altLang="en-US" sz="13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163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53CAE3-25F4-431A-BCC0-2B1693164305}" type="slidenum">
              <a:rPr lang="en-US" altLang="en-US" sz="1300" smtClean="0"/>
              <a:pPr/>
              <a:t>31</a:t>
            </a:fld>
            <a:endParaRPr lang="en-US" altLang="en-US" sz="13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71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06A9BA-505F-4703-B578-D3407865D2DC}" type="slidenum">
              <a:rPr lang="en-US" altLang="en-US" sz="1300" smtClean="0"/>
              <a:pPr/>
              <a:t>39</a:t>
            </a:fld>
            <a:endParaRPr lang="en-US" altLang="en-US" sz="13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0118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9545A4-828D-43CE-AFFE-9BF67910D342}" type="slidenum">
              <a:rPr lang="en-US" altLang="en-US" sz="1300" smtClean="0"/>
              <a:pPr/>
              <a:t>40</a:t>
            </a:fld>
            <a:endParaRPr lang="en-US" altLang="en-US" sz="13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2103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5D5F3A-0610-4D1B-8CD1-90012B588A59}" type="slidenum">
              <a:rPr lang="en-US" altLang="en-US" sz="1300" smtClean="0"/>
              <a:pPr/>
              <a:t>41</a:t>
            </a:fld>
            <a:endParaRPr lang="en-US" altLang="en-US" sz="13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3223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061D99-92A1-40EE-9D55-B4D76A103D53}" type="slidenum">
              <a:rPr lang="en-US" altLang="en-US" sz="1300" smtClean="0"/>
              <a:pPr/>
              <a:t>42</a:t>
            </a:fld>
            <a:endParaRPr lang="en-US" altLang="en-US" sz="13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11771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88CDC0-02EB-4F24-897E-0BB22192D0F0}" type="slidenum">
              <a:rPr lang="en-US" altLang="en-US" sz="1300" smtClean="0"/>
              <a:pPr/>
              <a:t>43</a:t>
            </a:fld>
            <a:endParaRPr lang="en-US" altLang="en-US" sz="13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1371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0911CD-FAA7-4899-9B67-81E4AAEF1FBC}" type="slidenum">
              <a:rPr lang="en-US" altLang="en-US" sz="1300" smtClean="0"/>
              <a:pPr/>
              <a:t>55</a:t>
            </a:fld>
            <a:endParaRPr lang="en-US" altLang="en-US" sz="130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89249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89DD45-AAE2-43CC-ABA8-6EC5E159FAA8}" type="slidenum">
              <a:rPr lang="en-US" altLang="en-US" sz="1300" smtClean="0"/>
              <a:pPr/>
              <a:t>56</a:t>
            </a:fld>
            <a:endParaRPr lang="en-US" altLang="en-US" sz="1300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66712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BD03DF-1997-4411-9DA0-06AC1B252967}" type="slidenum">
              <a:rPr lang="en-US" altLang="en-US" sz="1300" smtClean="0"/>
              <a:pPr/>
              <a:t>57</a:t>
            </a:fld>
            <a:endParaRPr lang="en-US" altLang="en-US" sz="13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843540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85D34BE-ECE9-4450-9DBB-1A6BA06BBCDB}" type="slidenum">
              <a:rPr lang="en-US" altLang="en-US" sz="1300" smtClean="0"/>
              <a:pPr/>
              <a:t>58</a:t>
            </a:fld>
            <a:endParaRPr lang="en-US" altLang="en-US" sz="130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71325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60A5CB-99C8-4022-9F77-E1667CF257DB}" type="slidenum">
              <a:rPr lang="en-US" altLang="en-US" sz="1300" smtClean="0"/>
              <a:pPr/>
              <a:t>59</a:t>
            </a:fld>
            <a:endParaRPr lang="en-US" altLang="en-US" sz="130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455714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4CFD0B-D6E9-4166-9754-634EF08AE453}" type="slidenum">
              <a:rPr lang="en-US" altLang="en-US" sz="1300" smtClean="0"/>
              <a:pPr/>
              <a:t>60</a:t>
            </a:fld>
            <a:endParaRPr lang="en-US" altLang="en-US" sz="1300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946752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EC9080-6878-46FD-88D8-A754B047BB41}" type="slidenum">
              <a:rPr lang="en-US" altLang="en-US" sz="1300" smtClean="0"/>
              <a:pPr/>
              <a:t>61</a:t>
            </a:fld>
            <a:endParaRPr lang="en-US" altLang="en-US" sz="130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96036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656B45-984E-4721-B01F-19A6C3BE1677}" type="slidenum">
              <a:rPr lang="en-US" altLang="en-US" sz="1300" smtClean="0"/>
              <a:pPr/>
              <a:t>62</a:t>
            </a:fld>
            <a:endParaRPr lang="en-US" altLang="en-US" sz="1300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621767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66DFCA-9099-4F7E-8C53-1B875A81FE4E}" type="slidenum">
              <a:rPr lang="en-US" altLang="en-US" sz="1300" smtClean="0"/>
              <a:pPr/>
              <a:t>63</a:t>
            </a:fld>
            <a:endParaRPr lang="en-US" altLang="en-US" sz="1300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606990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32A57C-8C5B-4553-8AE8-B4A93E53B3D2}" type="slidenum">
              <a:rPr lang="en-US" altLang="en-US" sz="1300" smtClean="0"/>
              <a:pPr/>
              <a:t>64</a:t>
            </a:fld>
            <a:endParaRPr lang="en-US" altLang="en-US" sz="1300" smtClean="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742162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BECAC8-A180-47CC-B6CB-93E97CA4CE51}" type="slidenum">
              <a:rPr lang="en-US" altLang="en-US" sz="1300" smtClean="0"/>
              <a:pPr/>
              <a:t>65</a:t>
            </a:fld>
            <a:endParaRPr lang="en-US" altLang="en-US" sz="1300" smtClean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003548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ACBB32-BA15-4584-A390-2334F9C185E9}" type="slidenum">
              <a:rPr lang="en-US" altLang="en-US" sz="1300" smtClean="0"/>
              <a:pPr/>
              <a:t>66</a:t>
            </a:fld>
            <a:endParaRPr lang="en-US" altLang="en-US" sz="1300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589400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DED7C0-4A2B-435A-86C4-77CBAADA4521}" type="slidenum">
              <a:rPr lang="en-US" altLang="en-US" sz="1300" smtClean="0"/>
              <a:pPr/>
              <a:t>67</a:t>
            </a:fld>
            <a:endParaRPr lang="en-US" altLang="en-US" sz="1300" smtClean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98949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81ED7E-898F-4EED-8D3A-459B6518416A}" type="slidenum">
              <a:rPr lang="en-US" altLang="en-US" sz="1300" smtClean="0"/>
              <a:pPr/>
              <a:t>68</a:t>
            </a:fld>
            <a:endParaRPr lang="en-US" altLang="en-US" sz="1300" smtClean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141678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2E2DAA-048A-4B1D-AB40-683FEFF90044}" type="slidenum">
              <a:rPr lang="en-US" altLang="en-US" sz="1300" smtClean="0"/>
              <a:pPr/>
              <a:t>69</a:t>
            </a:fld>
            <a:endParaRPr lang="en-US" altLang="en-US" sz="1300" smtClean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31015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925E8E-0C37-4125-BD47-4610E3856D70}" type="slidenum">
              <a:rPr lang="en-US" altLang="en-US" sz="1300" smtClean="0"/>
              <a:pPr/>
              <a:t>70</a:t>
            </a:fld>
            <a:endParaRPr lang="en-US" altLang="en-US" sz="1300" smtClean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179469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B38B59-8192-41A3-ACA3-0703064E06B7}" type="slidenum">
              <a:rPr lang="en-US" altLang="en-US" sz="1300" smtClean="0"/>
              <a:pPr/>
              <a:t>71</a:t>
            </a:fld>
            <a:endParaRPr lang="en-US" altLang="en-US" sz="1300" smtClean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532130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12626A-2424-43D1-B47E-3B47B59952FE}" type="slidenum">
              <a:rPr lang="en-US" altLang="en-US" sz="1300" smtClean="0"/>
              <a:pPr/>
              <a:t>72</a:t>
            </a:fld>
            <a:endParaRPr lang="en-US" altLang="en-US" sz="1300" smtClean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829605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BB67E5-546B-447D-AB8A-493C61BA049C}" type="slidenum">
              <a:rPr lang="en-US" altLang="en-US" sz="1300" smtClean="0"/>
              <a:pPr/>
              <a:t>73</a:t>
            </a:fld>
            <a:endParaRPr lang="en-US" altLang="en-US" sz="1300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219255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6B0595-8ACC-4EC9-8685-912228EE9F7D}" type="slidenum">
              <a:rPr lang="en-US" altLang="en-US" sz="1300" smtClean="0"/>
              <a:pPr/>
              <a:t>74</a:t>
            </a:fld>
            <a:endParaRPr lang="en-US" altLang="en-US" sz="1300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977535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66AE69-517D-4ECB-ABB8-B38665B3AE2B}" type="slidenum">
              <a:rPr lang="en-US" altLang="en-US" sz="1300" smtClean="0"/>
              <a:pPr/>
              <a:t>75</a:t>
            </a:fld>
            <a:endParaRPr lang="en-US" altLang="en-US" sz="1300" smtClean="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184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stomShape 1" hidden="1"/>
          <p:cNvSpPr/>
          <p:nvPr/>
        </p:nvSpPr>
        <p:spPr>
          <a:xfrm>
            <a:off x="500040" y="5945040"/>
            <a:ext cx="4939920" cy="920520"/>
          </a:xfrm>
          <a:custGeom>
            <a:avLst/>
            <a:gdLst/>
            <a:ahLst/>
            <a:cxn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2" hidden="1"/>
          <p:cNvSpPr/>
          <p:nvPr/>
        </p:nvSpPr>
        <p:spPr>
          <a:xfrm>
            <a:off x="485640" y="5938920"/>
            <a:ext cx="3690720" cy="933120"/>
          </a:xfrm>
          <a:custGeom>
            <a:avLst/>
            <a:gdLst/>
            <a:ahLst/>
            <a:cxn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14">
              <a:alphaModFix amt="50000"/>
            </a:blip>
            <a:tile/>
          </a:blip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Line 4"/>
          <p:cNvSpPr/>
          <p:nvPr/>
        </p:nvSpPr>
        <p:spPr>
          <a:xfrm>
            <a:off x="-9000" y="5787720"/>
            <a:ext cx="3405240" cy="1084320"/>
          </a:xfrm>
          <a:prstGeom prst="line">
            <a:avLst/>
          </a:prstGeom>
          <a:ln w="12240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4664160"/>
            <a:ext cx="9150120" cy="360"/>
          </a:xfrm>
          <a:prstGeom prst="rtTriangle">
            <a:avLst/>
          </a:prstGeom>
          <a:gradFill rotWithShape="0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/>
          </a:grad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grpSp>
        <p:nvGrpSpPr>
          <p:cNvPr id="5" name="Group 6"/>
          <p:cNvGrpSpPr/>
          <p:nvPr/>
        </p:nvGrpSpPr>
        <p:grpSpPr>
          <a:xfrm>
            <a:off x="-2880" y="4952880"/>
            <a:ext cx="9146880" cy="1911240"/>
            <a:chOff x="-2880" y="4952880"/>
            <a:chExt cx="9146880" cy="1911240"/>
          </a:xfrm>
        </p:grpSpPr>
        <p:sp>
          <p:nvSpPr>
            <p:cNvPr id="6" name="CustomShape 7"/>
            <p:cNvSpPr/>
            <p:nvPr/>
          </p:nvSpPr>
          <p:spPr>
            <a:xfrm>
              <a:off x="1687680" y="4952880"/>
              <a:ext cx="7455960" cy="487080"/>
            </a:xfrm>
            <a:custGeom>
              <a:avLst/>
              <a:gdLst/>
              <a:ahLst/>
              <a:cxnLst/>
              <a:rect l="l" t="t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36360" y="5237280"/>
              <a:ext cx="9107280" cy="788760"/>
            </a:xfrm>
            <a:custGeom>
              <a:avLst/>
              <a:gdLst/>
              <a:ahLst/>
              <a:cxnLst/>
              <a:rect l="l" t="t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720" y="5001120"/>
              <a:ext cx="9142920" cy="1863000"/>
            </a:xfrm>
            <a:custGeom>
              <a:avLst/>
              <a:gdLst/>
              <a:ahLst/>
              <a:cxnLst/>
              <a:rect l="l" t="t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>
                <a:alphaModFix amt="50000"/>
              </a:blip>
              <a:tile/>
            </a:blipFill>
            <a:ln w="12600"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" name="Line 10"/>
            <p:cNvSpPr/>
            <p:nvPr/>
          </p:nvSpPr>
          <p:spPr>
            <a:xfrm>
              <a:off x="-2880" y="4997520"/>
              <a:ext cx="9146880" cy="789840"/>
            </a:xfrm>
            <a:prstGeom prst="line">
              <a:avLst/>
            </a:prstGeom>
            <a:ln w="12240">
              <a:solidFill>
                <a:srgbClr val="196F85"/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10" name="PlaceHolder 11"/>
          <p:cNvSpPr>
            <a:spLocks noGrp="1"/>
          </p:cNvSpPr>
          <p:nvPr>
            <p:ph type="title"/>
          </p:nvPr>
        </p:nvSpPr>
        <p:spPr>
          <a:xfrm>
            <a:off x="685800" y="1752480"/>
            <a:ext cx="7772040" cy="18295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4800" b="1" strike="noStrike" spc="-1">
                <a:solidFill>
                  <a:srgbClr val="464646"/>
                </a:solidFill>
                <a:latin typeface="Lucida Sans Unicode"/>
              </a:rPr>
              <a:t>Click to edit Master title style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880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12" name="PlaceHolder 13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468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44D2072A-8BE6-4C81-9D31-F86B14C9D8F3}" type="slidenum">
              <a:rPr lang="en-US" sz="1000" b="0" strike="noStrike" spc="-1">
                <a:solidFill>
                  <a:srgbClr val="FFFFFF"/>
                </a:solidFill>
                <a:latin typeface="Lucida Sans Unicode"/>
              </a:rPr>
              <a:t>‹#›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13" name="PlaceHolder 14"/>
          <p:cNvSpPr>
            <a:spLocks noGrp="1"/>
          </p:cNvSpPr>
          <p:nvPr>
            <p:ph type="ftr"/>
          </p:nvPr>
        </p:nvSpPr>
        <p:spPr>
          <a:xfrm>
            <a:off x="2743200" y="6408720"/>
            <a:ext cx="398736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E7F0F3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  <p:sp>
        <p:nvSpPr>
          <p:cNvPr id="14" name="PlaceHolder 1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strike="noStrike" spc="-1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Lucida Sans Unicode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500040" y="5945040"/>
            <a:ext cx="4939920" cy="920520"/>
          </a:xfrm>
          <a:custGeom>
            <a:avLst/>
            <a:gdLst/>
            <a:ahLst/>
            <a:cxn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CustomShape 2"/>
          <p:cNvSpPr/>
          <p:nvPr/>
        </p:nvSpPr>
        <p:spPr>
          <a:xfrm>
            <a:off x="485640" y="5938920"/>
            <a:ext cx="3690720" cy="933120"/>
          </a:xfrm>
          <a:custGeom>
            <a:avLst/>
            <a:gdLst/>
            <a:ahLst/>
            <a:cxn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CustomShape 3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14">
              <a:alphaModFix amt="50000"/>
            </a:blip>
            <a:tile/>
          </a:blip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4" name="Line 4"/>
          <p:cNvSpPr/>
          <p:nvPr/>
        </p:nvSpPr>
        <p:spPr>
          <a:xfrm>
            <a:off x="-9000" y="5787720"/>
            <a:ext cx="3405240" cy="1084320"/>
          </a:xfrm>
          <a:prstGeom prst="line">
            <a:avLst/>
          </a:prstGeom>
          <a:ln w="12240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5" name="PlaceHolder 5"/>
          <p:cNvSpPr>
            <a:spLocks noGrp="1"/>
          </p:cNvSpPr>
          <p:nvPr>
            <p:ph type="ftr"/>
          </p:nvPr>
        </p:nvSpPr>
        <p:spPr>
          <a:xfrm>
            <a:off x="3962520" y="6408720"/>
            <a:ext cx="468432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468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F758FA25-9BA2-4C65-A173-66D55DA449E2}" type="slidenum"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‹#›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41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8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strike="noStrike" spc="-1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Lucida Sans Unicode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Lucida Sans Unicod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500040" y="5945040"/>
            <a:ext cx="4939920" cy="920520"/>
          </a:xfrm>
          <a:custGeom>
            <a:avLst/>
            <a:gdLst/>
            <a:ahLst/>
            <a:cxnLst/>
            <a:rect l="l" t="t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CustomShape 2"/>
          <p:cNvSpPr/>
          <p:nvPr/>
        </p:nvSpPr>
        <p:spPr>
          <a:xfrm>
            <a:off x="485640" y="5938920"/>
            <a:ext cx="3690720" cy="933120"/>
          </a:xfrm>
          <a:custGeom>
            <a:avLst/>
            <a:gdLst/>
            <a:ahLst/>
            <a:cxnLst/>
            <a:rect l="l" t="t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CustomShape 3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 rotWithShape="0">
            <a:blip r:embed="rId14">
              <a:alphaModFix amt="50000"/>
            </a:blip>
            <a:tile/>
          </a:blip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" name="Line 4"/>
          <p:cNvSpPr/>
          <p:nvPr/>
        </p:nvSpPr>
        <p:spPr>
          <a:xfrm>
            <a:off x="-9000" y="5787720"/>
            <a:ext cx="3405240" cy="1084320"/>
          </a:xfrm>
          <a:prstGeom prst="line">
            <a:avLst/>
          </a:prstGeom>
          <a:ln w="12240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9" name="PlaceHolder 5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464646"/>
                </a:solidFill>
                <a:latin typeface="Lucida Sans Unicode"/>
              </a:rPr>
              <a:t>Click to edit Master title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240" cy="4525560"/>
          </a:xfrm>
          <a:prstGeom prst="rect">
            <a:avLst/>
          </a:prstGeom>
        </p:spPr>
        <p:txBody>
          <a:bodyPr/>
          <a:lstStyle/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Lucida Sans Unicode"/>
              </a:rPr>
              <a:t>Click to edit Master text styles</a:t>
            </a: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300" b="0" strike="noStrike" spc="-1">
                <a:solidFill>
                  <a:srgbClr val="000000"/>
                </a:solidFill>
                <a:latin typeface="Lucida Sans Unicode"/>
              </a:rPr>
              <a:t>Second level</a:t>
            </a:r>
          </a:p>
          <a:p>
            <a:pPr marL="858960" lvl="2" indent="-22824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lang="en-US" sz="2100" b="0" strike="noStrike" spc="-1">
                <a:solidFill>
                  <a:srgbClr val="000000"/>
                </a:solidFill>
                <a:latin typeface="Lucida Sans Unicode"/>
              </a:rPr>
              <a:t>Third level</a:t>
            </a:r>
          </a:p>
          <a:p>
            <a:pPr marL="1143000" indent="-228240">
              <a:lnSpc>
                <a:spcPct val="100000"/>
              </a:lnSpc>
              <a:spcBef>
                <a:spcPts val="349"/>
              </a:spcBef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Fourth level</a:t>
            </a:r>
          </a:p>
          <a:p>
            <a:pPr marL="1143000" indent="-228240">
              <a:lnSpc>
                <a:spcPct val="100000"/>
              </a:lnSpc>
              <a:spcBef>
                <a:spcPts val="349"/>
              </a:spcBef>
            </a:pPr>
            <a:r>
              <a:rPr lang="en-US" sz="1900" b="0" strike="noStrike" spc="-1">
                <a:solidFill>
                  <a:srgbClr val="000000"/>
                </a:solidFill>
                <a:latin typeface="Lucida Sans Unicode"/>
              </a:rPr>
              <a:t>Fifth level</a:t>
            </a:r>
          </a:p>
        </p:txBody>
      </p:sp>
      <p:sp>
        <p:nvSpPr>
          <p:cNvPr id="101" name="PlaceHolder 7"/>
          <p:cNvSpPr>
            <a:spLocks noGrp="1"/>
          </p:cNvSpPr>
          <p:nvPr>
            <p:ph type="dt"/>
          </p:nvPr>
        </p:nvSpPr>
        <p:spPr>
          <a:xfrm>
            <a:off x="6727680" y="6408720"/>
            <a:ext cx="191880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102" name="PlaceHolder 8"/>
          <p:cNvSpPr>
            <a:spLocks noGrp="1"/>
          </p:cNvSpPr>
          <p:nvPr>
            <p:ph type="ftr"/>
          </p:nvPr>
        </p:nvSpPr>
        <p:spPr>
          <a:xfrm>
            <a:off x="3962520" y="6408720"/>
            <a:ext cx="276840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  <p:sp>
        <p:nvSpPr>
          <p:cNvPr id="103" name="PlaceHolder 9"/>
          <p:cNvSpPr>
            <a:spLocks noGrp="1"/>
          </p:cNvSpPr>
          <p:nvPr>
            <p:ph type="sldNum"/>
          </p:nvPr>
        </p:nvSpPr>
        <p:spPr>
          <a:xfrm>
            <a:off x="8647200" y="6408720"/>
            <a:ext cx="366480" cy="36468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45C35F38-E37B-45D6-9CF0-8B04E21F083B}" type="slidenum"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‹#›</a:t>
            </a:fld>
            <a:endParaRPr lang="en-US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9.emf"/><Relationship Id="rId4" Type="http://schemas.openxmlformats.org/officeDocument/2006/relationships/oleObject" Target="../embeddings/Microsoft_Word_97_-_2003_Document1.doc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0.emf"/><Relationship Id="rId4" Type="http://schemas.openxmlformats.org/officeDocument/2006/relationships/oleObject" Target="../embeddings/Microsoft_Word_97_-_2003_Document2.doc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685800" y="1752480"/>
            <a:ext cx="7772040" cy="1829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800" b="1" strike="noStrike" spc="-1" dirty="0" smtClean="0">
                <a:solidFill>
                  <a:srgbClr val="3380E6"/>
                </a:solidFill>
                <a:latin typeface="Goudy Sans Medium"/>
              </a:rPr>
              <a:t>Introduction </a:t>
            </a:r>
            <a:r>
              <a:rPr lang="en-US" sz="4800" b="1" strike="noStrike" spc="-1" dirty="0">
                <a:solidFill>
                  <a:srgbClr val="3380E6"/>
                </a:solidFill>
                <a:latin typeface="Goudy Sans Medium"/>
              </a:rPr>
              <a:t>to Recursion</a:t>
            </a:r>
            <a:endParaRPr lang="en-US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Shape 3"/>
          <p:cNvSpPr txBox="1"/>
          <p:nvPr/>
        </p:nvSpPr>
        <p:spPr>
          <a:xfrm>
            <a:off x="2743200" y="6408720"/>
            <a:ext cx="398736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E7F0F3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300" b="0" strike="noStrike" spc="-1">
                <a:solidFill>
                  <a:srgbClr val="000000"/>
                </a:solidFill>
                <a:latin typeface="Cambria"/>
              </a:rPr>
              <a:t>A </a:t>
            </a:r>
            <a:r>
              <a:rPr lang="en-US" sz="2300" b="0" strike="noStrike" spc="-1">
                <a:solidFill>
                  <a:srgbClr val="0000FF"/>
                </a:solidFill>
                <a:latin typeface="Cambria"/>
              </a:rPr>
              <a:t>recursive function</a:t>
            </a:r>
            <a:r>
              <a:rPr lang="en-US" sz="2300" b="0" strike="noStrike" spc="-1">
                <a:solidFill>
                  <a:srgbClr val="000000"/>
                </a:solidFill>
                <a:latin typeface="Cambria"/>
              </a:rPr>
              <a:t> is a function that calls itself, either directly, or indirectly (through another function).</a:t>
            </a:r>
            <a:endParaRPr lang="en-US" sz="23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300" b="0" strike="noStrike" spc="-1">
                <a:solidFill>
                  <a:srgbClr val="000000"/>
                </a:solidFill>
                <a:latin typeface="Cambria"/>
              </a:rPr>
              <a:t>Recursive problem-solving approaches have a number of elements in common.</a:t>
            </a:r>
            <a:endParaRPr lang="en-US" sz="23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A recursive function is called to solve a problem.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The function actually knows how to solve only the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simplest case(s)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, or so-called </a:t>
            </a:r>
            <a:r>
              <a:rPr lang="en-US" sz="2000" b="0" strike="noStrike" spc="-1">
                <a:solidFill>
                  <a:srgbClr val="0000FF"/>
                </a:solidFill>
                <a:latin typeface="Cambria"/>
              </a:rPr>
              <a:t>base case(s)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If the function is called with a base case, the function simply returns a result.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If the function is called with a more complex problem, it typically divides the problem into two conceptual pieces—a piece that the function knows how to do and a piece that it does not know how to do.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This new problem looks like the original, so the function calls a copy of itself to work on the smaller problem—this is referred to as a </a:t>
            </a:r>
            <a:r>
              <a:rPr lang="en-US" sz="2000" b="0" strike="noStrike" spc="-1">
                <a:solidFill>
                  <a:srgbClr val="0000FF"/>
                </a:solidFill>
                <a:latin typeface="Cambria"/>
              </a:rPr>
              <a:t>recursive call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 and is also called the </a:t>
            </a:r>
            <a:r>
              <a:rPr lang="en-US" sz="2000" b="0" strike="noStrike" spc="-1">
                <a:solidFill>
                  <a:srgbClr val="0000FF"/>
                </a:solidFill>
                <a:latin typeface="Cambria"/>
              </a:rPr>
              <a:t>recursion step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36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Picture 1"/>
          <p:cNvPicPr/>
          <p:nvPr/>
        </p:nvPicPr>
        <p:blipFill>
          <a:blip r:embed="rId2"/>
          <a:stretch/>
        </p:blipFill>
        <p:spPr>
          <a:xfrm>
            <a:off x="0" y="1782360"/>
            <a:ext cx="9143640" cy="3292920"/>
          </a:xfrm>
          <a:prstGeom prst="rect">
            <a:avLst/>
          </a:prstGeom>
          <a:ln>
            <a:noFill/>
          </a:ln>
        </p:spPr>
      </p:pic>
      <p:sp>
        <p:nvSpPr>
          <p:cNvPr id="538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recursion step often includes the key-word </a:t>
            </a:r>
            <a:r>
              <a:rPr lang="en-US" sz="2700" b="0" strike="noStrike" spc="-1">
                <a:solidFill>
                  <a:srgbClr val="000000"/>
                </a:solidFill>
                <a:latin typeface="Consolas"/>
              </a:rPr>
              <a:t>return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, because its result will be combined with the portion of the problem the function knew how to solve to form the result passed back to the original caller, possibly </a:t>
            </a:r>
            <a:r>
              <a:rPr lang="en-US" sz="2700" b="0" strike="noStrike" spc="-1">
                <a:solidFill>
                  <a:srgbClr val="000000"/>
                </a:solidFill>
                <a:latin typeface="Consolas"/>
              </a:rPr>
              <a:t>main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recursion step executes while the original call to the function is still “open,” i.e., it has not yet finished executing.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recursion step can result in many more such recursive calls.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41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Recursive Methods</a:t>
            </a:r>
            <a:br>
              <a:rPr lang="en-US" altLang="en-US" smtClean="0"/>
            </a:br>
            <a:r>
              <a:rPr lang="en-US" altLang="en-US" smtClean="0"/>
              <a:t>Must Eventually Terminate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i="1" smtClean="0">
                <a:latin typeface="Arial" panose="020B0604020202020204" pitchFamily="34" charset="0"/>
              </a:rPr>
              <a:t>A recursive method must have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i="1" smtClean="0">
                <a:latin typeface="Arial" panose="020B0604020202020204" pitchFamily="34" charset="0"/>
              </a:rPr>
              <a:t>at least one base, or stopping, case.</a:t>
            </a:r>
            <a:endParaRPr lang="en-US" altLang="en-US" sz="24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A base case does not execute a recursive call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stops the recursion</a:t>
            </a:r>
          </a:p>
          <a:p>
            <a:pPr>
              <a:lnSpc>
                <a:spcPct val="90000"/>
              </a:lnSpc>
            </a:pPr>
            <a:endParaRPr lang="en-US" altLang="en-US" sz="24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Each successive call to itself must be a "smaller version of itself”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an argument that describes a smaller problem</a:t>
            </a:r>
          </a:p>
          <a:p>
            <a:pPr lvl="1"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a base case is eventually reached  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828800" y="1828800"/>
            <a:ext cx="5562600" cy="12192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85691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Key Components of a Recursive Algorithm Design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marL="381000" indent="-381000">
              <a:buFont typeface="Monotype Sorts" charset="2"/>
              <a:buAutoNum type="arabicPeriod"/>
            </a:pPr>
            <a:r>
              <a:rPr lang="en-US" altLang="en-US" sz="2400" smtClean="0"/>
              <a:t>What is a smaller </a:t>
            </a:r>
            <a:r>
              <a:rPr lang="en-US" altLang="en-US" sz="2400" b="1" i="1" smtClean="0"/>
              <a:t>identical</a:t>
            </a:r>
            <a:r>
              <a:rPr lang="en-US" altLang="en-US" sz="2400" smtClean="0"/>
              <a:t> problem(s)? </a:t>
            </a:r>
          </a:p>
          <a:p>
            <a:pPr marL="838200" lvl="1" indent="-381000">
              <a:buFont typeface="Monotype Sorts" charset="2"/>
              <a:buChar char="l"/>
            </a:pPr>
            <a:r>
              <a:rPr lang="en-US" altLang="en-US" sz="2400" smtClean="0">
                <a:solidFill>
                  <a:srgbClr val="0033CC"/>
                </a:solidFill>
              </a:rPr>
              <a:t>Decomposition</a:t>
            </a:r>
          </a:p>
          <a:p>
            <a:pPr marL="381000" indent="-381000">
              <a:buFont typeface="Monotype Sorts" charset="2"/>
              <a:buAutoNum type="arabicPeriod"/>
            </a:pPr>
            <a:r>
              <a:rPr lang="en-US" altLang="en-US" sz="2400" smtClean="0"/>
              <a:t>How are the answers to smaller problems combined to form the answer to the larger problem?</a:t>
            </a:r>
          </a:p>
          <a:p>
            <a:pPr marL="838200" lvl="1" indent="-381000">
              <a:buFont typeface="Monotype Sorts" charset="2"/>
              <a:buChar char="l"/>
            </a:pPr>
            <a:r>
              <a:rPr lang="en-US" altLang="en-US" sz="2400" smtClean="0">
                <a:solidFill>
                  <a:srgbClr val="33CC33"/>
                </a:solidFill>
              </a:rPr>
              <a:t>Composition</a:t>
            </a:r>
          </a:p>
          <a:p>
            <a:pPr marL="381000" indent="-381000">
              <a:buFont typeface="Monotype Sorts" charset="2"/>
              <a:buAutoNum type="arabicPeriod"/>
            </a:pPr>
            <a:r>
              <a:rPr lang="en-US" altLang="en-US" sz="2400" smtClean="0"/>
              <a:t>Which is the smallest problem that can be solved easily (without further decomposition)?</a:t>
            </a:r>
          </a:p>
          <a:p>
            <a:pPr marL="838200" lvl="1" indent="-381000">
              <a:buFont typeface="Monotype Sorts" charset="2"/>
              <a:buChar char="l"/>
            </a:pPr>
            <a:r>
              <a:rPr lang="en-US" altLang="en-US" sz="2400" smtClean="0">
                <a:solidFill>
                  <a:srgbClr val="FF3300"/>
                </a:solidFill>
              </a:rPr>
              <a:t>Base/stopping case</a:t>
            </a:r>
          </a:p>
        </p:txBody>
      </p:sp>
    </p:spTree>
    <p:extLst>
      <p:ext uri="{BB962C8B-B14F-4D97-AF65-F5344CB8AC3E}">
        <p14:creationId xmlns:p14="http://schemas.microsoft.com/office/powerpoint/2010/main" val="167465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944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Factorial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factorial of a nonnegative integer </a:t>
            </a:r>
            <a:r>
              <a:rPr lang="en-US" sz="2700" b="0" i="1" strike="noStrike" spc="-1">
                <a:solidFill>
                  <a:srgbClr val="000000"/>
                </a:solidFill>
                <a:latin typeface="Cambria"/>
              </a:rPr>
              <a:t>n, written n! (and pronounced “n factorial”), is the product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858960" lvl="2" indent="-228240">
              <a:lnSpc>
                <a:spcPct val="9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n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 · </a:t>
            </a: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(n – 1) 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·</a:t>
            </a: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 (n – 2) · … · 1</a:t>
            </a:r>
            <a:endParaRPr lang="en-US" sz="21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with 1! equal to 1, and 0! defined to be 1.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44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944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Iterative Factorial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factorial of an integer, </a:t>
            </a:r>
            <a:r>
              <a:rPr lang="en-US" sz="2700" b="0" strike="noStrike" spc="-1">
                <a:solidFill>
                  <a:srgbClr val="000000"/>
                </a:solidFill>
                <a:latin typeface="Consolas"/>
              </a:rPr>
              <a:t>number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, greater than or equal to 0, can be calculated </a:t>
            </a:r>
            <a:r>
              <a:rPr lang="en-US" sz="2700" b="0" strike="noStrike" spc="-1">
                <a:solidFill>
                  <a:srgbClr val="0000FF"/>
                </a:solidFill>
                <a:latin typeface="Cambria"/>
              </a:rPr>
              <a:t>iteratively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 (nonrecursively) by using a loop.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10944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Recursive Factorial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A </a:t>
            </a:r>
            <a:r>
              <a:rPr lang="en-US" sz="2700" b="0" i="1" strike="noStrike" spc="-1">
                <a:solidFill>
                  <a:srgbClr val="000000"/>
                </a:solidFill>
                <a:latin typeface="Cambria"/>
              </a:rPr>
              <a:t>recursive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 definition of the factorial function is arrived at by observing the following algebraic relationship: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858960" lvl="2" indent="-228240">
              <a:lnSpc>
                <a:spcPct val="9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n! = n  ·  (n – 1)!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 </a:t>
            </a:r>
            <a:endParaRPr lang="en-US" sz="21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47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944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Evaluating 5!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evaluation of 5! would proceed as shown in Fig. 6.24, which illustrates how the succession of recursive calls proceeds until 1! is evaluated to be 1, terminating the recursion. 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Figure 6.24(b) shows the values returned from each recursive call to its caller until the final value is calculated and returned.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50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Picture 1"/>
          <p:cNvPicPr/>
          <p:nvPr/>
        </p:nvPicPr>
        <p:blipFill>
          <a:blip r:embed="rId2"/>
          <a:stretch/>
        </p:blipFill>
        <p:spPr>
          <a:xfrm>
            <a:off x="1038240" y="857160"/>
            <a:ext cx="7066080" cy="5143320"/>
          </a:xfrm>
          <a:prstGeom prst="rect">
            <a:avLst/>
          </a:prstGeom>
          <a:ln>
            <a:noFill/>
          </a:ln>
        </p:spPr>
      </p:pic>
      <p:sp>
        <p:nvSpPr>
          <p:cNvPr id="552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smtClean="0"/>
              <a:t>Factorial (</a:t>
            </a:r>
            <a:r>
              <a:rPr lang="en-US" altLang="en-US" i="1" smtClean="0"/>
              <a:t>N</a:t>
            </a:r>
            <a:r>
              <a:rPr lang="en-US" altLang="en-US" smtClean="0"/>
              <a:t>!)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8288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lang="en-US" altLang="en-US" sz="2000" i="1" smtClean="0">
                <a:latin typeface="Arial" panose="020B0604020202020204" pitchFamily="34" charset="0"/>
              </a:rPr>
              <a:t>N</a:t>
            </a:r>
            <a:r>
              <a:rPr lang="en-US" altLang="en-US" sz="2000" smtClean="0">
                <a:latin typeface="Arial" panose="020B0604020202020204" pitchFamily="34" charset="0"/>
              </a:rPr>
              <a:t>! = (</a:t>
            </a:r>
            <a:r>
              <a:rPr lang="en-US" altLang="en-US" sz="2000" i="1" smtClean="0">
                <a:latin typeface="Arial" panose="020B0604020202020204" pitchFamily="34" charset="0"/>
              </a:rPr>
              <a:t>N</a:t>
            </a:r>
            <a:r>
              <a:rPr lang="en-US" altLang="en-US" sz="2000" smtClean="0">
                <a:latin typeface="Arial" panose="020B0604020202020204" pitchFamily="34" charset="0"/>
              </a:rPr>
              <a:t>-1)!  * N    [for </a:t>
            </a:r>
            <a:r>
              <a:rPr lang="en-US" altLang="en-US" sz="2000" i="1" smtClean="0">
                <a:latin typeface="Arial" panose="020B0604020202020204" pitchFamily="34" charset="0"/>
              </a:rPr>
              <a:t>N</a:t>
            </a:r>
            <a:r>
              <a:rPr lang="en-US" altLang="en-US" sz="2000" smtClean="0">
                <a:latin typeface="Arial" panose="020B0604020202020204" pitchFamily="34" charset="0"/>
              </a:rPr>
              <a:t> &gt; 1]</a:t>
            </a:r>
          </a:p>
          <a:p>
            <a:r>
              <a:rPr lang="en-US" altLang="en-US" sz="2000" smtClean="0">
                <a:latin typeface="Arial" panose="020B0604020202020204" pitchFamily="34" charset="0"/>
              </a:rPr>
              <a:t>1! = 1</a:t>
            </a:r>
          </a:p>
          <a:p>
            <a:r>
              <a:rPr lang="en-US" altLang="en-US" sz="2000" smtClean="0">
                <a:latin typeface="Arial" panose="020B0604020202020204" pitchFamily="34" charset="0"/>
              </a:rPr>
              <a:t>3! </a:t>
            </a:r>
          </a:p>
          <a:p>
            <a:pPr lvl="1">
              <a:buFontTx/>
              <a:buNone/>
            </a:pPr>
            <a:r>
              <a:rPr lang="en-US" altLang="en-US" sz="2000" smtClean="0">
                <a:latin typeface="Arial" panose="020B0604020202020204" pitchFamily="34" charset="0"/>
              </a:rPr>
              <a:t>=  2! * 3</a:t>
            </a:r>
          </a:p>
          <a:p>
            <a:pPr lvl="1">
              <a:buFontTx/>
              <a:buNone/>
            </a:pPr>
            <a:r>
              <a:rPr lang="en-US" altLang="en-US" sz="2000" smtClean="0">
                <a:latin typeface="Arial" panose="020B0604020202020204" pitchFamily="34" charset="0"/>
              </a:rPr>
              <a:t>=  (1! * 2) * 3</a:t>
            </a:r>
          </a:p>
          <a:p>
            <a:pPr lvl="1">
              <a:buFontTx/>
              <a:buNone/>
            </a:pPr>
            <a:r>
              <a:rPr lang="en-US" altLang="en-US" sz="2000" smtClean="0">
                <a:latin typeface="Arial" panose="020B0604020202020204" pitchFamily="34" charset="0"/>
              </a:rPr>
              <a:t>= 1 * 2 * 3</a:t>
            </a:r>
          </a:p>
          <a:p>
            <a:r>
              <a:rPr lang="en-US" altLang="en-US" sz="2000" smtClean="0">
                <a:latin typeface="Arial" panose="020B0604020202020204" pitchFamily="34" charset="0"/>
              </a:rPr>
              <a:t>Recursive design:</a:t>
            </a:r>
          </a:p>
          <a:p>
            <a:pPr lvl="1"/>
            <a:r>
              <a:rPr lang="en-US" altLang="en-US" sz="2000" smtClean="0">
                <a:latin typeface="Arial" panose="020B0604020202020204" pitchFamily="34" charset="0"/>
              </a:rPr>
              <a:t>Decomposition:  </a:t>
            </a:r>
            <a:r>
              <a:rPr lang="en-US" altLang="en-US" sz="2400" smtClean="0">
                <a:solidFill>
                  <a:srgbClr val="0033CC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400" i="1" smtClean="0">
                <a:solidFill>
                  <a:srgbClr val="0033CC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smtClean="0">
                <a:solidFill>
                  <a:srgbClr val="0033CC"/>
                </a:solidFill>
                <a:latin typeface="Arial" panose="020B0604020202020204" pitchFamily="34" charset="0"/>
              </a:rPr>
              <a:t>-1)!</a:t>
            </a:r>
            <a:r>
              <a:rPr lang="en-US" altLang="en-US" sz="2400" smtClean="0">
                <a:latin typeface="Arial" panose="020B0604020202020204" pitchFamily="34" charset="0"/>
              </a:rPr>
              <a:t> </a:t>
            </a:r>
          </a:p>
          <a:p>
            <a:pPr lvl="1"/>
            <a:r>
              <a:rPr lang="en-US" altLang="en-US" sz="2000" smtClean="0">
                <a:latin typeface="Arial" panose="020B0604020202020204" pitchFamily="34" charset="0"/>
              </a:rPr>
              <a:t>Composition: </a:t>
            </a:r>
            <a:r>
              <a:rPr lang="en-US" altLang="en-US" sz="2000" smtClean="0">
                <a:solidFill>
                  <a:schemeClr val="accent1"/>
                </a:solidFill>
                <a:latin typeface="Arial" panose="020B0604020202020204" pitchFamily="34" charset="0"/>
              </a:rPr>
              <a:t>* </a:t>
            </a:r>
            <a:r>
              <a:rPr lang="en-US" altLang="en-US" sz="2400" i="1" smtClean="0">
                <a:solidFill>
                  <a:schemeClr val="accent1"/>
                </a:solidFill>
                <a:latin typeface="Arial" panose="020B0604020202020204" pitchFamily="34" charset="0"/>
              </a:rPr>
              <a:t>N </a:t>
            </a:r>
          </a:p>
          <a:p>
            <a:pPr lvl="1"/>
            <a:r>
              <a:rPr lang="en-US" altLang="en-US" sz="2000" smtClean="0">
                <a:latin typeface="Arial" panose="020B0604020202020204" pitchFamily="34" charset="0"/>
              </a:rPr>
              <a:t>Base case: </a:t>
            </a:r>
            <a:r>
              <a:rPr lang="en-US" altLang="en-US" sz="2000" smtClean="0">
                <a:solidFill>
                  <a:srgbClr val="FF3300"/>
                </a:solidFill>
                <a:latin typeface="Arial" panose="020B0604020202020204" pitchFamily="34" charset="0"/>
              </a:rPr>
              <a:t>1!</a:t>
            </a:r>
          </a:p>
        </p:txBody>
      </p:sp>
    </p:spTree>
    <p:extLst>
      <p:ext uri="{BB962C8B-B14F-4D97-AF65-F5344CB8AC3E}">
        <p14:creationId xmlns:p14="http://schemas.microsoft.com/office/powerpoint/2010/main" val="314241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944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Using a Recursive </a:t>
            </a:r>
            <a:r>
              <a:rPr lang="en-US" sz="2700" b="1" i="1" strike="noStrike" spc="-1">
                <a:solidFill>
                  <a:srgbClr val="000000"/>
                </a:solidFill>
                <a:latin typeface="Consolas"/>
              </a:rPr>
              <a:t>factorial</a:t>
            </a: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 Function to Calculate Factorials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Figure 6.25 uses recursion to calculate and print the factorials of the integers 0–10. 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55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Picture 1"/>
          <p:cNvPicPr/>
          <p:nvPr/>
        </p:nvPicPr>
        <p:blipFill>
          <a:blip r:embed="rId2"/>
          <a:stretch/>
        </p:blipFill>
        <p:spPr>
          <a:xfrm>
            <a:off x="0" y="985680"/>
            <a:ext cx="9143640" cy="4884840"/>
          </a:xfrm>
          <a:prstGeom prst="rect">
            <a:avLst/>
          </a:prstGeom>
          <a:ln>
            <a:noFill/>
          </a:ln>
        </p:spPr>
      </p:pic>
      <p:sp>
        <p:nvSpPr>
          <p:cNvPr id="557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Picture 1"/>
          <p:cNvPicPr/>
          <p:nvPr/>
        </p:nvPicPr>
        <p:blipFill>
          <a:blip r:embed="rId2"/>
          <a:stretch/>
        </p:blipFill>
        <p:spPr>
          <a:xfrm>
            <a:off x="0" y="304920"/>
            <a:ext cx="9143640" cy="6024960"/>
          </a:xfrm>
          <a:prstGeom prst="rect">
            <a:avLst/>
          </a:prstGeom>
          <a:ln>
            <a:noFill/>
          </a:ln>
        </p:spPr>
      </p:pic>
      <p:sp>
        <p:nvSpPr>
          <p:cNvPr id="559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6.18  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8000">
              <a:lnSpc>
                <a:spcPct val="9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C++11 Type </a:t>
            </a:r>
            <a:r>
              <a:rPr lang="en-US" sz="2400" b="1" i="1" strike="noStrike" spc="-1">
                <a:solidFill>
                  <a:srgbClr val="000000"/>
                </a:solidFill>
                <a:latin typeface="Consolas"/>
              </a:rPr>
              <a:t>unsigned long long int </a:t>
            </a:r>
            <a:endParaRPr lang="en-US" sz="2400" b="0" strike="noStrike" spc="-1">
              <a:solidFill>
                <a:srgbClr val="000000"/>
              </a:solidFill>
              <a:latin typeface="Lucida Sans Unicode"/>
            </a:endParaRPr>
          </a:p>
          <a:p>
            <a:pPr marL="108000">
              <a:lnSpc>
                <a:spcPct val="90000"/>
              </a:lnSpc>
              <a:spcBef>
                <a:spcPts val="400"/>
              </a:spcBef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C++11’s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unsigned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long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long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 type (which can be abbreviated as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unsigned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long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</a:rPr>
              <a:t>long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 </a:t>
            </a: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) on some systems enables you to store values in at least 8 bytes (64 bits) which can hold numbers as large as 18,446,744,073,709,551,615. 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62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urier New" panose="02070309020205020404" pitchFamily="49" charset="0"/>
              </a:rPr>
              <a:t>factorial</a:t>
            </a:r>
            <a:r>
              <a:rPr lang="en-US" altLang="en-US" smtClean="0"/>
              <a:t> Method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522288" y="2395538"/>
            <a:ext cx="8205787" cy="3152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l</a:t>
            </a:r>
            <a:r>
              <a:rPr lang="en-US" altLang="en-US" sz="2000" dirty="0" smtClean="0">
                <a:latin typeface="Courier New" panose="02070309020205020404" pitchFamily="49" charset="0"/>
              </a:rPr>
              <a:t>ong factorial(long </a:t>
            </a:r>
            <a:r>
              <a:rPr lang="en-US" altLang="en-US" sz="20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20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if (n &gt; 1) // recursive case (</a:t>
            </a:r>
            <a:r>
              <a:rPr lang="en-US" altLang="en-US" sz="2000" dirty="0">
                <a:solidFill>
                  <a:srgbClr val="0033CC"/>
                </a:solidFill>
                <a:latin typeface="Courier New" panose="02070309020205020404" pitchFamily="49" charset="0"/>
              </a:rPr>
              <a:t>decomposition</a:t>
            </a:r>
            <a:r>
              <a:rPr lang="en-US" altLang="en-US" sz="2000" dirty="0"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fact = </a:t>
            </a:r>
            <a:r>
              <a:rPr lang="en-US" altLang="en-US" sz="20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factorial(n – 1)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* n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  <a:r>
              <a:rPr lang="en-US" alt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 // composition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else // </a:t>
            </a:r>
            <a:r>
              <a:rPr lang="en-US" altLang="en-US" sz="2000" dirty="0">
                <a:solidFill>
                  <a:srgbClr val="FF3300"/>
                </a:solidFill>
                <a:latin typeface="Courier New" panose="02070309020205020404" pitchFamily="49" charset="0"/>
              </a:rPr>
              <a:t>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return fact;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65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*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58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err="1">
                <a:latin typeface="Courier New" panose="02070309020205020404" pitchFamily="49" charset="0"/>
              </a:rPr>
              <a:t>int</a:t>
            </a:r>
            <a:r>
              <a:rPr lang="en-US" altLang="en-US" sz="1400" dirty="0">
                <a:latin typeface="Courier New" panose="02070309020205020404" pitchFamily="49" charset="0"/>
              </a:rPr>
              <a:t>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* 3;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factorial(1)</a:t>
            </a:r>
            <a:r>
              <a:rPr lang="en-US" altLang="en-US" sz="1400" dirty="0">
                <a:latin typeface="Courier New" panose="02070309020205020404" pitchFamily="49" charset="0"/>
              </a:rPr>
              <a:t> *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 rot="5400000">
            <a:off x="3883819" y="-37306"/>
            <a:ext cx="1397000" cy="369728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414 h 21600"/>
              <a:gd name="T14" fmla="*/ 19220 w 21600"/>
              <a:gd name="T15" fmla="*/ 774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2910" y="0"/>
                </a:lnTo>
                <a:lnTo>
                  <a:pt x="12910" y="4414"/>
                </a:lnTo>
                <a:lnTo>
                  <a:pt x="12427" y="4414"/>
                </a:lnTo>
                <a:cubicBezTo>
                  <a:pt x="5564" y="4414"/>
                  <a:pt x="0" y="7881"/>
                  <a:pt x="0" y="12158"/>
                </a:cubicBezTo>
                <a:lnTo>
                  <a:pt x="0" y="21600"/>
                </a:lnTo>
                <a:lnTo>
                  <a:pt x="3404" y="21600"/>
                </a:lnTo>
                <a:lnTo>
                  <a:pt x="3404" y="12158"/>
                </a:lnTo>
                <a:cubicBezTo>
                  <a:pt x="3404" y="9720"/>
                  <a:pt x="7444" y="7744"/>
                  <a:pt x="12427" y="7744"/>
                </a:cubicBezTo>
                <a:lnTo>
                  <a:pt x="12910" y="7744"/>
                </a:lnTo>
                <a:lnTo>
                  <a:pt x="12910" y="12158"/>
                </a:lnTo>
                <a:lnTo>
                  <a:pt x="21600" y="6079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91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err="1">
                <a:latin typeface="Courier New" panose="02070309020205020404" pitchFamily="49" charset="0"/>
              </a:rPr>
              <a:t>int</a:t>
            </a:r>
            <a:r>
              <a:rPr lang="en-US" altLang="en-US" sz="1400" dirty="0">
                <a:latin typeface="Courier New" panose="02070309020205020404" pitchFamily="49" charset="0"/>
              </a:rPr>
              <a:t>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*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err="1">
                <a:latin typeface="Courier New" panose="02070309020205020404" pitchFamily="49" charset="0"/>
              </a:rPr>
              <a:t>int</a:t>
            </a:r>
            <a:r>
              <a:rPr lang="en-US" altLang="en-US" sz="1400" dirty="0">
                <a:latin typeface="Courier New" panose="02070309020205020404" pitchFamily="49" charset="0"/>
              </a:rPr>
              <a:t>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factorial(1)</a:t>
            </a:r>
            <a:r>
              <a:rPr lang="en-US" altLang="en-US" sz="1400" dirty="0">
                <a:latin typeface="Courier New" panose="02070309020205020404" pitchFamily="49" charset="0"/>
              </a:rPr>
              <a:t> *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592513" y="45481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- 1) *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>
                <a:solidFill>
                  <a:srgbClr val="FF3300"/>
                </a:solidFill>
                <a:latin typeface="Courier New" panose="02070309020205020404" pitchFamily="49" charset="0"/>
              </a:rPr>
              <a:t>fact = 1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4821" name="AutoShape 5"/>
          <p:cNvSpPr>
            <a:spLocks noChangeArrowheads="1"/>
          </p:cNvSpPr>
          <p:nvPr/>
        </p:nvSpPr>
        <p:spPr bwMode="auto">
          <a:xfrm rot="5400000">
            <a:off x="5552282" y="2140744"/>
            <a:ext cx="1397000" cy="3697287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414 h 21600"/>
              <a:gd name="T14" fmla="*/ 19220 w 21600"/>
              <a:gd name="T15" fmla="*/ 774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2910" y="0"/>
                </a:lnTo>
                <a:lnTo>
                  <a:pt x="12910" y="4414"/>
                </a:lnTo>
                <a:lnTo>
                  <a:pt x="12427" y="4414"/>
                </a:lnTo>
                <a:cubicBezTo>
                  <a:pt x="5564" y="4414"/>
                  <a:pt x="0" y="7881"/>
                  <a:pt x="0" y="12158"/>
                </a:cubicBezTo>
                <a:lnTo>
                  <a:pt x="0" y="21600"/>
                </a:lnTo>
                <a:lnTo>
                  <a:pt x="3404" y="21600"/>
                </a:lnTo>
                <a:lnTo>
                  <a:pt x="3404" y="12158"/>
                </a:lnTo>
                <a:cubicBezTo>
                  <a:pt x="3404" y="9720"/>
                  <a:pt x="7444" y="7744"/>
                  <a:pt x="12427" y="7744"/>
                </a:cubicBezTo>
                <a:lnTo>
                  <a:pt x="12910" y="7744"/>
                </a:lnTo>
                <a:lnTo>
                  <a:pt x="12910" y="12158"/>
                </a:lnTo>
                <a:lnTo>
                  <a:pt x="21600" y="6079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7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factorial(1)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592513" y="45481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- 1) *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>
                <a:solidFill>
                  <a:srgbClr val="FF3300"/>
                </a:solidFill>
                <a:latin typeface="Courier New" panose="02070309020205020404" pitchFamily="49" charset="0"/>
              </a:rPr>
              <a:t>fact = 1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i="1" dirty="0">
                <a:solidFill>
                  <a:srgbClr val="CC0099"/>
                </a:solidFill>
                <a:latin typeface="Courier New" panose="02070309020205020404" pitchFamily="49" charset="0"/>
              </a:rPr>
              <a:t>return 1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 rot="-5400000">
            <a:off x="1265238" y="3463925"/>
            <a:ext cx="3205162" cy="306228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301" y="9368"/>
                </a:moveTo>
                <a:cubicBezTo>
                  <a:pt x="19593" y="4667"/>
                  <a:pt x="15553" y="1191"/>
                  <a:pt x="10800" y="1191"/>
                </a:cubicBezTo>
                <a:cubicBezTo>
                  <a:pt x="5493" y="1191"/>
                  <a:pt x="1191" y="5493"/>
                  <a:pt x="1191" y="10800"/>
                </a:cubicBezTo>
                <a:cubicBezTo>
                  <a:pt x="1191" y="12891"/>
                  <a:pt x="1873" y="14926"/>
                  <a:pt x="3134" y="16594"/>
                </a:cubicBezTo>
                <a:lnTo>
                  <a:pt x="2184" y="17313"/>
                </a:lnTo>
                <a:cubicBezTo>
                  <a:pt x="767" y="15437"/>
                  <a:pt x="0" y="13150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143" y="0"/>
                  <a:pt x="20683" y="3907"/>
                  <a:pt x="21479" y="9190"/>
                </a:cubicBezTo>
                <a:lnTo>
                  <a:pt x="24149" y="8788"/>
                </a:lnTo>
                <a:lnTo>
                  <a:pt x="21382" y="12539"/>
                </a:lnTo>
                <a:lnTo>
                  <a:pt x="17631" y="9770"/>
                </a:lnTo>
                <a:lnTo>
                  <a:pt x="20301" y="9368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02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592513" y="45481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- 1) *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>
                <a:solidFill>
                  <a:srgbClr val="FF3300"/>
                </a:solidFill>
                <a:latin typeface="Courier New" panose="02070309020205020404" pitchFamily="49" charset="0"/>
              </a:rPr>
              <a:t>fact = 1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i="1" dirty="0">
                <a:solidFill>
                  <a:srgbClr val="CC0099"/>
                </a:solidFill>
                <a:latin typeface="Courier New" panose="02070309020205020404" pitchFamily="49" charset="0"/>
              </a:rPr>
              <a:t>return 1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917" name="AutoShape 5"/>
          <p:cNvSpPr>
            <a:spLocks noChangeArrowheads="1"/>
          </p:cNvSpPr>
          <p:nvPr/>
        </p:nvSpPr>
        <p:spPr bwMode="auto">
          <a:xfrm rot="-5400000">
            <a:off x="1265238" y="3463925"/>
            <a:ext cx="3205162" cy="306228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301" y="9368"/>
                </a:moveTo>
                <a:cubicBezTo>
                  <a:pt x="19593" y="4667"/>
                  <a:pt x="15553" y="1191"/>
                  <a:pt x="10800" y="1191"/>
                </a:cubicBezTo>
                <a:cubicBezTo>
                  <a:pt x="5493" y="1191"/>
                  <a:pt x="1191" y="5493"/>
                  <a:pt x="1191" y="10800"/>
                </a:cubicBezTo>
                <a:cubicBezTo>
                  <a:pt x="1191" y="12891"/>
                  <a:pt x="1873" y="14926"/>
                  <a:pt x="3134" y="16594"/>
                </a:cubicBezTo>
                <a:lnTo>
                  <a:pt x="2184" y="17313"/>
                </a:lnTo>
                <a:cubicBezTo>
                  <a:pt x="767" y="15437"/>
                  <a:pt x="0" y="13150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143" y="0"/>
                  <a:pt x="20683" y="3907"/>
                  <a:pt x="21479" y="9190"/>
                </a:cubicBezTo>
                <a:lnTo>
                  <a:pt x="24149" y="8788"/>
                </a:lnTo>
                <a:lnTo>
                  <a:pt x="21382" y="12539"/>
                </a:lnTo>
                <a:lnTo>
                  <a:pt x="17631" y="9770"/>
                </a:lnTo>
                <a:lnTo>
                  <a:pt x="20301" y="9368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83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factorial(2)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i="1" dirty="0">
                <a:solidFill>
                  <a:srgbClr val="FF33CC"/>
                </a:solidFill>
                <a:latin typeface="Courier New" panose="02070309020205020404" pitchFamily="49" charset="0"/>
              </a:rPr>
              <a:t>return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4" name="AutoShape 4"/>
          <p:cNvSpPr>
            <a:spLocks noChangeArrowheads="1"/>
          </p:cNvSpPr>
          <p:nvPr/>
        </p:nvSpPr>
        <p:spPr bwMode="auto">
          <a:xfrm rot="-5400000">
            <a:off x="-296068" y="1485106"/>
            <a:ext cx="3321050" cy="2728913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936" y="8079"/>
                </a:moveTo>
                <a:cubicBezTo>
                  <a:pt x="18732" y="4037"/>
                  <a:pt x="15016" y="1267"/>
                  <a:pt x="10800" y="1267"/>
                </a:cubicBezTo>
                <a:cubicBezTo>
                  <a:pt x="5535" y="1267"/>
                  <a:pt x="1267" y="5535"/>
                  <a:pt x="1267" y="10800"/>
                </a:cubicBezTo>
                <a:cubicBezTo>
                  <a:pt x="1267" y="12983"/>
                  <a:pt x="2016" y="15101"/>
                  <a:pt x="3390" y="16798"/>
                </a:cubicBezTo>
                <a:lnTo>
                  <a:pt x="2406" y="17595"/>
                </a:lnTo>
                <a:cubicBezTo>
                  <a:pt x="849" y="15673"/>
                  <a:pt x="0" y="1327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5577" y="0"/>
                  <a:pt x="19787" y="3138"/>
                  <a:pt x="21150" y="7717"/>
                </a:cubicBezTo>
                <a:lnTo>
                  <a:pt x="23738" y="6946"/>
                </a:lnTo>
                <a:lnTo>
                  <a:pt x="21495" y="11094"/>
                </a:lnTo>
                <a:lnTo>
                  <a:pt x="17348" y="8849"/>
                </a:lnTo>
                <a:lnTo>
                  <a:pt x="19936" y="8079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81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879600" y="2401888"/>
            <a:ext cx="5267325" cy="2019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*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i="1" dirty="0">
                <a:solidFill>
                  <a:srgbClr val="FF33CC"/>
                </a:solidFill>
                <a:latin typeface="Courier New" panose="02070309020205020404" pitchFamily="49" charset="0"/>
              </a:rPr>
              <a:t>return 2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3012" name="AutoShape 4"/>
          <p:cNvSpPr>
            <a:spLocks noChangeArrowheads="1"/>
          </p:cNvSpPr>
          <p:nvPr/>
        </p:nvSpPr>
        <p:spPr bwMode="auto">
          <a:xfrm rot="-5400000">
            <a:off x="-296068" y="1485106"/>
            <a:ext cx="3321050" cy="2728913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936" y="8079"/>
                </a:moveTo>
                <a:cubicBezTo>
                  <a:pt x="18732" y="4037"/>
                  <a:pt x="15016" y="1267"/>
                  <a:pt x="10800" y="1267"/>
                </a:cubicBezTo>
                <a:cubicBezTo>
                  <a:pt x="5535" y="1267"/>
                  <a:pt x="1267" y="5535"/>
                  <a:pt x="1267" y="10800"/>
                </a:cubicBezTo>
                <a:cubicBezTo>
                  <a:pt x="1267" y="12983"/>
                  <a:pt x="2016" y="15101"/>
                  <a:pt x="3390" y="16798"/>
                </a:cubicBezTo>
                <a:lnTo>
                  <a:pt x="2406" y="17595"/>
                </a:lnTo>
                <a:cubicBezTo>
                  <a:pt x="849" y="15673"/>
                  <a:pt x="0" y="1327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5577" y="0"/>
                  <a:pt x="19787" y="3138"/>
                  <a:pt x="21150" y="7717"/>
                </a:cubicBezTo>
                <a:lnTo>
                  <a:pt x="23738" y="6946"/>
                </a:lnTo>
                <a:lnTo>
                  <a:pt x="21495" y="11094"/>
                </a:lnTo>
                <a:lnTo>
                  <a:pt x="17348" y="8849"/>
                </a:lnTo>
                <a:lnTo>
                  <a:pt x="19936" y="8079"/>
                </a:lnTo>
                <a:close/>
              </a:path>
            </a:pathLst>
          </a:custGeom>
          <a:noFill/>
          <a:ln w="1270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5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74625" y="217488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b="1" dirty="0" smtClean="0">
                <a:latin typeface="Courier New" panose="02070309020205020404" pitchFamily="49" charset="0"/>
              </a:rPr>
              <a:t>factorial(long </a:t>
            </a:r>
            <a:r>
              <a:rPr lang="en-US" altLang="en-US" sz="1400" b="1" dirty="0">
                <a:latin typeface="Courier New" panose="02070309020205020404" pitchFamily="49" charset="0"/>
              </a:rPr>
              <a:t>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  <a:r>
              <a:rPr lang="en-US" altLang="en-US" sz="1400" dirty="0">
                <a:latin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rgbClr val="0033CC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i="1" dirty="0">
                <a:solidFill>
                  <a:srgbClr val="FF33CC"/>
                </a:solidFill>
                <a:latin typeface="Courier New" panose="02070309020205020404" pitchFamily="49" charset="0"/>
              </a:rPr>
              <a:t>return </a:t>
            </a:r>
            <a:r>
              <a:rPr lang="en-US" altLang="en-US" sz="1400" dirty="0">
                <a:solidFill>
                  <a:srgbClr val="FF33CC"/>
                </a:solidFill>
                <a:latin typeface="Courier New" panose="02070309020205020404" pitchFamily="49" charset="0"/>
              </a:rPr>
              <a:t>6</a:t>
            </a:r>
            <a:r>
              <a:rPr lang="en-US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105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" y="153988"/>
            <a:ext cx="3506788" cy="1374775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0000FF"/>
                </a:solidFill>
              </a:rPr>
              <a:t>decomposition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038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778000" y="3248025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    4</a:t>
            </a:r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34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" y="153988"/>
            <a:ext cx="3506788" cy="1374775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0000FF"/>
                </a:solidFill>
              </a:rPr>
              <a:t>decomposition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038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778000" y="3248025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    4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1104900" y="4071938"/>
            <a:ext cx="3086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factorial(2)     3</a:t>
            </a:r>
          </a:p>
        </p:txBody>
      </p:sp>
      <p:sp>
        <p:nvSpPr>
          <p:cNvPr id="49159" name="Line 7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 flipH="1">
            <a:off x="2701925" y="3676650"/>
            <a:ext cx="584200" cy="2555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3284538" y="3687763"/>
            <a:ext cx="585787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05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" y="153988"/>
            <a:ext cx="3506788" cy="1374775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0000FF"/>
                </a:solidFill>
              </a:rPr>
              <a:t>decomposition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038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1778000" y="3248025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    4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1104900" y="4071938"/>
            <a:ext cx="3086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factorial(2)     3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549275" y="5037138"/>
            <a:ext cx="2795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factorial(1)</a:t>
            </a:r>
            <a:r>
              <a:rPr lang="en-US" altLang="en-US" sz="2000">
                <a:latin typeface="Courier New" panose="02070309020205020404" pitchFamily="49" charset="0"/>
              </a:rPr>
              <a:t>    2</a:t>
            </a:r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2701925" y="3676650"/>
            <a:ext cx="584200" cy="2555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3284538" y="3687763"/>
            <a:ext cx="585787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 flipH="1">
            <a:off x="1963738" y="4621213"/>
            <a:ext cx="584200" cy="2555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2535238" y="4621213"/>
            <a:ext cx="585787" cy="2682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97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203200"/>
            <a:ext cx="3567113" cy="1276350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33CC33"/>
                </a:solidFill>
              </a:rPr>
              <a:t>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792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  <a:endParaRPr lang="en-US" altLang="en-US" sz="2000">
              <a:solidFill>
                <a:srgbClr val="FF33CC"/>
              </a:solidFill>
              <a:latin typeface="Courier New" panose="02070309020205020404" pitchFamily="49" charset="0"/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546225" y="3271838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latin typeface="Courier New" panose="02070309020205020404" pitchFamily="49" charset="0"/>
              </a:rPr>
              <a:t>    4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922338" y="4035425"/>
            <a:ext cx="3379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factorial(2)       3</a:t>
            </a: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341313" y="5011738"/>
            <a:ext cx="3290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factorial(1)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-&gt;1</a:t>
            </a:r>
            <a:r>
              <a:rPr lang="en-US" altLang="en-US" sz="2000">
                <a:latin typeface="Courier New" panose="02070309020205020404" pitchFamily="49" charset="0"/>
              </a:rPr>
              <a:t>    2</a:t>
            </a: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 flipH="1">
            <a:off x="2701925" y="3676650"/>
            <a:ext cx="584200" cy="2555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3284538" y="3687763"/>
            <a:ext cx="585787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 flipH="1">
            <a:off x="1963738" y="4621213"/>
            <a:ext cx="584200" cy="2555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2535238" y="4621213"/>
            <a:ext cx="585787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2370138" y="45688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632200" y="2879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3101975" y="36290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35369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203200"/>
            <a:ext cx="3567113" cy="1276350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33CC33"/>
                </a:solidFill>
              </a:rPr>
              <a:t>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792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  <a:endParaRPr lang="en-US" altLang="en-US" sz="2000">
              <a:solidFill>
                <a:srgbClr val="FF33CC"/>
              </a:solidFill>
              <a:latin typeface="Courier New" panose="02070309020205020404" pitchFamily="49" charset="0"/>
            </a:endParaRP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1546225" y="3271838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latin typeface="Courier New" panose="02070309020205020404" pitchFamily="49" charset="0"/>
              </a:rPr>
              <a:t>    4</a:t>
            </a: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922338" y="4035425"/>
            <a:ext cx="3379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factorial(2)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-&gt;2</a:t>
            </a:r>
            <a:r>
              <a:rPr lang="en-US" altLang="en-US" sz="2000">
                <a:latin typeface="Courier New" panose="02070309020205020404" pitchFamily="49" charset="0"/>
              </a:rPr>
              <a:t>    3</a:t>
            </a:r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5305" name="Line 9"/>
          <p:cNvSpPr>
            <a:spLocks noChangeShapeType="1"/>
          </p:cNvSpPr>
          <p:nvPr/>
        </p:nvSpPr>
        <p:spPr bwMode="auto">
          <a:xfrm flipH="1">
            <a:off x="2701925" y="3676650"/>
            <a:ext cx="584200" cy="2555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3284538" y="3687763"/>
            <a:ext cx="585787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632200" y="2879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3101975" y="36290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42509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203200"/>
            <a:ext cx="3567113" cy="1276350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33CC33"/>
                </a:solidFill>
              </a:rPr>
              <a:t>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792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  <a:endParaRPr lang="en-US" altLang="en-US" sz="2000">
              <a:solidFill>
                <a:srgbClr val="FF33CC"/>
              </a:solidFill>
              <a:latin typeface="Courier New" panose="02070309020205020404" pitchFamily="49" charset="0"/>
            </a:endParaRP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546225" y="3271838"/>
            <a:ext cx="333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factorial(3)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-&gt;6</a:t>
            </a:r>
            <a:r>
              <a:rPr lang="en-US" altLang="en-US" sz="2000">
                <a:latin typeface="Courier New" panose="02070309020205020404" pitchFamily="49" charset="0"/>
              </a:rPr>
              <a:t>    4</a:t>
            </a:r>
          </a:p>
        </p:txBody>
      </p:sp>
      <p:sp>
        <p:nvSpPr>
          <p:cNvPr id="57350" name="Line 6"/>
          <p:cNvSpPr>
            <a:spLocks noChangeShapeType="1"/>
          </p:cNvSpPr>
          <p:nvPr/>
        </p:nvSpPr>
        <p:spPr bwMode="auto">
          <a:xfrm flipH="1">
            <a:off x="3219450" y="2925763"/>
            <a:ext cx="584200" cy="2555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3790950" y="2925763"/>
            <a:ext cx="585788" cy="2682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3632200" y="287972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8451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203200"/>
            <a:ext cx="3567113" cy="1276350"/>
          </a:xfrm>
        </p:spPr>
        <p:txBody>
          <a:bodyPr/>
          <a:lstStyle/>
          <a:p>
            <a:r>
              <a:rPr lang="en-US" altLang="en-US" sz="3600" smtClean="0"/>
              <a:t>Execution Trace (</a:t>
            </a:r>
            <a:r>
              <a:rPr lang="en-US" altLang="en-US" sz="3600" smtClean="0">
                <a:solidFill>
                  <a:srgbClr val="33CC33"/>
                </a:solidFill>
              </a:rPr>
              <a:t>composition</a:t>
            </a:r>
            <a:r>
              <a:rPr lang="en-US" altLang="en-US" sz="3600" smtClean="0"/>
              <a:t>)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3876675" y="0"/>
            <a:ext cx="5267325" cy="201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Courier New" panose="02070309020205020404" pitchFamily="49" charset="0"/>
              </a:rPr>
              <a:t>long factorial(long </a:t>
            </a:r>
            <a:r>
              <a:rPr lang="en-US" altLang="en-US" sz="1400" dirty="0">
                <a:latin typeface="Courier New" panose="02070309020205020404" pitchFamily="49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</a:t>
            </a:r>
            <a:r>
              <a:rPr lang="en-US" altLang="en-US" sz="1400" dirty="0" smtClean="0">
                <a:latin typeface="Courier New" panose="02070309020205020404" pitchFamily="49" charset="0"/>
              </a:rPr>
              <a:t>long </a:t>
            </a:r>
            <a:r>
              <a:rPr lang="en-US" altLang="en-US" sz="1400" dirty="0">
                <a:latin typeface="Courier New" panose="02070309020205020404" pitchFamily="49" charset="0"/>
              </a:rPr>
              <a:t>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if (n &gt; 1) // recursive case (decomposition)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factorial(n – 1) * n; (composition)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else // base case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fact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return fact;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028950" y="2509838"/>
            <a:ext cx="2792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factorial(4)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-&gt;24</a:t>
            </a:r>
          </a:p>
        </p:txBody>
      </p:sp>
    </p:spTree>
    <p:extLst>
      <p:ext uri="{BB962C8B-B14F-4D97-AF65-F5344CB8AC3E}">
        <p14:creationId xmlns:p14="http://schemas.microsoft.com/office/powerpoint/2010/main" val="86892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6.19  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Example Using Recursion: Fibonacci Series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The Fibonacci series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858960" lvl="2" indent="-228240">
              <a:lnSpc>
                <a:spcPct val="8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lang="en-US" sz="1900" b="0" strike="noStrike" spc="-1">
                <a:solidFill>
                  <a:srgbClr val="000000"/>
                </a:solidFill>
                <a:latin typeface="AGaramond"/>
              </a:rPr>
              <a:t>0, 1, 1, 2, 3, 5, 8, 13, 21, …</a:t>
            </a:r>
            <a:endParaRPr lang="en-US" sz="19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begins with 0 and 1 and has the property that each subsequent Fibonacci number is the sum of the previous two Fibonacci numbers.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The series occurs in nature and, in particular, describes a form of spiral.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The ratio of successive Fibonacci numbers converges on a constant value of 1.618….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This frequently occurs in nature and has been called the </a:t>
            </a:r>
            <a:r>
              <a:rPr lang="en-US" sz="2500" b="0" strike="noStrike" spc="-1">
                <a:solidFill>
                  <a:srgbClr val="0000FF"/>
                </a:solidFill>
                <a:latin typeface="Cambria"/>
              </a:rPr>
              <a:t>golden ratio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 or the </a:t>
            </a:r>
            <a:r>
              <a:rPr lang="en-US" sz="2500" b="0" strike="noStrike" spc="-1">
                <a:solidFill>
                  <a:srgbClr val="0000FF"/>
                </a:solidFill>
                <a:latin typeface="Cambria"/>
              </a:rPr>
              <a:t>golden mean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Humans tend to find the golden mean aesthetically pleasing.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65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6.19  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Example Using Recursion: Fibonacci Series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09440">
              <a:lnSpc>
                <a:spcPct val="100000"/>
              </a:lnSpc>
              <a:spcBef>
                <a:spcPts val="400"/>
              </a:spcBef>
            </a:pPr>
            <a:r>
              <a:rPr lang="en-US" sz="2700" b="1" i="1" strike="noStrike" spc="-1">
                <a:solidFill>
                  <a:srgbClr val="000000"/>
                </a:solidFill>
                <a:latin typeface="Cambria"/>
              </a:rPr>
              <a:t>Recursive Fibonacci Definition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Fibonacci series can be defined recursively as follows: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  <a:p>
            <a:pPr marL="858960" lvl="2" indent="-22824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lang="en-US" sz="2100" b="0" strike="noStrike" spc="-1">
                <a:solidFill>
                  <a:srgbClr val="000000"/>
                </a:solidFill>
                <a:latin typeface="AGaramond"/>
              </a:rPr>
              <a:t>fibonacci(0) = 0</a:t>
            </a:r>
            <a:r>
              <a:t/>
            </a:r>
            <a:br/>
            <a:r>
              <a:rPr lang="en-US" sz="2100" b="0" strike="noStrike" spc="-1">
                <a:solidFill>
                  <a:srgbClr val="000000"/>
                </a:solidFill>
                <a:latin typeface="AGaramond"/>
              </a:rPr>
              <a:t>fibonacci(1) = 1</a:t>
            </a:r>
            <a:r>
              <a:t/>
            </a:r>
            <a:br/>
            <a:r>
              <a:rPr lang="en-US" sz="2100" b="0" strike="noStrike" spc="-1">
                <a:solidFill>
                  <a:srgbClr val="000000"/>
                </a:solidFill>
                <a:latin typeface="AGaramond"/>
              </a:rPr>
              <a:t>fibonacci(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n</a:t>
            </a: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) = fibonacci(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n</a:t>
            </a: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 – 1) + fibonacci(</a:t>
            </a:r>
            <a:r>
              <a:rPr lang="en-US" sz="2100" b="0" i="1" strike="noStrike" spc="-1">
                <a:solidFill>
                  <a:srgbClr val="000000"/>
                </a:solidFill>
                <a:latin typeface="Consolas"/>
              </a:rPr>
              <a:t>n</a:t>
            </a:r>
            <a:r>
              <a:rPr lang="en-US" sz="2100" b="0" i="1" strike="noStrike" spc="-1">
                <a:solidFill>
                  <a:srgbClr val="000000"/>
                </a:solidFill>
                <a:latin typeface="AGaramond"/>
              </a:rPr>
              <a:t> – 2)</a:t>
            </a:r>
            <a:endParaRPr lang="en-US" sz="21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b="0" strike="noStrike" spc="-1">
                <a:solidFill>
                  <a:srgbClr val="000000"/>
                </a:solidFill>
                <a:latin typeface="Cambria"/>
              </a:rPr>
              <a:t>The program of Fig. 6.26 calculates the </a:t>
            </a:r>
            <a:r>
              <a:rPr lang="en-US" sz="2700" b="0" i="1" strike="noStrike" spc="-1">
                <a:solidFill>
                  <a:srgbClr val="000000"/>
                </a:solidFill>
                <a:latin typeface="Cambria"/>
              </a:rPr>
              <a:t>nth Fibonacci number recursively by using function </a:t>
            </a:r>
            <a:r>
              <a:rPr lang="en-US" sz="2700" b="0" i="1" strike="noStrike" spc="-1">
                <a:solidFill>
                  <a:srgbClr val="000000"/>
                </a:solidFill>
                <a:latin typeface="Consolas"/>
              </a:rPr>
              <a:t>fibonacci</a:t>
            </a:r>
            <a:r>
              <a:rPr lang="en-US" sz="2700" b="0" i="1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7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68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Picture 1"/>
          <p:cNvPicPr/>
          <p:nvPr/>
        </p:nvPicPr>
        <p:blipFill>
          <a:blip r:embed="rId2"/>
          <a:stretch/>
        </p:blipFill>
        <p:spPr>
          <a:xfrm>
            <a:off x="10080" y="533520"/>
            <a:ext cx="9062280" cy="5486040"/>
          </a:xfrm>
          <a:prstGeom prst="rect">
            <a:avLst/>
          </a:prstGeom>
          <a:ln>
            <a:noFill/>
          </a:ln>
        </p:spPr>
      </p:pic>
      <p:sp>
        <p:nvSpPr>
          <p:cNvPr id="570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Picture 1"/>
          <p:cNvPicPr/>
          <p:nvPr/>
        </p:nvPicPr>
        <p:blipFill>
          <a:blip r:embed="rId2"/>
          <a:stretch/>
        </p:blipFill>
        <p:spPr>
          <a:xfrm>
            <a:off x="0" y="1747800"/>
            <a:ext cx="9143640" cy="3360600"/>
          </a:xfrm>
          <a:prstGeom prst="rect">
            <a:avLst/>
          </a:prstGeom>
          <a:ln>
            <a:noFill/>
          </a:ln>
        </p:spPr>
      </p:pic>
      <p:sp>
        <p:nvSpPr>
          <p:cNvPr id="572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Picture 1"/>
          <p:cNvPicPr/>
          <p:nvPr/>
        </p:nvPicPr>
        <p:blipFill>
          <a:blip r:embed="rId2"/>
          <a:stretch/>
        </p:blipFill>
        <p:spPr>
          <a:xfrm>
            <a:off x="0" y="1116720"/>
            <a:ext cx="9143640" cy="4624200"/>
          </a:xfrm>
          <a:prstGeom prst="rect">
            <a:avLst/>
          </a:prstGeom>
          <a:ln>
            <a:noFill/>
          </a:ln>
        </p:spPr>
      </p:pic>
      <p:sp>
        <p:nvSpPr>
          <p:cNvPr id="574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6.19  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Example Using Recursion: Fibonacci Series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Figure 6.27 shows how function </a:t>
            </a:r>
            <a:r>
              <a:rPr lang="en-US" sz="2500" b="0" strike="noStrike" spc="-1">
                <a:solidFill>
                  <a:srgbClr val="000000"/>
                </a:solidFill>
                <a:latin typeface="Consolas"/>
              </a:rPr>
              <a:t>fibonacci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 would evaluate </a:t>
            </a:r>
            <a:r>
              <a:rPr lang="en-US" sz="2500" b="0" strike="noStrike" spc="-1">
                <a:solidFill>
                  <a:srgbClr val="000000"/>
                </a:solidFill>
                <a:latin typeface="Consolas"/>
              </a:rPr>
              <a:t>fibonacci(3)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Figure raises interesting issues about the </a:t>
            </a:r>
            <a:r>
              <a:rPr lang="en-US" sz="2500" b="0" i="1" strike="noStrike" spc="-1">
                <a:solidFill>
                  <a:srgbClr val="000000"/>
                </a:solidFill>
                <a:latin typeface="Cambria"/>
              </a:rPr>
              <a:t>order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 in which C++ compilers evaluate the operands of operators.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8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100" b="0" i="1" strike="noStrike" spc="-1">
                <a:solidFill>
                  <a:srgbClr val="000000"/>
                </a:solidFill>
                <a:latin typeface="Cambria"/>
              </a:rPr>
              <a:t>Separate</a:t>
            </a:r>
            <a:r>
              <a:rPr lang="en-US" sz="2100" b="0" strike="noStrike" spc="-1">
                <a:solidFill>
                  <a:srgbClr val="000000"/>
                </a:solidFill>
                <a:latin typeface="Cambria"/>
              </a:rPr>
              <a:t> issue from the order in which operators are applied to their operands, namely, the order dictated by the rules of operator precedence and associativity.</a:t>
            </a:r>
            <a:endParaRPr lang="en-US" sz="21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Most programmers assume that operands are evaluated left to right.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C++ does not specify the order in which the operands of most operators (including </a:t>
            </a:r>
            <a:r>
              <a:rPr lang="en-US" sz="2500" b="0" strike="noStrike" spc="-1">
                <a:solidFill>
                  <a:srgbClr val="000000"/>
                </a:solidFill>
                <a:latin typeface="Consolas"/>
              </a:rPr>
              <a:t>+</a:t>
            </a: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) are to be evaluated.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8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500" b="0" strike="noStrike" spc="-1">
                <a:solidFill>
                  <a:srgbClr val="000000"/>
                </a:solidFill>
                <a:latin typeface="Cambria"/>
              </a:rPr>
              <a:t>Therefore, you must make no assumption about the order in which these calls execute.</a:t>
            </a:r>
            <a:endParaRPr lang="en-US" sz="25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77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Picture 1"/>
          <p:cNvPicPr/>
          <p:nvPr/>
        </p:nvPicPr>
        <p:blipFill>
          <a:blip r:embed="rId2"/>
          <a:stretch/>
        </p:blipFill>
        <p:spPr>
          <a:xfrm>
            <a:off x="0" y="695520"/>
            <a:ext cx="9158760" cy="5476320"/>
          </a:xfrm>
          <a:prstGeom prst="rect">
            <a:avLst/>
          </a:prstGeom>
          <a:ln>
            <a:noFill/>
          </a:ln>
        </p:spPr>
      </p:pic>
      <p:sp>
        <p:nvSpPr>
          <p:cNvPr id="579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>
                <a:solidFill>
                  <a:schemeClr val="tx1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3543300" y="1912938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fibonacci(4)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097088" y="2894013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fibonacci(3)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4919663" y="2886075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</a:p>
        </p:txBody>
      </p:sp>
      <p:sp>
        <p:nvSpPr>
          <p:cNvPr id="67590" name="Line 6"/>
          <p:cNvSpPr>
            <a:spLocks noChangeShapeType="1"/>
          </p:cNvSpPr>
          <p:nvPr/>
        </p:nvSpPr>
        <p:spPr bwMode="auto">
          <a:xfrm flipH="1">
            <a:off x="3829050" y="2389188"/>
            <a:ext cx="584200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7591" name="Line 7"/>
          <p:cNvSpPr>
            <a:spLocks noChangeShapeType="1"/>
          </p:cNvSpPr>
          <p:nvPr/>
        </p:nvSpPr>
        <p:spPr bwMode="auto">
          <a:xfrm>
            <a:off x="4413250" y="2401888"/>
            <a:ext cx="596900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0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>
                <a:solidFill>
                  <a:schemeClr val="tx1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3543300" y="1912938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fibonacci(4)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2097088" y="2894013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fibonacci(3)</a:t>
            </a:r>
          </a:p>
        </p:txBody>
      </p:sp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4919663" y="2886075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048000" y="3833813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fibonacci(1)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434975" y="3790950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 flipH="1">
            <a:off x="3829050" y="2389188"/>
            <a:ext cx="584200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4413250" y="2401888"/>
            <a:ext cx="596900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 flipH="1">
            <a:off x="2214563" y="3297238"/>
            <a:ext cx="584200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43" name="Line 11"/>
          <p:cNvSpPr>
            <a:spLocks noChangeShapeType="1"/>
          </p:cNvSpPr>
          <p:nvPr/>
        </p:nvSpPr>
        <p:spPr bwMode="auto">
          <a:xfrm>
            <a:off x="2798763" y="3298825"/>
            <a:ext cx="596900" cy="4143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05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33CC33"/>
                </a:solidFill>
              </a:rPr>
              <a:t>composition</a:t>
            </a:r>
            <a:r>
              <a:rPr lang="en-US" altLang="en-US" smtClean="0">
                <a:solidFill>
                  <a:schemeClr val="tx1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3543300" y="1912938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fibonacci(4)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2097088" y="2894013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fibonacci(3)</a:t>
            </a: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4919663" y="2886075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3048000" y="3833813"/>
            <a:ext cx="247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fibonacci(1)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-&gt;0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434975" y="3790950"/>
            <a:ext cx="247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-&gt;1</a:t>
            </a:r>
          </a:p>
        </p:txBody>
      </p:sp>
      <p:sp>
        <p:nvSpPr>
          <p:cNvPr id="71688" name="Line 8"/>
          <p:cNvSpPr>
            <a:spLocks noChangeShapeType="1"/>
          </p:cNvSpPr>
          <p:nvPr/>
        </p:nvSpPr>
        <p:spPr bwMode="auto">
          <a:xfrm flipH="1">
            <a:off x="3829050" y="2389188"/>
            <a:ext cx="584200" cy="41433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89" name="Line 9"/>
          <p:cNvSpPr>
            <a:spLocks noChangeShapeType="1"/>
          </p:cNvSpPr>
          <p:nvPr/>
        </p:nvSpPr>
        <p:spPr bwMode="auto">
          <a:xfrm>
            <a:off x="4413250" y="2401888"/>
            <a:ext cx="596900" cy="41433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0" name="Line 10"/>
          <p:cNvSpPr>
            <a:spLocks noChangeShapeType="1"/>
          </p:cNvSpPr>
          <p:nvPr/>
        </p:nvSpPr>
        <p:spPr bwMode="auto">
          <a:xfrm flipH="1">
            <a:off x="2214563" y="3297238"/>
            <a:ext cx="584200" cy="41433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1" name="Line 11"/>
          <p:cNvSpPr>
            <a:spLocks noChangeShapeType="1"/>
          </p:cNvSpPr>
          <p:nvPr/>
        </p:nvSpPr>
        <p:spPr bwMode="auto">
          <a:xfrm>
            <a:off x="2798763" y="3298825"/>
            <a:ext cx="596900" cy="41433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2640013" y="3278188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4230688" y="2344738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58710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33CC33"/>
                </a:solidFill>
              </a:rPr>
              <a:t>composition</a:t>
            </a:r>
            <a:r>
              <a:rPr lang="en-US" altLang="en-US" smtClean="0">
                <a:solidFill>
                  <a:schemeClr val="tx1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3543300" y="1912938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fibonacci(4)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097088" y="2894013"/>
            <a:ext cx="247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fibonacci(3)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-&gt;1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4919663" y="2886075"/>
            <a:ext cx="247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fibonacci(2)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-&gt;1</a:t>
            </a:r>
          </a:p>
        </p:txBody>
      </p:sp>
      <p:sp>
        <p:nvSpPr>
          <p:cNvPr id="73734" name="Line 6"/>
          <p:cNvSpPr>
            <a:spLocks noChangeShapeType="1"/>
          </p:cNvSpPr>
          <p:nvPr/>
        </p:nvSpPr>
        <p:spPr bwMode="auto">
          <a:xfrm flipH="1">
            <a:off x="3829050" y="2389188"/>
            <a:ext cx="584200" cy="41433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3735" name="Line 7"/>
          <p:cNvSpPr>
            <a:spLocks noChangeShapeType="1"/>
          </p:cNvSpPr>
          <p:nvPr/>
        </p:nvSpPr>
        <p:spPr bwMode="auto">
          <a:xfrm>
            <a:off x="4413250" y="2401888"/>
            <a:ext cx="596900" cy="41433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3736" name="Text Box 8"/>
          <p:cNvSpPr txBox="1">
            <a:spLocks noChangeArrowheads="1"/>
          </p:cNvSpPr>
          <p:nvPr/>
        </p:nvSpPr>
        <p:spPr bwMode="auto">
          <a:xfrm>
            <a:off x="4230688" y="2344738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  <a:latin typeface="Courier New" panose="02070309020205020404" pitchFamily="49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5793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33CC33"/>
                </a:solidFill>
              </a:rPr>
              <a:t>composition</a:t>
            </a:r>
            <a:r>
              <a:rPr lang="en-US" altLang="en-US" smtClean="0">
                <a:solidFill>
                  <a:schemeClr val="tx1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3543300" y="1912938"/>
            <a:ext cx="247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fibonacci(4)</a:t>
            </a:r>
            <a:r>
              <a:rPr lang="en-US" altLang="en-US" sz="2000">
                <a:solidFill>
                  <a:srgbClr val="FF33CC"/>
                </a:solidFill>
                <a:latin typeface="Courier New" panose="02070309020205020404" pitchFamily="49" charset="0"/>
              </a:rPr>
              <a:t>-&gt;2</a:t>
            </a:r>
          </a:p>
        </p:txBody>
      </p:sp>
    </p:spTree>
    <p:extLst>
      <p:ext uri="{BB962C8B-B14F-4D97-AF65-F5344CB8AC3E}">
        <p14:creationId xmlns:p14="http://schemas.microsoft.com/office/powerpoint/2010/main" val="58264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1"/>
          <p:cNvPicPr/>
          <p:nvPr/>
        </p:nvPicPr>
        <p:blipFill>
          <a:blip r:embed="rId2"/>
          <a:stretch/>
        </p:blipFill>
        <p:spPr>
          <a:xfrm>
            <a:off x="0" y="1980000"/>
            <a:ext cx="9143640" cy="2896560"/>
          </a:xfrm>
          <a:prstGeom prst="rect">
            <a:avLst/>
          </a:prstGeom>
          <a:ln>
            <a:noFill/>
          </a:ln>
        </p:spPr>
      </p:pic>
      <p:sp>
        <p:nvSpPr>
          <p:cNvPr id="581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Picture 1"/>
          <p:cNvPicPr/>
          <p:nvPr/>
        </p:nvPicPr>
        <p:blipFill>
          <a:blip r:embed="rId2"/>
          <a:stretch/>
        </p:blipFill>
        <p:spPr>
          <a:xfrm>
            <a:off x="0" y="2188440"/>
            <a:ext cx="9143640" cy="2479680"/>
          </a:xfrm>
          <a:prstGeom prst="rect">
            <a:avLst/>
          </a:prstGeom>
          <a:ln>
            <a:noFill/>
          </a:ln>
        </p:spPr>
      </p:pic>
      <p:sp>
        <p:nvSpPr>
          <p:cNvPr id="583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Picture 1"/>
          <p:cNvPicPr/>
          <p:nvPr/>
        </p:nvPicPr>
        <p:blipFill>
          <a:blip r:embed="rId2"/>
          <a:stretch/>
        </p:blipFill>
        <p:spPr>
          <a:xfrm>
            <a:off x="0" y="2027520"/>
            <a:ext cx="9143640" cy="2801160"/>
          </a:xfrm>
          <a:prstGeom prst="rect">
            <a:avLst/>
          </a:prstGeom>
          <a:ln>
            <a:noFill/>
          </a:ln>
        </p:spPr>
      </p:pic>
      <p:sp>
        <p:nvSpPr>
          <p:cNvPr id="585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Picture 1"/>
          <p:cNvPicPr/>
          <p:nvPr/>
        </p:nvPicPr>
        <p:blipFill>
          <a:blip r:embed="rId2"/>
          <a:stretch/>
        </p:blipFill>
        <p:spPr>
          <a:xfrm>
            <a:off x="0" y="1975320"/>
            <a:ext cx="9143640" cy="2907000"/>
          </a:xfrm>
          <a:prstGeom prst="rect">
            <a:avLst/>
          </a:prstGeom>
          <a:ln>
            <a:noFill/>
          </a:ln>
        </p:spPr>
      </p:pic>
      <p:sp>
        <p:nvSpPr>
          <p:cNvPr id="587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Picture 1"/>
          <p:cNvPicPr/>
          <p:nvPr/>
        </p:nvPicPr>
        <p:blipFill>
          <a:blip r:embed="rId2"/>
          <a:stretch/>
        </p:blipFill>
        <p:spPr>
          <a:xfrm>
            <a:off x="0" y="2371680"/>
            <a:ext cx="9143640" cy="2114280"/>
          </a:xfrm>
          <a:prstGeom prst="rect">
            <a:avLst/>
          </a:prstGeom>
          <a:ln>
            <a:noFill/>
          </a:ln>
        </p:spPr>
      </p:pic>
      <p:sp>
        <p:nvSpPr>
          <p:cNvPr id="589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6.20  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vs. Iteration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Shape 2"/>
          <p:cNvSpPr txBox="1"/>
          <p:nvPr/>
        </p:nvSpPr>
        <p:spPr>
          <a:xfrm>
            <a:off x="457200" y="14810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Both iteration and recursion are </a:t>
            </a:r>
            <a:r>
              <a:rPr lang="en-US" sz="2400" b="0" i="1" strike="noStrike" spc="-1">
                <a:solidFill>
                  <a:srgbClr val="000000"/>
                </a:solidFill>
                <a:latin typeface="Cambria"/>
              </a:rPr>
              <a:t>based on a control statement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: </a:t>
            </a:r>
            <a:endParaRPr lang="en-US" sz="24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Iteration uses an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iteration statement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Recursion uses a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selection statement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Both iteration and recursion involve </a:t>
            </a:r>
            <a:r>
              <a:rPr lang="en-US" sz="2400" b="0" i="1" strike="noStrike" spc="-1">
                <a:solidFill>
                  <a:srgbClr val="000000"/>
                </a:solidFill>
                <a:latin typeface="Cambria"/>
              </a:rPr>
              <a:t>iteration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: </a:t>
            </a:r>
            <a:endParaRPr lang="en-US" sz="24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Iteration explicitly uses an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iteration statement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Recursion achieves repetition through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repeated function calls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Iteration and recursion each involve a </a:t>
            </a:r>
            <a:r>
              <a:rPr lang="en-US" sz="2400" b="0" i="1" strike="noStrike" spc="-1">
                <a:solidFill>
                  <a:srgbClr val="000000"/>
                </a:solidFill>
                <a:latin typeface="Cambria"/>
              </a:rPr>
              <a:t>termination test</a:t>
            </a:r>
            <a:r>
              <a:rPr lang="en-US" sz="2400" b="0" strike="noStrike" spc="-1">
                <a:solidFill>
                  <a:srgbClr val="000000"/>
                </a:solidFill>
                <a:latin typeface="Cambria"/>
              </a:rPr>
              <a:t>: </a:t>
            </a:r>
            <a:endParaRPr lang="en-US" sz="24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Iteration terminates when the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loop-continuation condition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 fails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Recursion terminates when a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base case is recognized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.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92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24B5A1"/>
                </a:solidFill>
                <a:latin typeface="Arial"/>
              </a:rPr>
              <a:t>6.22  </a:t>
            </a:r>
            <a:r>
              <a:rPr lang="en-US" sz="3600" b="1" strike="noStrike" spc="-1">
                <a:solidFill>
                  <a:srgbClr val="3380E6"/>
                </a:solidFill>
                <a:latin typeface="Arial"/>
              </a:rPr>
              <a:t>Recursion vs. Iteration (cont.)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Shape 2"/>
          <p:cNvSpPr txBox="1"/>
          <p:nvPr/>
        </p:nvSpPr>
        <p:spPr>
          <a:xfrm>
            <a:off x="457200" y="11430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Counter-controlled iteration and recursion both gradually approach termination: 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Iteration modifies a counter until the counter assumes a value that makes the loop-continuation condition fail</a:t>
            </a:r>
            <a:endParaRPr lang="en-US" sz="18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Recursion produces </a:t>
            </a:r>
            <a:r>
              <a:rPr lang="en-US" sz="1800" b="0" i="1" strike="noStrike" spc="-1">
                <a:solidFill>
                  <a:srgbClr val="000000"/>
                </a:solidFill>
                <a:latin typeface="Cambria"/>
              </a:rPr>
              <a:t>simpler versions of the original problem</a:t>
            </a: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 until the base case is reached.</a:t>
            </a:r>
            <a:endParaRPr lang="en-US" sz="18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Both iteration and recursion </a:t>
            </a:r>
            <a:r>
              <a:rPr lang="en-US" sz="2000" b="0" i="1" strike="noStrike" spc="-1">
                <a:solidFill>
                  <a:srgbClr val="000000"/>
                </a:solidFill>
                <a:latin typeface="Cambria"/>
              </a:rPr>
              <a:t>can occur infinitely</a:t>
            </a: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: 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An </a:t>
            </a:r>
            <a:r>
              <a:rPr lang="en-US" sz="1800" b="0" i="1" strike="noStrike" spc="-1">
                <a:solidFill>
                  <a:srgbClr val="000000"/>
                </a:solidFill>
                <a:latin typeface="Cambria"/>
              </a:rPr>
              <a:t>infinite loop</a:t>
            </a: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 occurs with iteration if the loop-continuation test never becomes false</a:t>
            </a:r>
            <a:endParaRPr lang="en-US" sz="1800" b="0" strike="noStrike" spc="-1">
              <a:solidFill>
                <a:srgbClr val="000000"/>
              </a:solidFill>
              <a:latin typeface="Lucida Sans Unicode"/>
            </a:endParaRPr>
          </a:p>
          <a:p>
            <a:pPr marL="620640" lvl="1" indent="-228240">
              <a:lnSpc>
                <a:spcPct val="100000"/>
              </a:lnSpc>
              <a:spcBef>
                <a:spcPts val="326"/>
              </a:spcBef>
              <a:buClr>
                <a:srgbClr val="2DA2BF"/>
              </a:buClr>
              <a:buFont typeface="Verdana"/>
              <a:buChar char="◦"/>
            </a:pPr>
            <a:r>
              <a:rPr lang="en-US" sz="1800" b="0" i="1" strike="noStrike" spc="-1">
                <a:solidFill>
                  <a:srgbClr val="000000"/>
                </a:solidFill>
                <a:latin typeface="Cambria"/>
              </a:rPr>
              <a:t>Infinite recursion</a:t>
            </a:r>
            <a:r>
              <a:rPr lang="en-US" sz="1800" b="0" strike="noStrike" spc="-1">
                <a:solidFill>
                  <a:srgbClr val="000000"/>
                </a:solidFill>
                <a:latin typeface="Cambria"/>
              </a:rPr>
              <a:t> occurs if the recursion step does not reduce the problem during each recursive call in a manner that converges on the base case.</a:t>
            </a:r>
            <a:endParaRPr lang="en-US" sz="1800" b="0" strike="noStrike" spc="-1">
              <a:solidFill>
                <a:srgbClr val="000000"/>
              </a:solidFill>
              <a:latin typeface="Lucida Sans Unicode"/>
            </a:endParaRPr>
          </a:p>
          <a:p>
            <a:pPr marL="365040" indent="-25524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000" b="0" strike="noStrike" spc="-1">
                <a:solidFill>
                  <a:srgbClr val="000000"/>
                </a:solidFill>
                <a:latin typeface="Cambria"/>
              </a:rPr>
              <a:t>To illustrate the differences between iteration and recursion, Fig. 6.28 presents an iterative solution to the factorial problem. </a:t>
            </a:r>
            <a:endParaRPr lang="en-US" sz="2000" b="0" strike="noStrike" spc="-1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95" name="TextShape 3"/>
          <p:cNvSpPr txBox="1"/>
          <p:nvPr/>
        </p:nvSpPr>
        <p:spPr>
          <a:xfrm>
            <a:off x="3962520" y="6408720"/>
            <a:ext cx="2768400" cy="3646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Picture 1"/>
          <p:cNvPicPr/>
          <p:nvPr/>
        </p:nvPicPr>
        <p:blipFill>
          <a:blip r:embed="rId2"/>
          <a:stretch/>
        </p:blipFill>
        <p:spPr>
          <a:xfrm>
            <a:off x="0" y="985680"/>
            <a:ext cx="9143640" cy="4884840"/>
          </a:xfrm>
          <a:prstGeom prst="rect">
            <a:avLst/>
          </a:prstGeom>
          <a:ln>
            <a:noFill/>
          </a:ln>
        </p:spPr>
      </p:pic>
      <p:sp>
        <p:nvSpPr>
          <p:cNvPr id="597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Picture 1"/>
          <p:cNvPicPr/>
          <p:nvPr/>
        </p:nvPicPr>
        <p:blipFill>
          <a:blip r:embed="rId2"/>
          <a:stretch/>
        </p:blipFill>
        <p:spPr>
          <a:xfrm>
            <a:off x="930960" y="857160"/>
            <a:ext cx="7280280" cy="5143320"/>
          </a:xfrm>
          <a:prstGeom prst="rect">
            <a:avLst/>
          </a:prstGeom>
          <a:ln>
            <a:noFill/>
          </a:ln>
        </p:spPr>
      </p:pic>
      <p:sp>
        <p:nvSpPr>
          <p:cNvPr id="599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Picture 1"/>
          <p:cNvPicPr/>
          <p:nvPr/>
        </p:nvPicPr>
        <p:blipFill>
          <a:blip r:embed="rId2"/>
          <a:stretch/>
        </p:blipFill>
        <p:spPr>
          <a:xfrm>
            <a:off x="0" y="1355040"/>
            <a:ext cx="9143640" cy="4146480"/>
          </a:xfrm>
          <a:prstGeom prst="rect">
            <a:avLst/>
          </a:prstGeom>
          <a:ln>
            <a:noFill/>
          </a:ln>
        </p:spPr>
      </p:pic>
      <p:sp>
        <p:nvSpPr>
          <p:cNvPr id="601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Picture 1"/>
          <p:cNvPicPr/>
          <p:nvPr/>
        </p:nvPicPr>
        <p:blipFill>
          <a:blip r:embed="rId2"/>
          <a:stretch/>
        </p:blipFill>
        <p:spPr>
          <a:xfrm>
            <a:off x="0" y="2393280"/>
            <a:ext cx="9143640" cy="2071440"/>
          </a:xfrm>
          <a:prstGeom prst="rect">
            <a:avLst/>
          </a:prstGeom>
          <a:ln>
            <a:noFill/>
          </a:ln>
        </p:spPr>
      </p:pic>
      <p:sp>
        <p:nvSpPr>
          <p:cNvPr id="603" name="TextShape 1"/>
          <p:cNvSpPr txBox="1"/>
          <p:nvPr/>
        </p:nvSpPr>
        <p:spPr>
          <a:xfrm>
            <a:off x="3962520" y="6408720"/>
            <a:ext cx="46843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Lucida Sans Unicode"/>
              </a:rPr>
              <a:t>©1992-2017 by Pearson Education, Inc. All Rights Reserved.</a:t>
            </a:r>
            <a:endParaRPr lang="en-US" sz="10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12775" y="1798638"/>
            <a:ext cx="7912100" cy="4460875"/>
          </a:xfrm>
          <a:prstGeom prst="rect">
            <a:avLst/>
          </a:prstGeom>
        </p:spPr>
        <p:txBody>
          <a:bodyPr/>
          <a:lstStyle/>
          <a:p>
            <a:r>
              <a:rPr lang="en-US" altLang="en-US" sz="2400" smtClean="0"/>
              <a:t>Example: 2030 has 2 zeros</a:t>
            </a:r>
          </a:p>
          <a:p>
            <a:r>
              <a:rPr lang="en-US" altLang="en-US" sz="2400" smtClean="0"/>
              <a:t>If </a:t>
            </a:r>
            <a:r>
              <a:rPr lang="en-US" altLang="en-US" sz="2400" smtClean="0">
                <a:latin typeface="Courier New" panose="02070309020205020404" pitchFamily="49" charset="0"/>
              </a:rPr>
              <a:t>n</a:t>
            </a:r>
            <a:r>
              <a:rPr lang="en-US" altLang="en-US" sz="2400" smtClean="0"/>
              <a:t> has two or more digits</a:t>
            </a:r>
          </a:p>
          <a:p>
            <a:pPr lvl="1"/>
            <a:r>
              <a:rPr lang="en-US" altLang="en-US" sz="2400" smtClean="0"/>
              <a:t>the </a:t>
            </a:r>
            <a:r>
              <a:rPr lang="en-US" altLang="en-US" sz="2400" smtClean="0">
                <a:solidFill>
                  <a:srgbClr val="0033CC"/>
                </a:solidFill>
              </a:rPr>
              <a:t>number of zeros</a:t>
            </a:r>
            <a:r>
              <a:rPr lang="en-US" altLang="en-US" sz="2400" smtClean="0"/>
              <a:t> is the </a:t>
            </a:r>
            <a:r>
              <a:rPr lang="en-US" altLang="en-US" sz="2400" smtClean="0">
                <a:solidFill>
                  <a:srgbClr val="0033CC"/>
                </a:solidFill>
              </a:rPr>
              <a:t>number of zeros</a:t>
            </a:r>
            <a:r>
              <a:rPr lang="en-US" altLang="en-US" sz="2400" smtClean="0"/>
              <a:t> in </a:t>
            </a:r>
            <a:r>
              <a:rPr lang="en-US" altLang="en-US" sz="2400" smtClean="0">
                <a:latin typeface="Courier New" panose="02070309020205020404" pitchFamily="49" charset="0"/>
              </a:rPr>
              <a:t>n</a:t>
            </a:r>
            <a:r>
              <a:rPr lang="en-US" altLang="en-US" sz="2400" smtClean="0"/>
              <a:t> with the last digit removed </a:t>
            </a:r>
          </a:p>
          <a:p>
            <a:pPr lvl="1"/>
            <a:r>
              <a:rPr lang="en-US" altLang="en-US" sz="2400" smtClean="0"/>
              <a:t>plus an additional 1 if the last digit is zero</a:t>
            </a:r>
          </a:p>
          <a:p>
            <a:r>
              <a:rPr lang="en-US" altLang="en-US" sz="2400" smtClean="0"/>
              <a:t>Examples:</a:t>
            </a:r>
          </a:p>
          <a:p>
            <a:pPr lvl="1"/>
            <a:r>
              <a:rPr lang="en-US" altLang="en-US" sz="2400" smtClean="0"/>
              <a:t>number of zeros in </a:t>
            </a:r>
            <a:r>
              <a:rPr lang="en-US" altLang="en-US" sz="2400" smtClean="0">
                <a:latin typeface="Courier New" panose="02070309020205020404" pitchFamily="49" charset="0"/>
              </a:rPr>
              <a:t>20030</a:t>
            </a:r>
            <a:r>
              <a:rPr lang="en-US" altLang="en-US" sz="2400" smtClean="0"/>
              <a:t> is number of zeros in </a:t>
            </a:r>
            <a:r>
              <a:rPr lang="en-US" altLang="en-US" sz="2400" smtClean="0">
                <a:latin typeface="Courier New" panose="02070309020205020404" pitchFamily="49" charset="0"/>
              </a:rPr>
              <a:t>2003</a:t>
            </a:r>
            <a:r>
              <a:rPr lang="en-US" altLang="en-US" sz="2400" smtClean="0"/>
              <a:t> plus 1</a:t>
            </a:r>
          </a:p>
          <a:p>
            <a:pPr lvl="1"/>
            <a:r>
              <a:rPr lang="en-US" altLang="en-US" sz="2400" smtClean="0"/>
              <a:t>number of zeros in </a:t>
            </a:r>
            <a:r>
              <a:rPr lang="en-US" altLang="en-US" sz="2400" smtClean="0">
                <a:latin typeface="Courier New" panose="02070309020205020404" pitchFamily="49" charset="0"/>
              </a:rPr>
              <a:t>20031</a:t>
            </a:r>
            <a:r>
              <a:rPr lang="en-US" altLang="en-US" sz="2400" smtClean="0"/>
              <a:t> is number of zeros in </a:t>
            </a:r>
            <a:r>
              <a:rPr lang="en-US" altLang="en-US" sz="2400" smtClean="0">
                <a:latin typeface="Courier New" panose="02070309020205020404" pitchFamily="49" charset="0"/>
              </a:rPr>
              <a:t>2003</a:t>
            </a:r>
            <a:r>
              <a:rPr lang="en-US" altLang="en-US" sz="2400" smtClean="0"/>
              <a:t> plus 0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title"/>
          </p:nvPr>
        </p:nvSpPr>
        <p:spPr>
          <a:xfrm>
            <a:off x="752475" y="171450"/>
            <a:ext cx="8104188" cy="1300163"/>
          </a:xfrm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Number of Zeros in a Number</a:t>
            </a:r>
          </a:p>
        </p:txBody>
      </p:sp>
      <p:sp>
        <p:nvSpPr>
          <p:cNvPr id="89092" name="AutoShape 4"/>
          <p:cNvSpPr>
            <a:spLocks noChangeArrowheads="1"/>
          </p:cNvSpPr>
          <p:nvPr/>
        </p:nvSpPr>
        <p:spPr bwMode="auto">
          <a:xfrm>
            <a:off x="7067550" y="2251075"/>
            <a:ext cx="1314450" cy="307975"/>
          </a:xfrm>
          <a:prstGeom prst="wedgeRectCallout">
            <a:avLst>
              <a:gd name="adj1" fmla="val -97704"/>
              <a:gd name="adj2" fmla="val 118042"/>
            </a:avLst>
          </a:prstGeom>
          <a:solidFill>
            <a:schemeClr val="bg1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recursive</a:t>
            </a:r>
          </a:p>
        </p:txBody>
      </p:sp>
    </p:spTree>
    <p:extLst>
      <p:ext uri="{BB962C8B-B14F-4D97-AF65-F5344CB8AC3E}">
        <p14:creationId xmlns:p14="http://schemas.microsoft.com/office/powerpoint/2010/main" val="107982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 sz="4000" smtClean="0"/>
              <a:t>numberOfZeros Recursive Design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47800"/>
            <a:ext cx="7772400" cy="41148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81000" indent="-381000"/>
            <a:r>
              <a:rPr lang="en-US" altLang="en-US" sz="2400" smtClean="0">
                <a:latin typeface="Arial" panose="020B0604020202020204" pitchFamily="34" charset="0"/>
              </a:rPr>
              <a:t>numberOfZeros in the number</a:t>
            </a:r>
            <a:r>
              <a:rPr lang="en-US" altLang="en-US" sz="2400" i="1" smtClean="0">
                <a:latin typeface="Arial" panose="020B0604020202020204" pitchFamily="34" charset="0"/>
              </a:rPr>
              <a:t> N</a:t>
            </a:r>
          </a:p>
          <a:p>
            <a:pPr marL="381000" indent="-381000"/>
            <a:r>
              <a:rPr lang="en-US" altLang="en-US" sz="2400" i="1" smtClean="0">
                <a:latin typeface="Arial" panose="020B0604020202020204" pitchFamily="34" charset="0"/>
              </a:rPr>
              <a:t>K</a:t>
            </a:r>
            <a:r>
              <a:rPr lang="en-US" altLang="en-US" sz="2400" smtClean="0">
                <a:latin typeface="Arial" panose="020B0604020202020204" pitchFamily="34" charset="0"/>
              </a:rPr>
              <a:t> = number of digits in </a:t>
            </a:r>
            <a:r>
              <a:rPr lang="en-US" altLang="en-US" sz="2400" i="1" smtClean="0">
                <a:latin typeface="Arial" panose="020B0604020202020204" pitchFamily="34" charset="0"/>
              </a:rPr>
              <a:t>N</a:t>
            </a:r>
          </a:p>
          <a:p>
            <a:pPr marL="381000" indent="-381000"/>
            <a:r>
              <a:rPr lang="en-US" altLang="en-US" sz="2400" smtClean="0">
                <a:latin typeface="Arial" panose="020B0604020202020204" pitchFamily="34" charset="0"/>
              </a:rPr>
              <a:t>Decomposition:</a:t>
            </a:r>
          </a:p>
          <a:p>
            <a:pPr marL="838200" lvl="1" indent="-381000"/>
            <a:r>
              <a:rPr lang="en-US" altLang="en-US" sz="2400" smtClean="0">
                <a:solidFill>
                  <a:srgbClr val="0033CC"/>
                </a:solidFill>
                <a:latin typeface="Arial" panose="020B0604020202020204" pitchFamily="34" charset="0"/>
              </a:rPr>
              <a:t>numberOfZeros in the first </a:t>
            </a:r>
            <a:r>
              <a:rPr lang="en-US" altLang="en-US" sz="2400" i="1" smtClean="0">
                <a:solidFill>
                  <a:srgbClr val="0033CC"/>
                </a:solidFill>
                <a:latin typeface="Arial" panose="020B0604020202020204" pitchFamily="34" charset="0"/>
              </a:rPr>
              <a:t>K</a:t>
            </a:r>
            <a:r>
              <a:rPr lang="en-US" altLang="en-US" sz="2400" smtClean="0">
                <a:solidFill>
                  <a:srgbClr val="0033CC"/>
                </a:solidFill>
                <a:latin typeface="Arial" panose="020B0604020202020204" pitchFamily="34" charset="0"/>
              </a:rPr>
              <a:t> - 1 digits</a:t>
            </a:r>
          </a:p>
          <a:p>
            <a:pPr marL="838200" lvl="1" indent="-381000"/>
            <a:r>
              <a:rPr lang="en-US" altLang="en-US" sz="2400" smtClean="0">
                <a:solidFill>
                  <a:srgbClr val="0033CC"/>
                </a:solidFill>
                <a:latin typeface="Arial" panose="020B0604020202020204" pitchFamily="34" charset="0"/>
              </a:rPr>
              <a:t>Last digit</a:t>
            </a:r>
          </a:p>
          <a:p>
            <a:pPr marL="381000" indent="-381000"/>
            <a:r>
              <a:rPr lang="en-US" altLang="en-US" sz="2400" smtClean="0">
                <a:latin typeface="Arial" panose="020B0604020202020204" pitchFamily="34" charset="0"/>
              </a:rPr>
              <a:t>Composition:</a:t>
            </a:r>
          </a:p>
          <a:p>
            <a:pPr marL="838200" lvl="1" indent="-381000"/>
            <a:r>
              <a:rPr lang="en-US" altLang="en-US" sz="2400" smtClean="0">
                <a:solidFill>
                  <a:srgbClr val="33CC33"/>
                </a:solidFill>
                <a:latin typeface="Arial" panose="020B0604020202020204" pitchFamily="34" charset="0"/>
              </a:rPr>
              <a:t>Add</a:t>
            </a:r>
            <a:r>
              <a:rPr lang="en-US" altLang="en-US" sz="2400" smtClean="0">
                <a:latin typeface="Arial" panose="020B0604020202020204" pitchFamily="34" charset="0"/>
              </a:rPr>
              <a:t>:</a:t>
            </a:r>
          </a:p>
          <a:p>
            <a:pPr marL="1295400" lvl="2" indent="-381000"/>
            <a:r>
              <a:rPr lang="en-US" altLang="en-US" smtClean="0">
                <a:latin typeface="Arial" panose="020B0604020202020204" pitchFamily="34" charset="0"/>
              </a:rPr>
              <a:t>numberOfZeros in the first </a:t>
            </a:r>
            <a:r>
              <a:rPr lang="en-US" altLang="en-US" i="1" smtClean="0">
                <a:latin typeface="Arial" panose="020B0604020202020204" pitchFamily="34" charset="0"/>
              </a:rPr>
              <a:t>K</a:t>
            </a:r>
            <a:r>
              <a:rPr lang="en-US" altLang="en-US" smtClean="0">
                <a:latin typeface="Arial" panose="020B0604020202020204" pitchFamily="34" charset="0"/>
              </a:rPr>
              <a:t> - 1digits</a:t>
            </a:r>
          </a:p>
          <a:p>
            <a:pPr marL="1295400" lvl="2" indent="-381000"/>
            <a:r>
              <a:rPr lang="en-US" altLang="en-US" smtClean="0">
                <a:latin typeface="Arial" panose="020B0604020202020204" pitchFamily="34" charset="0"/>
              </a:rPr>
              <a:t>1 if the last digit is zero</a:t>
            </a:r>
          </a:p>
          <a:p>
            <a:pPr marL="381000" indent="-381000"/>
            <a:r>
              <a:rPr lang="en-US" altLang="en-US" sz="2400" smtClean="0">
                <a:latin typeface="Arial" panose="020B0604020202020204" pitchFamily="34" charset="0"/>
              </a:rPr>
              <a:t>Base case:</a:t>
            </a:r>
          </a:p>
          <a:p>
            <a:pPr marL="838200" lvl="1" indent="-381000"/>
            <a:r>
              <a:rPr lang="en-US" altLang="en-US" sz="2400" i="1" smtClean="0">
                <a:solidFill>
                  <a:srgbClr val="FF3300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smtClean="0">
                <a:solidFill>
                  <a:srgbClr val="FF3300"/>
                </a:solidFill>
                <a:latin typeface="Arial" panose="020B0604020202020204" pitchFamily="34" charset="0"/>
              </a:rPr>
              <a:t> has one digit (</a:t>
            </a:r>
            <a:r>
              <a:rPr lang="en-US" altLang="en-US" sz="2400" i="1" smtClean="0">
                <a:solidFill>
                  <a:srgbClr val="FF3300"/>
                </a:solidFill>
                <a:latin typeface="Arial" panose="020B0604020202020204" pitchFamily="34" charset="0"/>
              </a:rPr>
              <a:t>K</a:t>
            </a:r>
            <a:r>
              <a:rPr lang="en-US" altLang="en-US" sz="2400" smtClean="0">
                <a:solidFill>
                  <a:srgbClr val="FF3300"/>
                </a:solidFill>
                <a:latin typeface="Arial" panose="020B0604020202020204" pitchFamily="34" charset="0"/>
              </a:rPr>
              <a:t> = 1)</a:t>
            </a:r>
          </a:p>
          <a:p>
            <a:pPr marL="838200" lvl="1" indent="-381000"/>
            <a:endParaRPr lang="en-US" altLang="en-US" sz="2400" smtClean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8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latin typeface="Courier New" panose="02070309020205020404" pitchFamily="49" charset="0"/>
              </a:rPr>
              <a:t>numberOfZeros </a:t>
            </a:r>
            <a:r>
              <a:rPr lang="en-US" altLang="en-US" b="1" smtClean="0"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292100" y="2108200"/>
            <a:ext cx="6632575" cy="4067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if (n==0)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else if (n &lt; 10)  // and not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 = 0;  // 0 for no zeros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else if (n%10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2000" b="1" dirty="0">
                <a:latin typeface="Courier New" panose="02070309020205020404" pitchFamily="49" charset="0"/>
              </a:rPr>
              <a:t>(n/10) + 1;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else  // n%10 !=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2000" b="1" dirty="0">
                <a:latin typeface="Courier New" panose="02070309020205020404" pitchFamily="49" charset="0"/>
              </a:rPr>
              <a:t>(n/10);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return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7202488" y="2209800"/>
            <a:ext cx="14668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Which is (are) the base case(s)? Why?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Decompostion, Why?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8000"/>
                </a:solidFill>
                <a:latin typeface="Arial" panose="020B0604020202020204" pitchFamily="34" charset="0"/>
              </a:rPr>
              <a:t>Composition, why?</a:t>
            </a:r>
          </a:p>
        </p:txBody>
      </p:sp>
    </p:spTree>
    <p:extLst>
      <p:ext uri="{BB962C8B-B14F-4D97-AF65-F5344CB8AC3E}">
        <p14:creationId xmlns:p14="http://schemas.microsoft.com/office/powerpoint/2010/main" val="4482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214313" y="3667125"/>
            <a:ext cx="868680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								   numberOfZeros(2005)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		  </a:t>
            </a:r>
            <a:r>
              <a:rPr lang="en-US" altLang="en-US" sz="2000" b="1">
                <a:latin typeface="Courier New" panose="02070309020205020404" pitchFamily="49" charset="0"/>
              </a:rPr>
              <a:t>numberOfZeros(200)        5</a:t>
            </a: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	 </a:t>
            </a:r>
            <a:r>
              <a:rPr lang="en-US" altLang="en-US" sz="2000" b="1">
                <a:latin typeface="Courier New" panose="02070309020205020404" pitchFamily="49" charset="0"/>
              </a:rPr>
              <a:t>numberOfZeros(20)         0</a:t>
            </a: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Courier New" panose="02070309020205020404" pitchFamily="49" charset="0"/>
              </a:rPr>
              <a:t>numberOfZeros(2)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en-US" sz="2000" b="1">
                <a:latin typeface="Courier New" panose="02070309020205020404" pitchFamily="49" charset="0"/>
              </a:rPr>
              <a:t>0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5235" name="AutoShape 3"/>
          <p:cNvSpPr>
            <a:spLocks noChangeArrowheads="1"/>
          </p:cNvSpPr>
          <p:nvPr/>
        </p:nvSpPr>
        <p:spPr bwMode="auto">
          <a:xfrm rot="-2289133">
            <a:off x="3789363" y="4246563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457200" y="457200"/>
            <a:ext cx="31781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Book Antiqua" panose="02040602050305030304" pitchFamily="18" charset="0"/>
              </a:rPr>
              <a:t>Execution Trace (</a:t>
            </a:r>
            <a:r>
              <a:rPr lang="en-US" altLang="en-US">
                <a:solidFill>
                  <a:srgbClr val="0000FF"/>
                </a:solidFill>
                <a:latin typeface="Book Antiqua" panose="02040602050305030304" pitchFamily="18" charset="0"/>
              </a:rPr>
              <a:t>decomposition</a:t>
            </a:r>
            <a:r>
              <a:rPr lang="en-US" altLang="en-US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95237" name="Text Box 5"/>
          <p:cNvSpPr txBox="1">
            <a:spLocks noChangeArrowheads="1"/>
          </p:cNvSpPr>
          <p:nvPr/>
        </p:nvSpPr>
        <p:spPr bwMode="auto">
          <a:xfrm>
            <a:off x="341313" y="1779588"/>
            <a:ext cx="227012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Each method invocation will execute one of the </a:t>
            </a:r>
            <a:r>
              <a:rPr lang="en-US" altLang="en-US" sz="2000">
                <a:latin typeface="Courier New" panose="02070309020205020404" pitchFamily="49" charset="0"/>
              </a:rPr>
              <a:t>if-else</a:t>
            </a:r>
            <a:r>
              <a:rPr lang="en-US" altLang="en-US" sz="2000">
                <a:latin typeface="Arial" panose="020B0604020202020204" pitchFamily="34" charset="0"/>
              </a:rPr>
              <a:t> cases shown at right.</a:t>
            </a:r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3535363" y="169863"/>
            <a:ext cx="5426075" cy="3282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if (n==0)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if (n &lt; 10)  // and not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0;  // 0 for no zeros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if (n%10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(n/10) + 1;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 // n%10 !=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(n/10);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return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5239" name="AutoShape 7"/>
          <p:cNvSpPr>
            <a:spLocks noChangeArrowheads="1"/>
          </p:cNvSpPr>
          <p:nvPr/>
        </p:nvSpPr>
        <p:spPr bwMode="auto">
          <a:xfrm rot="-2289133">
            <a:off x="3076575" y="4910138"/>
            <a:ext cx="627063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5240" name="AutoShape 8"/>
          <p:cNvSpPr>
            <a:spLocks noChangeArrowheads="1"/>
          </p:cNvSpPr>
          <p:nvPr/>
        </p:nvSpPr>
        <p:spPr bwMode="auto">
          <a:xfrm rot="-2289133">
            <a:off x="2241550" y="5673725"/>
            <a:ext cx="627063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5241" name="AutoShape 9"/>
          <p:cNvSpPr>
            <a:spLocks noChangeArrowheads="1"/>
          </p:cNvSpPr>
          <p:nvPr/>
        </p:nvSpPr>
        <p:spPr bwMode="auto">
          <a:xfrm rot="2289133" flipH="1">
            <a:off x="4100513" y="4899025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5242" name="AutoShape 10"/>
          <p:cNvSpPr>
            <a:spLocks noChangeArrowheads="1"/>
          </p:cNvSpPr>
          <p:nvPr/>
        </p:nvSpPr>
        <p:spPr bwMode="auto">
          <a:xfrm rot="2289133" flipH="1">
            <a:off x="3484563" y="5576888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5243" name="AutoShape 11"/>
          <p:cNvSpPr>
            <a:spLocks noChangeArrowheads="1"/>
          </p:cNvSpPr>
          <p:nvPr/>
        </p:nvSpPr>
        <p:spPr bwMode="auto">
          <a:xfrm rot="2289133" flipH="1">
            <a:off x="4465638" y="4276725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57596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214313" y="3667125"/>
            <a:ext cx="868680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  <a:tab pos="1371600" algn="l"/>
                <a:tab pos="1712913" algn="l"/>
                <a:tab pos="2062163" algn="l"/>
                <a:tab pos="2401888" algn="l"/>
                <a:tab pos="2743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								   numberOfZeros(2005)</a:t>
            </a:r>
            <a:r>
              <a:rPr lang="en-US" altLang="en-US" sz="2000" b="1">
                <a:solidFill>
                  <a:srgbClr val="FF33CC"/>
                </a:solidFill>
                <a:latin typeface="Courier New" panose="02070309020205020404" pitchFamily="49" charset="0"/>
              </a:rPr>
              <a:t>-&gt;2</a:t>
            </a:r>
            <a:endParaRPr lang="en-US" altLang="en-US" sz="2000">
              <a:solidFill>
                <a:srgbClr val="FF33CC"/>
              </a:solidFill>
              <a:latin typeface="Arial" panose="020B0604020202020204" pitchFamily="34" charset="0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		   </a:t>
            </a:r>
            <a:r>
              <a:rPr lang="en-US" altLang="en-US" sz="2000" b="1">
                <a:latin typeface="Courier New" panose="02070309020205020404" pitchFamily="49" charset="0"/>
              </a:rPr>
              <a:t>numberOfZeros(200)</a:t>
            </a:r>
            <a:r>
              <a:rPr lang="en-US" altLang="en-US" sz="2000" b="1">
                <a:solidFill>
                  <a:srgbClr val="FF33CC"/>
                </a:solidFill>
                <a:latin typeface="Courier New" panose="02070309020205020404" pitchFamily="49" charset="0"/>
              </a:rPr>
              <a:t>-&gt;2</a:t>
            </a:r>
            <a:r>
              <a:rPr lang="en-US" altLang="en-US" sz="2000" b="1">
                <a:latin typeface="Courier New" panose="02070309020205020404" pitchFamily="49" charset="0"/>
              </a:rPr>
              <a:t>    5-&gt;0</a:t>
            </a: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	 </a:t>
            </a:r>
            <a:r>
              <a:rPr lang="en-US" altLang="en-US" sz="2000" b="1">
                <a:latin typeface="Courier New" panose="02070309020205020404" pitchFamily="49" charset="0"/>
              </a:rPr>
              <a:t>numberOfZeros(20)</a:t>
            </a:r>
            <a:r>
              <a:rPr lang="en-US" altLang="en-US" sz="2000" b="1">
                <a:solidFill>
                  <a:srgbClr val="FF33CC"/>
                </a:solidFill>
                <a:latin typeface="Courier New" panose="02070309020205020404" pitchFamily="49" charset="0"/>
              </a:rPr>
              <a:t>-&gt;1</a:t>
            </a:r>
            <a:r>
              <a:rPr lang="en-US" altLang="en-US" sz="2000" b="1">
                <a:latin typeface="Courier New" panose="02070309020205020404" pitchFamily="49" charset="0"/>
              </a:rPr>
              <a:t>   0-&gt;1</a:t>
            </a:r>
            <a:endParaRPr lang="en-US" altLang="en-US" sz="2000">
              <a:latin typeface="Arial" panose="020B0604020202020204" pitchFamily="34" charset="0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Courier New" panose="02070309020205020404" pitchFamily="49" charset="0"/>
              </a:rPr>
              <a:t>numberOfZeros(2)</a:t>
            </a:r>
            <a:r>
              <a:rPr lang="en-US" altLang="en-US" sz="2000">
                <a:solidFill>
                  <a:srgbClr val="FF33CC"/>
                </a:solidFill>
                <a:latin typeface="Arial" panose="020B0604020202020204" pitchFamily="34" charset="0"/>
              </a:rPr>
              <a:t>-&gt;0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2000" b="1">
                <a:latin typeface="Courier New" panose="02070309020205020404" pitchFamily="49" charset="0"/>
              </a:rPr>
              <a:t>0-&gt;1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7283" name="AutoShape 3"/>
          <p:cNvSpPr>
            <a:spLocks noChangeArrowheads="1"/>
          </p:cNvSpPr>
          <p:nvPr/>
        </p:nvSpPr>
        <p:spPr bwMode="auto">
          <a:xfrm rot="2289133" flipV="1">
            <a:off x="4564063" y="4310063"/>
            <a:ext cx="646112" cy="179387"/>
          </a:xfrm>
          <a:prstGeom prst="leftArrow">
            <a:avLst>
              <a:gd name="adj1" fmla="val 50000"/>
              <a:gd name="adj2" fmla="val 90044"/>
            </a:avLst>
          </a:prstGeom>
          <a:solidFill>
            <a:srgbClr val="33CC33"/>
          </a:solidFill>
          <a:ln w="12700">
            <a:solidFill>
              <a:srgbClr val="33CC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533400" y="457200"/>
            <a:ext cx="31956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Book Antiqua" panose="02040602050305030304" pitchFamily="18" charset="0"/>
              </a:rPr>
              <a:t>Execution Trace (</a:t>
            </a:r>
            <a:r>
              <a:rPr lang="en-US" altLang="en-US">
                <a:solidFill>
                  <a:srgbClr val="33CC33"/>
                </a:solidFill>
                <a:latin typeface="Book Antiqua" panose="02040602050305030304" pitchFamily="18" charset="0"/>
              </a:rPr>
              <a:t>composition</a:t>
            </a:r>
            <a:r>
              <a:rPr lang="en-US" altLang="en-US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341313" y="1779588"/>
            <a:ext cx="2270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Recursive calls return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3535363" y="169863"/>
            <a:ext cx="5426075" cy="3282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690563" algn="l"/>
                <a:tab pos="1030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690563" algn="l"/>
                <a:tab pos="10302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if (n==0)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if (n &lt; 10)  // and not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0;  // 0 for no zeros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if (n%10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(n/10) + 1;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else  // n%10 !=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numberOfZeros</a:t>
            </a:r>
            <a:r>
              <a:rPr lang="en-US" altLang="en-US" sz="1600" b="1" dirty="0">
                <a:latin typeface="Courier New" panose="02070309020205020404" pitchFamily="49" charset="0"/>
              </a:rPr>
              <a:t>(n/10);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return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zeroCount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7287" name="AutoShape 7"/>
          <p:cNvSpPr>
            <a:spLocks noChangeArrowheads="1"/>
          </p:cNvSpPr>
          <p:nvPr/>
        </p:nvSpPr>
        <p:spPr bwMode="auto">
          <a:xfrm rot="2289133" flipV="1">
            <a:off x="3892550" y="4948238"/>
            <a:ext cx="627063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7288" name="AutoShape 8"/>
          <p:cNvSpPr>
            <a:spLocks noChangeArrowheads="1"/>
          </p:cNvSpPr>
          <p:nvPr/>
        </p:nvSpPr>
        <p:spPr bwMode="auto">
          <a:xfrm rot="2289133" flipV="1">
            <a:off x="3325813" y="5626100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7289" name="AutoShape 9"/>
          <p:cNvSpPr>
            <a:spLocks noChangeArrowheads="1"/>
          </p:cNvSpPr>
          <p:nvPr/>
        </p:nvSpPr>
        <p:spPr bwMode="auto">
          <a:xfrm rot="-2289133" flipH="1" flipV="1">
            <a:off x="3209925" y="4935538"/>
            <a:ext cx="627063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7290" name="AutoShape 10"/>
          <p:cNvSpPr>
            <a:spLocks noChangeArrowheads="1"/>
          </p:cNvSpPr>
          <p:nvPr/>
        </p:nvSpPr>
        <p:spPr bwMode="auto">
          <a:xfrm rot="-2289133" flipH="1" flipV="1">
            <a:off x="2619375" y="5624513"/>
            <a:ext cx="627063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7291" name="AutoShape 11"/>
          <p:cNvSpPr>
            <a:spLocks noChangeArrowheads="1"/>
          </p:cNvSpPr>
          <p:nvPr/>
        </p:nvSpPr>
        <p:spPr bwMode="auto">
          <a:xfrm rot="-2289133" flipH="1" flipV="1">
            <a:off x="3929063" y="4240213"/>
            <a:ext cx="627062" cy="269875"/>
          </a:xfrm>
          <a:prstGeom prst="leftArrow">
            <a:avLst>
              <a:gd name="adj1" fmla="val 33157"/>
              <a:gd name="adj2" fmla="val 66457"/>
            </a:avLst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4381500" y="4106863"/>
            <a:ext cx="392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8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7293" name="Text Box 13"/>
          <p:cNvSpPr txBox="1">
            <a:spLocks noChangeArrowheads="1"/>
          </p:cNvSpPr>
          <p:nvPr/>
        </p:nvSpPr>
        <p:spPr bwMode="auto">
          <a:xfrm>
            <a:off x="3656013" y="4821238"/>
            <a:ext cx="392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8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7294" name="Text Box 14"/>
          <p:cNvSpPr txBox="1">
            <a:spLocks noChangeArrowheads="1"/>
          </p:cNvSpPr>
          <p:nvPr/>
        </p:nvSpPr>
        <p:spPr bwMode="auto">
          <a:xfrm>
            <a:off x="3089275" y="5521325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8000"/>
                </a:solidFill>
                <a:latin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75307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Number in English Words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199438" cy="44561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Process an integer and print out its digits in words</a:t>
            </a:r>
          </a:p>
          <a:p>
            <a:pPr lvl="1">
              <a:defRPr/>
            </a:pPr>
            <a:r>
              <a:rPr lang="en-US" altLang="en-US" sz="3200" dirty="0">
                <a:latin typeface="Arial" panose="020B0604020202020204" pitchFamily="34" charset="0"/>
              </a:rPr>
              <a:t>Input: 123</a:t>
            </a:r>
          </a:p>
          <a:p>
            <a:pPr lvl="1">
              <a:defRPr/>
            </a:pPr>
            <a:r>
              <a:rPr lang="en-US" altLang="en-US" sz="3200" dirty="0">
                <a:latin typeface="Arial" panose="020B0604020202020204" pitchFamily="34" charset="0"/>
              </a:rPr>
              <a:t>Output: "one two three”</a:t>
            </a:r>
          </a:p>
          <a:p>
            <a:pPr marL="0" indent="0">
              <a:buFontTx/>
              <a:buNone/>
              <a:defRPr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53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inWords Resursive Design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lang="en-US" altLang="en-US" sz="2400" smtClean="0"/>
              <a:t>inWords prints a number </a:t>
            </a:r>
            <a:r>
              <a:rPr lang="en-US" altLang="en-US" sz="2400" i="1" smtClean="0"/>
              <a:t>N </a:t>
            </a:r>
            <a:r>
              <a:rPr lang="en-US" altLang="en-US" sz="2400" smtClean="0"/>
              <a:t>in English words</a:t>
            </a:r>
          </a:p>
          <a:p>
            <a:r>
              <a:rPr lang="en-US" altLang="en-US" sz="2400" i="1" smtClean="0"/>
              <a:t>K</a:t>
            </a:r>
            <a:r>
              <a:rPr lang="en-US" altLang="en-US" sz="2400" smtClean="0"/>
              <a:t> = number of digits in </a:t>
            </a:r>
            <a:r>
              <a:rPr lang="en-US" altLang="en-US" sz="2400" i="1" smtClean="0"/>
              <a:t>N</a:t>
            </a:r>
          </a:p>
          <a:p>
            <a:r>
              <a:rPr lang="en-US" altLang="en-US" sz="2400" smtClean="0"/>
              <a:t>Decomposition:</a:t>
            </a:r>
          </a:p>
          <a:p>
            <a:pPr lvl="1"/>
            <a:r>
              <a:rPr lang="en-US" altLang="en-US" sz="2400" smtClean="0">
                <a:solidFill>
                  <a:srgbClr val="0033CC"/>
                </a:solidFill>
              </a:rPr>
              <a:t>inWords for the first </a:t>
            </a:r>
            <a:r>
              <a:rPr lang="en-US" altLang="en-US" sz="2400" i="1" smtClean="0">
                <a:solidFill>
                  <a:srgbClr val="0033CC"/>
                </a:solidFill>
              </a:rPr>
              <a:t>K </a:t>
            </a:r>
            <a:r>
              <a:rPr lang="en-US" altLang="en-US" sz="2400" smtClean="0">
                <a:solidFill>
                  <a:srgbClr val="0033CC"/>
                </a:solidFill>
              </a:rPr>
              <a:t>– 1 digits</a:t>
            </a:r>
          </a:p>
          <a:p>
            <a:pPr lvl="1"/>
            <a:r>
              <a:rPr lang="en-US" altLang="en-US" sz="2400" smtClean="0">
                <a:solidFill>
                  <a:srgbClr val="0033CC"/>
                </a:solidFill>
              </a:rPr>
              <a:t>Print the last digit</a:t>
            </a:r>
          </a:p>
          <a:p>
            <a:r>
              <a:rPr lang="en-US" altLang="en-US" sz="2400" smtClean="0"/>
              <a:t>Composition:</a:t>
            </a:r>
          </a:p>
          <a:p>
            <a:pPr lvl="1"/>
            <a:r>
              <a:rPr lang="en-US" altLang="en-US" sz="2400" smtClean="0">
                <a:solidFill>
                  <a:srgbClr val="008000"/>
                </a:solidFill>
              </a:rPr>
              <a:t>Execution order</a:t>
            </a:r>
            <a:r>
              <a:rPr lang="en-US" altLang="en-US" sz="2400" smtClean="0"/>
              <a:t> of composed steps [more later]</a:t>
            </a:r>
          </a:p>
          <a:p>
            <a:r>
              <a:rPr lang="en-US" altLang="en-US" sz="2400" smtClean="0"/>
              <a:t>Base case:</a:t>
            </a:r>
          </a:p>
          <a:p>
            <a:pPr lvl="1"/>
            <a:r>
              <a:rPr lang="en-US" altLang="en-US" sz="2400" i="1" smtClean="0">
                <a:solidFill>
                  <a:srgbClr val="FF3300"/>
                </a:solidFill>
              </a:rPr>
              <a:t>N</a:t>
            </a:r>
            <a:r>
              <a:rPr lang="en-US" altLang="en-US" sz="2400" smtClean="0">
                <a:solidFill>
                  <a:srgbClr val="FF3300"/>
                </a:solidFill>
              </a:rPr>
              <a:t> has one digit (</a:t>
            </a:r>
            <a:r>
              <a:rPr lang="en-US" altLang="en-US" sz="2400" i="1" smtClean="0">
                <a:solidFill>
                  <a:srgbClr val="FF3300"/>
                </a:solidFill>
              </a:rPr>
              <a:t>K</a:t>
            </a:r>
            <a:r>
              <a:rPr lang="en-US" altLang="en-US" sz="2400" smtClean="0">
                <a:solidFill>
                  <a:srgbClr val="FF3300"/>
                </a:solidFill>
              </a:rPr>
              <a:t> = 1)</a:t>
            </a:r>
            <a:endParaRPr lang="en-US" altLang="en-US" i="1" smtClean="0"/>
          </a:p>
        </p:txBody>
      </p:sp>
    </p:spTree>
    <p:extLst>
      <p:ext uri="{BB962C8B-B14F-4D97-AF65-F5344CB8AC3E}">
        <p14:creationId xmlns:p14="http://schemas.microsoft.com/office/powerpoint/2010/main" val="86385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087438"/>
          </a:xfrm>
        </p:spPr>
        <p:txBody>
          <a:bodyPr/>
          <a:lstStyle/>
          <a:p>
            <a:r>
              <a:rPr lang="en-US" altLang="en-US" smtClean="0">
                <a:latin typeface="Courier New" panose="02070309020205020404" pitchFamily="49" charset="0"/>
              </a:rPr>
              <a:t>inWords</a:t>
            </a:r>
            <a:r>
              <a:rPr lang="en-US" altLang="en-US" smtClean="0"/>
              <a:t>  method</a:t>
            </a: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13161"/>
              </p:ext>
            </p:extLst>
          </p:nvPr>
        </p:nvGraphicFramePr>
        <p:xfrm>
          <a:off x="2098675" y="2219325"/>
          <a:ext cx="6850063" cy="346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Document" r:id="rId4" imgW="6912248" imgH="3504868" progId="Word.Document.8">
                  <p:embed/>
                </p:oleObj>
              </mc:Choice>
              <mc:Fallback>
                <p:oleObj name="Document" r:id="rId4" imgW="6912248" imgH="35048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2219325"/>
                        <a:ext cx="6850063" cy="346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2306638" y="2241550"/>
            <a:ext cx="6642100" cy="37274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3429" name="AutoShape 5"/>
          <p:cNvSpPr>
            <a:spLocks noChangeArrowheads="1"/>
          </p:cNvSpPr>
          <p:nvPr/>
        </p:nvSpPr>
        <p:spPr bwMode="auto">
          <a:xfrm>
            <a:off x="407988" y="2335213"/>
            <a:ext cx="1676400" cy="1295400"/>
          </a:xfrm>
          <a:prstGeom prst="wedgeRectCallout">
            <a:avLst>
              <a:gd name="adj1" fmla="val 89301"/>
              <a:gd name="adj2" fmla="val 200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Base case executes when only 1 digit is left</a:t>
            </a:r>
          </a:p>
        </p:txBody>
      </p:sp>
      <p:sp>
        <p:nvSpPr>
          <p:cNvPr id="103430" name="AutoShape 6"/>
          <p:cNvSpPr>
            <a:spLocks noChangeArrowheads="1"/>
          </p:cNvSpPr>
          <p:nvPr/>
        </p:nvSpPr>
        <p:spPr bwMode="auto">
          <a:xfrm>
            <a:off x="228600" y="4365625"/>
            <a:ext cx="1981200" cy="1219200"/>
          </a:xfrm>
          <a:prstGeom prst="wedgeRectCallout">
            <a:avLst>
              <a:gd name="adj1" fmla="val 85977"/>
              <a:gd name="adj2" fmla="val -2447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Size of problem is reduced for each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313720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/>
              <a:t>)</a:t>
            </a: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1220788" y="3883025"/>
            <a:ext cx="4894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Book Antiqua" panose="02040602050305030304" pitchFamily="18" charset="0"/>
              </a:rPr>
              <a:t>inwords(9)</a:t>
            </a:r>
            <a:r>
              <a:rPr lang="en-US" altLang="en-US" sz="2400">
                <a:latin typeface="Book Antiqua" panose="02040602050305030304" pitchFamily="18" charset="0"/>
              </a:rPr>
              <a:t>                 [print “eight”]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2462213" y="2703513"/>
            <a:ext cx="528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inwords(98)                   [print “seven”]</a:t>
            </a:r>
          </a:p>
        </p:txBody>
      </p:sp>
      <p:sp>
        <p:nvSpPr>
          <p:cNvPr id="105478" name="Line 6"/>
          <p:cNvSpPr>
            <a:spLocks noChangeShapeType="1"/>
          </p:cNvSpPr>
          <p:nvPr/>
        </p:nvSpPr>
        <p:spPr bwMode="auto">
          <a:xfrm flipH="1">
            <a:off x="3827463" y="21399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479" name="Line 7"/>
          <p:cNvSpPr>
            <a:spLocks noChangeShapeType="1"/>
          </p:cNvSpPr>
          <p:nvPr/>
        </p:nvSpPr>
        <p:spPr bwMode="auto">
          <a:xfrm>
            <a:off x="4754563" y="2154238"/>
            <a:ext cx="930275" cy="4333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 flipH="1">
            <a:off x="2457450" y="32194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481" name="Line 9"/>
          <p:cNvSpPr>
            <a:spLocks noChangeShapeType="1"/>
          </p:cNvSpPr>
          <p:nvPr/>
        </p:nvSpPr>
        <p:spPr bwMode="auto">
          <a:xfrm>
            <a:off x="3384550" y="32194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931863" y="5281613"/>
            <a:ext cx="20288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[print “nine”]</a:t>
            </a:r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>
            <a:off x="1946275" y="4494213"/>
            <a:ext cx="0" cy="635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484" name="Text Box 12"/>
          <p:cNvSpPr txBox="1">
            <a:spLocks noChangeArrowheads="1"/>
          </p:cNvSpPr>
          <p:nvPr/>
        </p:nvSpPr>
        <p:spPr bwMode="auto">
          <a:xfrm>
            <a:off x="5260975" y="5459413"/>
            <a:ext cx="3343275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No output yet, why?</a:t>
            </a:r>
          </a:p>
        </p:txBody>
      </p:sp>
    </p:spTree>
    <p:extLst>
      <p:ext uri="{BB962C8B-B14F-4D97-AF65-F5344CB8AC3E}">
        <p14:creationId xmlns:p14="http://schemas.microsoft.com/office/powerpoint/2010/main" val="302987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33CC33"/>
                </a:solidFill>
              </a:rPr>
              <a:t>composition</a:t>
            </a:r>
            <a:r>
              <a:rPr lang="en-US" altLang="en-US" smtClean="0"/>
              <a:t>)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1158875" y="3898900"/>
            <a:ext cx="469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Book Antiqua" panose="02040602050305030304" pitchFamily="18" charset="0"/>
              </a:rPr>
              <a:t>inwords(9)</a:t>
            </a:r>
            <a:r>
              <a:rPr lang="en-US" altLang="en-US" sz="2400">
                <a:latin typeface="Book Antiqua" panose="02040602050305030304" pitchFamily="18" charset="0"/>
              </a:rPr>
              <a:t>                 print “eight”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2462213" y="2703513"/>
            <a:ext cx="515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inwords(98)                    print “seven”</a:t>
            </a:r>
          </a:p>
        </p:txBody>
      </p:sp>
      <p:sp>
        <p:nvSpPr>
          <p:cNvPr id="107526" name="Line 6"/>
          <p:cNvSpPr>
            <a:spLocks noChangeShapeType="1"/>
          </p:cNvSpPr>
          <p:nvPr/>
        </p:nvSpPr>
        <p:spPr bwMode="auto">
          <a:xfrm flipH="1" flipV="1">
            <a:off x="4803775" y="2139950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27" name="Line 7"/>
          <p:cNvSpPr>
            <a:spLocks noChangeShapeType="1"/>
          </p:cNvSpPr>
          <p:nvPr/>
        </p:nvSpPr>
        <p:spPr bwMode="auto">
          <a:xfrm flipV="1">
            <a:off x="3856038" y="2136775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025525" y="5202238"/>
            <a:ext cx="18256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“nine”</a:t>
            </a:r>
          </a:p>
        </p:txBody>
      </p:sp>
      <p:sp>
        <p:nvSpPr>
          <p:cNvPr id="107529" name="Line 9"/>
          <p:cNvSpPr>
            <a:spLocks noChangeShapeType="1"/>
          </p:cNvSpPr>
          <p:nvPr/>
        </p:nvSpPr>
        <p:spPr bwMode="auto">
          <a:xfrm flipV="1">
            <a:off x="2335213" y="3295650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30" name="Line 10"/>
          <p:cNvSpPr>
            <a:spLocks noChangeShapeType="1"/>
          </p:cNvSpPr>
          <p:nvPr/>
        </p:nvSpPr>
        <p:spPr bwMode="auto">
          <a:xfrm flipH="1" flipV="1">
            <a:off x="3378200" y="3302000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31" name="Line 11"/>
          <p:cNvSpPr>
            <a:spLocks noChangeShapeType="1"/>
          </p:cNvSpPr>
          <p:nvPr/>
        </p:nvSpPr>
        <p:spPr bwMode="auto">
          <a:xfrm flipV="1">
            <a:off x="1828800" y="4402138"/>
            <a:ext cx="0" cy="7127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4481513" y="5543550"/>
            <a:ext cx="405765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Output: nine eight seven</a:t>
            </a:r>
          </a:p>
        </p:txBody>
      </p:sp>
    </p:spTree>
    <p:extLst>
      <p:ext uri="{BB962C8B-B14F-4D97-AF65-F5344CB8AC3E}">
        <p14:creationId xmlns:p14="http://schemas.microsoft.com/office/powerpoint/2010/main" val="215551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6096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What Happens with a Recursive Call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819400"/>
            <a:ext cx="7772400" cy="3581400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endParaRPr lang="en-US" altLang="en-US" smtClean="0">
              <a:latin typeface="Courier New" panose="02070309020205020404" pitchFamily="49" charset="0"/>
            </a:endParaRPr>
          </a:p>
          <a:p>
            <a:r>
              <a:rPr lang="en-US" altLang="en-US" sz="3600" smtClean="0">
                <a:latin typeface="Courier New" panose="02070309020205020404" pitchFamily="49" charset="0"/>
              </a:rPr>
              <a:t>inWords</a:t>
            </a:r>
            <a:r>
              <a:rPr lang="en-US" altLang="en-US" sz="3600" smtClean="0"/>
              <a:t> </a:t>
            </a:r>
            <a:r>
              <a:rPr lang="en-US" altLang="en-US" sz="3600" smtClean="0">
                <a:latin typeface="Arial" panose="020B0604020202020204" pitchFamily="34" charset="0"/>
              </a:rPr>
              <a:t>(slightly simplified) with argument</a:t>
            </a:r>
            <a:r>
              <a:rPr lang="en-US" altLang="en-US" sz="3600" smtClean="0"/>
              <a:t> </a:t>
            </a:r>
            <a:r>
              <a:rPr lang="en-US" altLang="en-US" sz="3600" smtClean="0">
                <a:latin typeface="Courier New" panose="02070309020205020404" pitchFamily="49" charset="0"/>
              </a:rPr>
              <a:t>987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2686050" y="228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9574" name="AutoShape 6"/>
          <p:cNvSpPr>
            <a:spLocks noChangeArrowheads="1"/>
          </p:cNvSpPr>
          <p:nvPr/>
        </p:nvSpPr>
        <p:spPr bwMode="auto">
          <a:xfrm rot="5400000">
            <a:off x="1562100" y="-78105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135" y="8241"/>
                  <a:pt x="15875" y="6225"/>
                  <a:pt x="13918" y="5145"/>
                </a:cubicBezTo>
                <a:lnTo>
                  <a:pt x="16015" y="1342"/>
                </a:lnTo>
                <a:cubicBezTo>
                  <a:pt x="19289" y="3148"/>
                  <a:pt x="21397" y="6519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96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800600" y="4572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Execution</a:t>
            </a:r>
            <a:br>
              <a:rPr lang="en-US" altLang="en-US" sz="4000" smtClean="0"/>
            </a:br>
            <a:r>
              <a:rPr lang="en-US" altLang="en-US" sz="4000" smtClean="0"/>
              <a:t>Trace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743450"/>
            <a:ext cx="7772400" cy="1771650"/>
          </a:xfrm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</a:rPr>
              <a:t>if</a:t>
            </a:r>
            <a:r>
              <a:rPr lang="en-US" altLang="en-US" smtClean="0"/>
              <a:t> condition is false</a:t>
            </a:r>
          </a:p>
          <a:p>
            <a:r>
              <a:rPr lang="en-US" altLang="en-US" smtClean="0"/>
              <a:t>recursive call to </a:t>
            </a:r>
            <a:r>
              <a:rPr lang="en-US" altLang="en-US" smtClean="0">
                <a:latin typeface="Courier New" panose="02070309020205020404" pitchFamily="49" charset="0"/>
              </a:rPr>
              <a:t>inWords</a:t>
            </a:r>
            <a:r>
              <a:rPr lang="en-US" altLang="en-US" smtClean="0"/>
              <a:t>, with </a:t>
            </a:r>
            <a:r>
              <a:rPr lang="en-US" altLang="en-US" smtClean="0">
                <a:latin typeface="Courier New" panose="02070309020205020404" pitchFamily="49" charset="0"/>
              </a:rPr>
              <a:t>987/10</a:t>
            </a:r>
            <a:r>
              <a:rPr lang="en-US" altLang="en-US" smtClean="0"/>
              <a:t> or</a:t>
            </a:r>
            <a:r>
              <a:rPr lang="en-US" altLang="en-US" smtClean="0">
                <a:latin typeface="Courier New" panose="02070309020205020404" pitchFamily="49" charset="0"/>
              </a:rPr>
              <a:t> 98</a:t>
            </a:r>
            <a:r>
              <a:rPr lang="en-US" altLang="en-US" smtClean="0"/>
              <a:t> as the argument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2209800" y="22860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inWords(98)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1622" name="AutoShape 6"/>
          <p:cNvSpPr>
            <a:spLocks noChangeArrowheads="1"/>
          </p:cNvSpPr>
          <p:nvPr/>
        </p:nvSpPr>
        <p:spPr bwMode="auto">
          <a:xfrm rot="16200000" flipH="1">
            <a:off x="1219200" y="129540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080" y="7138"/>
                  <a:pt x="14395" y="4481"/>
                  <a:pt x="11058" y="4348"/>
                </a:cubicBezTo>
                <a:lnTo>
                  <a:pt x="11232" y="8"/>
                </a:lnTo>
                <a:cubicBezTo>
                  <a:pt x="16814" y="232"/>
                  <a:pt x="21304" y="4675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990600" y="22860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1624" name="AutoShape 8"/>
          <p:cNvSpPr>
            <a:spLocks noChangeArrowheads="1"/>
          </p:cNvSpPr>
          <p:nvPr/>
        </p:nvSpPr>
        <p:spPr bwMode="auto">
          <a:xfrm>
            <a:off x="228600" y="3048000"/>
            <a:ext cx="1752600" cy="1447800"/>
          </a:xfrm>
          <a:prstGeom prst="wedgeRectCallout">
            <a:avLst>
              <a:gd name="adj1" fmla="val -18208"/>
              <a:gd name="adj2" fmla="val -120505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Computation waits here until recursive call returns</a:t>
            </a:r>
          </a:p>
        </p:txBody>
      </p:sp>
      <p:sp>
        <p:nvSpPr>
          <p:cNvPr id="111625" name="AutoShape 9"/>
          <p:cNvSpPr>
            <a:spLocks noChangeArrowheads="1"/>
          </p:cNvSpPr>
          <p:nvPr/>
        </p:nvSpPr>
        <p:spPr bwMode="auto">
          <a:xfrm>
            <a:off x="5124450" y="1695450"/>
            <a:ext cx="3200400" cy="952500"/>
          </a:xfrm>
          <a:prstGeom prst="wedgeRectCallout">
            <a:avLst>
              <a:gd name="adj1" fmla="val -90329"/>
              <a:gd name="adj2" fmla="val 32833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The argument is getting shorter and will eventually get to the base case.</a:t>
            </a:r>
          </a:p>
        </p:txBody>
      </p:sp>
    </p:spTree>
    <p:extLst>
      <p:ext uri="{BB962C8B-B14F-4D97-AF65-F5344CB8AC3E}">
        <p14:creationId xmlns:p14="http://schemas.microsoft.com/office/powerpoint/2010/main" val="80179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800600" y="4572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Execution Trace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4724400"/>
            <a:ext cx="3810000" cy="1905000"/>
          </a:xfrm>
          <a:prstGeom prst="rect">
            <a:avLst/>
          </a:prstGeom>
        </p:spPr>
        <p:txBody>
          <a:bodyPr/>
          <a:lstStyle/>
          <a:p>
            <a:r>
              <a:rPr lang="en-US" altLang="en-US" sz="2400" smtClean="0">
                <a:latin typeface="Arial" panose="020B0604020202020204" pitchFamily="34" charset="0"/>
              </a:rPr>
              <a:t>the if condition is false</a:t>
            </a:r>
          </a:p>
          <a:p>
            <a:r>
              <a:rPr lang="en-US" altLang="en-US" sz="2400" smtClean="0">
                <a:latin typeface="Arial" panose="020B0604020202020204" pitchFamily="34" charset="0"/>
              </a:rPr>
              <a:t>another recursive call is made.</a:t>
            </a: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2209800" y="22860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inWords(98/10);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4419600" y="411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inWords(9)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inWords(numeral/10);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3671" name="AutoShape 7"/>
          <p:cNvSpPr>
            <a:spLocks noChangeArrowheads="1"/>
          </p:cNvSpPr>
          <p:nvPr/>
        </p:nvSpPr>
        <p:spPr bwMode="auto">
          <a:xfrm rot="16200000" flipH="1">
            <a:off x="3429000" y="327660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080" y="7138"/>
                  <a:pt x="14395" y="4481"/>
                  <a:pt x="11058" y="4348"/>
                </a:cubicBezTo>
                <a:lnTo>
                  <a:pt x="11232" y="8"/>
                </a:lnTo>
                <a:cubicBezTo>
                  <a:pt x="16814" y="232"/>
                  <a:pt x="21304" y="4675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3124200" y="42672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4139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4419600" y="411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inWords(9)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if (9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// print nine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inWords(numeral/10);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title"/>
          </p:nvPr>
        </p:nvSpPr>
        <p:spPr>
          <a:xfrm>
            <a:off x="4800600" y="4572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Execution Trace</a:t>
            </a: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572000"/>
            <a:ext cx="4057650" cy="1733550"/>
          </a:xfrm>
          <a:prstGeom prst="rect">
            <a:avLst/>
          </a:prstGeom>
        </p:spPr>
        <p:txBody>
          <a:bodyPr/>
          <a:lstStyle/>
          <a:p>
            <a:r>
              <a:rPr lang="en-US" altLang="en-US" sz="2400" smtClean="0">
                <a:latin typeface="Arial" panose="020B0604020202020204" pitchFamily="34" charset="0"/>
              </a:rPr>
              <a:t>if condition is true </a:t>
            </a:r>
            <a:r>
              <a:rPr lang="en-US" altLang="en-US" sz="2400" smtClean="0">
                <a:solidFill>
                  <a:srgbClr val="FF0000"/>
                </a:solidFill>
                <a:latin typeface="Arial" panose="020B0604020202020204" pitchFamily="34" charset="0"/>
              </a:rPr>
              <a:t>(base case)</a:t>
            </a:r>
          </a:p>
          <a:p>
            <a:r>
              <a:rPr lang="en-US" altLang="en-US" sz="2400" smtClean="0">
                <a:latin typeface="Arial" panose="020B0604020202020204" pitchFamily="34" charset="0"/>
              </a:rPr>
              <a:t>prints nine and returns</a:t>
            </a:r>
          </a:p>
          <a:p>
            <a:r>
              <a:rPr lang="en-US" altLang="en-US" sz="2400" smtClean="0">
                <a:solidFill>
                  <a:srgbClr val="FF3300"/>
                </a:solidFill>
                <a:latin typeface="Arial" panose="020B0604020202020204" pitchFamily="34" charset="0"/>
              </a:rPr>
              <a:t>no recursive call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2209800" y="22860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latin typeface="Courier New" panose="02070309020205020404" pitchFamily="49" charset="0"/>
              </a:rPr>
              <a:t>// print 98 % 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5719" name="AutoShape 7"/>
          <p:cNvSpPr>
            <a:spLocks noChangeArrowheads="1"/>
          </p:cNvSpPr>
          <p:nvPr/>
        </p:nvSpPr>
        <p:spPr bwMode="auto">
          <a:xfrm rot="5400000" flipH="1">
            <a:off x="6324600" y="373380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080" y="7138"/>
                  <a:pt x="14395" y="4481"/>
                  <a:pt x="11058" y="4348"/>
                </a:cubicBezTo>
                <a:lnTo>
                  <a:pt x="11232" y="8"/>
                </a:lnTo>
                <a:cubicBezTo>
                  <a:pt x="16814" y="232"/>
                  <a:pt x="21304" y="4675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7086600" y="31242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4953000" y="1695450"/>
            <a:ext cx="3733800" cy="396875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Output: </a:t>
            </a:r>
            <a:r>
              <a:rPr lang="en-US" altLang="en-US" sz="2000" b="1">
                <a:latin typeface="Courier New" panose="02070309020205020404" pitchFamily="49" charset="0"/>
              </a:rPr>
              <a:t>nine</a:t>
            </a:r>
          </a:p>
        </p:txBody>
      </p:sp>
    </p:spTree>
    <p:extLst>
      <p:ext uri="{BB962C8B-B14F-4D97-AF65-F5344CB8AC3E}">
        <p14:creationId xmlns:p14="http://schemas.microsoft.com/office/powerpoint/2010/main" val="144193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4838700" y="4819650"/>
            <a:ext cx="3733800" cy="396875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Output: </a:t>
            </a:r>
            <a:r>
              <a:rPr lang="en-US" altLang="en-US" sz="2000" b="1">
                <a:latin typeface="Courier New" panose="02070309020205020404" pitchFamily="49" charset="0"/>
              </a:rPr>
              <a:t>nine eight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title"/>
          </p:nvPr>
        </p:nvSpPr>
        <p:spPr>
          <a:xfrm>
            <a:off x="4800600" y="3810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Execution Trace</a:t>
            </a:r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5402263"/>
            <a:ext cx="7962900" cy="7239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executes the next statement after the recursive call</a:t>
            </a: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Arial" panose="020B0604020202020204" pitchFamily="34" charset="0"/>
              </a:rPr>
              <a:t>prints eight and then returns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2209800" y="22860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inWords(98)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if (98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 // print out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inWords(98/10);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// print out 98 % 10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7766" name="AutoShape 6"/>
          <p:cNvSpPr>
            <a:spLocks noChangeArrowheads="1"/>
          </p:cNvSpPr>
          <p:nvPr/>
        </p:nvSpPr>
        <p:spPr bwMode="auto">
          <a:xfrm rot="5400000" flipH="1">
            <a:off x="4724400" y="182880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080" y="7138"/>
                  <a:pt x="14395" y="4481"/>
                  <a:pt x="11058" y="4348"/>
                </a:cubicBezTo>
                <a:lnTo>
                  <a:pt x="11232" y="8"/>
                </a:lnTo>
                <a:cubicBezTo>
                  <a:pt x="16814" y="232"/>
                  <a:pt x="21304" y="4675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7767" name="Text Box 7"/>
          <p:cNvSpPr txBox="1">
            <a:spLocks noChangeArrowheads="1"/>
          </p:cNvSpPr>
          <p:nvPr/>
        </p:nvSpPr>
        <p:spPr bwMode="auto">
          <a:xfrm>
            <a:off x="5486400" y="12192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7768" name="Text Box 8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// print out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latin typeface="Courier New" panose="02070309020205020404" pitchFamily="49" charset="0"/>
              </a:rPr>
              <a:t>// print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187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5105400" y="2057400"/>
            <a:ext cx="3733800" cy="396875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Output: </a:t>
            </a:r>
            <a:r>
              <a:rPr lang="en-US" altLang="en-US" sz="2000" b="1">
                <a:latin typeface="Courier New" panose="02070309020205020404" pitchFamily="49" charset="0"/>
              </a:rPr>
              <a:t>nine eight seven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title"/>
          </p:nvPr>
        </p:nvSpPr>
        <p:spPr>
          <a:xfrm>
            <a:off x="4800600" y="381000"/>
            <a:ext cx="3962400" cy="106680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4000" smtClean="0"/>
              <a:t>Execution Trace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2952750"/>
            <a:ext cx="7962900" cy="15430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en-US" sz="3600" smtClean="0">
                <a:latin typeface="Arial" panose="020B0604020202020204" pitchFamily="34" charset="0"/>
              </a:rPr>
              <a:t>executes the next statement after the recursive method call.</a:t>
            </a:r>
          </a:p>
          <a:p>
            <a:r>
              <a:rPr lang="en-US" altLang="en-US" sz="3600" smtClean="0">
                <a:latin typeface="Arial" panose="020B0604020202020204" pitchFamily="34" charset="0"/>
              </a:rPr>
              <a:t>prints seven and returns</a:t>
            </a:r>
          </a:p>
          <a:p>
            <a:endParaRPr lang="en-US" altLang="en-US" sz="3600" smtClean="0">
              <a:latin typeface="Arial" panose="020B0604020202020204" pitchFamily="34" charset="0"/>
            </a:endParaRP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4286250" y="66675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228600" y="304800"/>
            <a:ext cx="4495800" cy="2301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inWords(987)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if (987 &lt; 10)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 // print out digit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else //two or more digits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inWords(987/10);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800" b="1">
                <a:solidFill>
                  <a:srgbClr val="0033CC"/>
                </a:solidFill>
                <a:latin typeface="Courier New" panose="02070309020205020404" pitchFamily="49" charset="0"/>
              </a:rPr>
              <a:t>// print 987 % 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9815" name="AutoShape 7"/>
          <p:cNvSpPr>
            <a:spLocks noChangeArrowheads="1"/>
          </p:cNvSpPr>
          <p:nvPr/>
        </p:nvSpPr>
        <p:spPr bwMode="auto">
          <a:xfrm rot="10800000" flipH="1">
            <a:off x="2533650" y="666750"/>
            <a:ext cx="1371600" cy="1371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248" y="10474"/>
                </a:moveTo>
                <a:cubicBezTo>
                  <a:pt x="17080" y="7138"/>
                  <a:pt x="14395" y="4481"/>
                  <a:pt x="11058" y="4348"/>
                </a:cubicBezTo>
                <a:lnTo>
                  <a:pt x="11232" y="8"/>
                </a:lnTo>
                <a:cubicBezTo>
                  <a:pt x="16814" y="232"/>
                  <a:pt x="21304" y="4675"/>
                  <a:pt x="21586" y="10254"/>
                </a:cubicBezTo>
                <a:lnTo>
                  <a:pt x="24282" y="10118"/>
                </a:lnTo>
                <a:lnTo>
                  <a:pt x="19663" y="15229"/>
                </a:lnTo>
                <a:lnTo>
                  <a:pt x="14552" y="10610"/>
                </a:lnTo>
                <a:lnTo>
                  <a:pt x="17248" y="10474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3962400" y="16383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33CC"/>
                </a:solidFill>
                <a:latin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910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64475" cy="1011238"/>
          </a:xfrm>
        </p:spPr>
        <p:txBody>
          <a:bodyPr/>
          <a:lstStyle/>
          <a:p>
            <a:r>
              <a:rPr lang="en-US" altLang="en-US" smtClean="0"/>
              <a:t>Composition Matters</a:t>
            </a:r>
          </a:p>
        </p:txBody>
      </p:sp>
      <p:graphicFrame>
        <p:nvGraphicFramePr>
          <p:cNvPr id="1218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863057"/>
              </p:ext>
            </p:extLst>
          </p:nvPr>
        </p:nvGraphicFramePr>
        <p:xfrm>
          <a:off x="1876425" y="1139825"/>
          <a:ext cx="7083425" cy="410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Document" r:id="rId4" imgW="7400066" imgH="4279928" progId="Word.Document.8">
                  <p:embed/>
                </p:oleObj>
              </mc:Choice>
              <mc:Fallback>
                <p:oleObj name="Document" r:id="rId4" imgW="7400066" imgH="42799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139825"/>
                        <a:ext cx="7083425" cy="410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2057400" y="1143000"/>
            <a:ext cx="6629400" cy="3581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1861" name="AutoShape 5"/>
          <p:cNvSpPr>
            <a:spLocks noChangeArrowheads="1"/>
          </p:cNvSpPr>
          <p:nvPr/>
        </p:nvSpPr>
        <p:spPr bwMode="auto">
          <a:xfrm>
            <a:off x="0" y="2743200"/>
            <a:ext cx="1981200" cy="1135063"/>
          </a:xfrm>
          <a:prstGeom prst="wedgeRectCallout">
            <a:avLst>
              <a:gd name="adj1" fmla="val 91264"/>
              <a:gd name="adj2" fmla="val 31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</a:rPr>
              <a:t>Print before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</a:rPr>
              <a:t>making the recursive call</a:t>
            </a:r>
          </a:p>
        </p:txBody>
      </p:sp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457200" y="4876800"/>
            <a:ext cx="53387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Recursive Design:</a:t>
            </a:r>
          </a:p>
          <a:p>
            <a:pPr>
              <a:buFontTx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Print the last digit</a:t>
            </a:r>
          </a:p>
          <a:p>
            <a:pPr>
              <a:buFontTx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inWords for the first </a:t>
            </a:r>
            <a:r>
              <a:rPr lang="en-US" altLang="en-US" i="1">
                <a:latin typeface="Arial" panose="020B0604020202020204" pitchFamily="34" charset="0"/>
              </a:rPr>
              <a:t>K</a:t>
            </a:r>
            <a:r>
              <a:rPr lang="en-US" altLang="en-US">
                <a:latin typeface="Arial" panose="020B0604020202020204" pitchFamily="34" charset="0"/>
              </a:rPr>
              <a:t> – 1 digits</a:t>
            </a:r>
          </a:p>
        </p:txBody>
      </p:sp>
    </p:spTree>
    <p:extLst>
      <p:ext uri="{BB962C8B-B14F-4D97-AF65-F5344CB8AC3E}">
        <p14:creationId xmlns:p14="http://schemas.microsoft.com/office/powerpoint/2010/main" val="266999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/>
              <a:t>)</a:t>
            </a: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462213" y="2649538"/>
            <a:ext cx="432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“seven”</a:t>
            </a:r>
            <a:r>
              <a:rPr lang="en-US" altLang="en-US" sz="2800">
                <a:latin typeface="Arial" panose="020B0604020202020204" pitchFamily="34" charset="0"/>
              </a:rPr>
              <a:t>       </a:t>
            </a:r>
            <a:r>
              <a:rPr lang="en-US" altLang="en-US" sz="2400">
                <a:latin typeface="Book Antiqua" panose="02040602050305030304" pitchFamily="18" charset="0"/>
              </a:rPr>
              <a:t>inwords(98)</a:t>
            </a:r>
          </a:p>
        </p:txBody>
      </p:sp>
      <p:sp>
        <p:nvSpPr>
          <p:cNvPr id="123909" name="Line 5"/>
          <p:cNvSpPr>
            <a:spLocks noChangeShapeType="1"/>
          </p:cNvSpPr>
          <p:nvPr/>
        </p:nvSpPr>
        <p:spPr bwMode="auto">
          <a:xfrm flipH="1">
            <a:off x="3827463" y="21399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910" name="Line 6"/>
          <p:cNvSpPr>
            <a:spLocks noChangeShapeType="1"/>
          </p:cNvSpPr>
          <p:nvPr/>
        </p:nvSpPr>
        <p:spPr bwMode="auto">
          <a:xfrm>
            <a:off x="4754563" y="2154238"/>
            <a:ext cx="930275" cy="4333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533400" y="5638800"/>
            <a:ext cx="24130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Output: seven</a:t>
            </a:r>
          </a:p>
        </p:txBody>
      </p:sp>
    </p:spTree>
    <p:extLst>
      <p:ext uri="{BB962C8B-B14F-4D97-AF65-F5344CB8AC3E}">
        <p14:creationId xmlns:p14="http://schemas.microsoft.com/office/powerpoint/2010/main" val="21466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/>
              <a:t>)</a:t>
            </a: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3648075" y="3805238"/>
            <a:ext cx="4259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“eight”</a:t>
            </a:r>
            <a:r>
              <a:rPr lang="en-US" altLang="en-US" sz="2800">
                <a:latin typeface="Arial" panose="020B0604020202020204" pitchFamily="34" charset="0"/>
              </a:rPr>
              <a:t>        </a:t>
            </a:r>
            <a:r>
              <a:rPr lang="en-US" altLang="en-US" sz="2400">
                <a:solidFill>
                  <a:srgbClr val="FF0000"/>
                </a:solidFill>
                <a:latin typeface="Book Antiqua" panose="02040602050305030304" pitchFamily="18" charset="0"/>
              </a:rPr>
              <a:t>inwords(9)</a:t>
            </a:r>
            <a:r>
              <a:rPr lang="en-US" altLang="en-US" sz="240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2462213" y="2649538"/>
            <a:ext cx="432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“seven”</a:t>
            </a:r>
            <a:r>
              <a:rPr lang="en-US" altLang="en-US" sz="2800">
                <a:latin typeface="Arial" panose="020B0604020202020204" pitchFamily="34" charset="0"/>
              </a:rPr>
              <a:t>       </a:t>
            </a:r>
            <a:r>
              <a:rPr lang="en-US" altLang="en-US" sz="2400">
                <a:latin typeface="Book Antiqua" panose="02040602050305030304" pitchFamily="18" charset="0"/>
              </a:rPr>
              <a:t>inwords(98)</a:t>
            </a:r>
          </a:p>
        </p:txBody>
      </p:sp>
      <p:sp>
        <p:nvSpPr>
          <p:cNvPr id="125958" name="Line 6"/>
          <p:cNvSpPr>
            <a:spLocks noChangeShapeType="1"/>
          </p:cNvSpPr>
          <p:nvPr/>
        </p:nvSpPr>
        <p:spPr bwMode="auto">
          <a:xfrm flipH="1">
            <a:off x="3827463" y="21399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59" name="Line 7"/>
          <p:cNvSpPr>
            <a:spLocks noChangeShapeType="1"/>
          </p:cNvSpPr>
          <p:nvPr/>
        </p:nvSpPr>
        <p:spPr bwMode="auto">
          <a:xfrm>
            <a:off x="4754563" y="2154238"/>
            <a:ext cx="930275" cy="4333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0" name="Line 8"/>
          <p:cNvSpPr>
            <a:spLocks noChangeShapeType="1"/>
          </p:cNvSpPr>
          <p:nvPr/>
        </p:nvSpPr>
        <p:spPr bwMode="auto">
          <a:xfrm flipH="1">
            <a:off x="4762500" y="32067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1" name="Line 9"/>
          <p:cNvSpPr>
            <a:spLocks noChangeShapeType="1"/>
          </p:cNvSpPr>
          <p:nvPr/>
        </p:nvSpPr>
        <p:spPr bwMode="auto">
          <a:xfrm>
            <a:off x="5702300" y="32067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2" name="Text Box 10"/>
          <p:cNvSpPr txBox="1">
            <a:spLocks noChangeArrowheads="1"/>
          </p:cNvSpPr>
          <p:nvPr/>
        </p:nvSpPr>
        <p:spPr bwMode="auto">
          <a:xfrm>
            <a:off x="457200" y="5638800"/>
            <a:ext cx="3284538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Output: seven eight</a:t>
            </a:r>
          </a:p>
        </p:txBody>
      </p:sp>
    </p:spTree>
    <p:extLst>
      <p:ext uri="{BB962C8B-B14F-4D97-AF65-F5344CB8AC3E}">
        <p14:creationId xmlns:p14="http://schemas.microsoft.com/office/powerpoint/2010/main" val="104825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0000FF"/>
                </a:solidFill>
              </a:rPr>
              <a:t>decomposition</a:t>
            </a:r>
            <a:r>
              <a:rPr lang="en-US" altLang="en-US" smtClean="0"/>
              <a:t>)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3648075" y="3805238"/>
            <a:ext cx="4183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“eight”</a:t>
            </a:r>
            <a:r>
              <a:rPr lang="en-US" altLang="en-US" sz="2800">
                <a:latin typeface="Arial" panose="020B0604020202020204" pitchFamily="34" charset="0"/>
              </a:rPr>
              <a:t>        </a:t>
            </a:r>
            <a:r>
              <a:rPr lang="en-US" altLang="en-US" sz="2400">
                <a:solidFill>
                  <a:srgbClr val="FF0000"/>
                </a:solidFill>
                <a:latin typeface="Book Antiqua" panose="02040602050305030304" pitchFamily="18" charset="0"/>
              </a:rPr>
              <a:t>inwords(9)</a:t>
            </a: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2462213" y="2649538"/>
            <a:ext cx="432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“seven”</a:t>
            </a:r>
            <a:r>
              <a:rPr lang="en-US" altLang="en-US" sz="2800">
                <a:latin typeface="Arial" panose="020B0604020202020204" pitchFamily="34" charset="0"/>
              </a:rPr>
              <a:t>       </a:t>
            </a:r>
            <a:r>
              <a:rPr lang="en-US" altLang="en-US" sz="2400">
                <a:latin typeface="Book Antiqua" panose="02040602050305030304" pitchFamily="18" charset="0"/>
              </a:rPr>
              <a:t>inwords(98)</a:t>
            </a:r>
          </a:p>
        </p:txBody>
      </p:sp>
      <p:sp>
        <p:nvSpPr>
          <p:cNvPr id="128006" name="Line 6"/>
          <p:cNvSpPr>
            <a:spLocks noChangeShapeType="1"/>
          </p:cNvSpPr>
          <p:nvPr/>
        </p:nvSpPr>
        <p:spPr bwMode="auto">
          <a:xfrm flipH="1">
            <a:off x="3827463" y="21399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007" name="Line 7"/>
          <p:cNvSpPr>
            <a:spLocks noChangeShapeType="1"/>
          </p:cNvSpPr>
          <p:nvPr/>
        </p:nvSpPr>
        <p:spPr bwMode="auto">
          <a:xfrm>
            <a:off x="4754563" y="2154238"/>
            <a:ext cx="930275" cy="4333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008" name="Line 8"/>
          <p:cNvSpPr>
            <a:spLocks noChangeShapeType="1"/>
          </p:cNvSpPr>
          <p:nvPr/>
        </p:nvSpPr>
        <p:spPr bwMode="auto">
          <a:xfrm flipH="1">
            <a:off x="4762500" y="32067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009" name="Line 9"/>
          <p:cNvSpPr>
            <a:spLocks noChangeShapeType="1"/>
          </p:cNvSpPr>
          <p:nvPr/>
        </p:nvSpPr>
        <p:spPr bwMode="auto">
          <a:xfrm>
            <a:off x="5702300" y="3206750"/>
            <a:ext cx="930275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010" name="Text Box 10"/>
          <p:cNvSpPr txBox="1">
            <a:spLocks noChangeArrowheads="1"/>
          </p:cNvSpPr>
          <p:nvPr/>
        </p:nvSpPr>
        <p:spPr bwMode="auto">
          <a:xfrm>
            <a:off x="5934075" y="5197475"/>
            <a:ext cx="18256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“nine”</a:t>
            </a:r>
          </a:p>
        </p:txBody>
      </p:sp>
      <p:sp>
        <p:nvSpPr>
          <p:cNvPr id="128011" name="Line 11"/>
          <p:cNvSpPr>
            <a:spLocks noChangeShapeType="1"/>
          </p:cNvSpPr>
          <p:nvPr/>
        </p:nvSpPr>
        <p:spPr bwMode="auto">
          <a:xfrm>
            <a:off x="6888163" y="4422775"/>
            <a:ext cx="0" cy="635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012" name="Text Box 12"/>
          <p:cNvSpPr txBox="1">
            <a:spLocks noChangeArrowheads="1"/>
          </p:cNvSpPr>
          <p:nvPr/>
        </p:nvSpPr>
        <p:spPr bwMode="auto">
          <a:xfrm>
            <a:off x="457200" y="5638800"/>
            <a:ext cx="405765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Output: seven eight nine</a:t>
            </a:r>
          </a:p>
        </p:txBody>
      </p:sp>
    </p:spTree>
    <p:extLst>
      <p:ext uri="{BB962C8B-B14F-4D97-AF65-F5344CB8AC3E}">
        <p14:creationId xmlns:p14="http://schemas.microsoft.com/office/powerpoint/2010/main" val="279480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Execution Trace (</a:t>
            </a:r>
            <a:r>
              <a:rPr lang="en-US" altLang="en-US" smtClean="0">
                <a:solidFill>
                  <a:srgbClr val="33CC33"/>
                </a:solidFill>
              </a:rPr>
              <a:t>composition</a:t>
            </a:r>
            <a:r>
              <a:rPr lang="en-US" altLang="en-US" smtClean="0"/>
              <a:t>)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3922713" y="1611313"/>
            <a:ext cx="1966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inwords(987)</a:t>
            </a: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3949700" y="3783013"/>
            <a:ext cx="4183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“eight”</a:t>
            </a:r>
            <a:r>
              <a:rPr lang="en-US" altLang="en-US" sz="2800">
                <a:latin typeface="Arial" panose="020B0604020202020204" pitchFamily="34" charset="0"/>
              </a:rPr>
              <a:t>        </a:t>
            </a:r>
            <a:r>
              <a:rPr lang="en-US" altLang="en-US" sz="2400">
                <a:solidFill>
                  <a:srgbClr val="FF0000"/>
                </a:solidFill>
                <a:latin typeface="Book Antiqua" panose="02040602050305030304" pitchFamily="18" charset="0"/>
              </a:rPr>
              <a:t>inwords(9)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2462213" y="2703513"/>
            <a:ext cx="447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“seven”           inwords(98)</a:t>
            </a:r>
          </a:p>
        </p:txBody>
      </p:sp>
      <p:sp>
        <p:nvSpPr>
          <p:cNvPr id="130054" name="Line 6"/>
          <p:cNvSpPr>
            <a:spLocks noChangeShapeType="1"/>
          </p:cNvSpPr>
          <p:nvPr/>
        </p:nvSpPr>
        <p:spPr bwMode="auto">
          <a:xfrm flipH="1" flipV="1">
            <a:off x="4803775" y="2139950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 flipV="1">
            <a:off x="3856038" y="2136775"/>
            <a:ext cx="930275" cy="433388"/>
          </a:xfrm>
          <a:prstGeom prst="line">
            <a:avLst/>
          </a:prstGeom>
          <a:noFill/>
          <a:ln w="12700">
            <a:solidFill>
              <a:srgbClr val="33CC33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6192838" y="5127625"/>
            <a:ext cx="18256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print “nine”</a:t>
            </a:r>
          </a:p>
        </p:txBody>
      </p:sp>
      <p:sp>
        <p:nvSpPr>
          <p:cNvPr id="130057" name="Line 9"/>
          <p:cNvSpPr>
            <a:spLocks noChangeShapeType="1"/>
          </p:cNvSpPr>
          <p:nvPr/>
        </p:nvSpPr>
        <p:spPr bwMode="auto">
          <a:xfrm flipV="1">
            <a:off x="5114925" y="3271838"/>
            <a:ext cx="930275" cy="433387"/>
          </a:xfrm>
          <a:prstGeom prst="line">
            <a:avLst/>
          </a:prstGeom>
          <a:noFill/>
          <a:ln w="12700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058" name="Line 10"/>
          <p:cNvSpPr>
            <a:spLocks noChangeShapeType="1"/>
          </p:cNvSpPr>
          <p:nvPr/>
        </p:nvSpPr>
        <p:spPr bwMode="auto">
          <a:xfrm flipH="1" flipV="1">
            <a:off x="6096000" y="3252788"/>
            <a:ext cx="930275" cy="433387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059" name="Line 11"/>
          <p:cNvSpPr>
            <a:spLocks noChangeShapeType="1"/>
          </p:cNvSpPr>
          <p:nvPr/>
        </p:nvSpPr>
        <p:spPr bwMode="auto">
          <a:xfrm flipV="1">
            <a:off x="7058025" y="4291013"/>
            <a:ext cx="0" cy="712787"/>
          </a:xfrm>
          <a:prstGeom prst="line">
            <a:avLst/>
          </a:prstGeom>
          <a:noFill/>
          <a:ln w="12700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060" name="Text Box 12"/>
          <p:cNvSpPr txBox="1">
            <a:spLocks noChangeArrowheads="1"/>
          </p:cNvSpPr>
          <p:nvPr/>
        </p:nvSpPr>
        <p:spPr bwMode="auto">
          <a:xfrm>
            <a:off x="533400" y="5638800"/>
            <a:ext cx="3367088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No additional output</a:t>
            </a:r>
          </a:p>
        </p:txBody>
      </p:sp>
    </p:spTree>
    <p:extLst>
      <p:ext uri="{BB962C8B-B14F-4D97-AF65-F5344CB8AC3E}">
        <p14:creationId xmlns:p14="http://schemas.microsoft.com/office/powerpoint/2010/main" val="308724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7382</TotalTime>
  <Words>3537</Words>
  <Application>Microsoft Office PowerPoint</Application>
  <PresentationFormat>On-screen Show (4:3)</PresentationFormat>
  <Paragraphs>723</Paragraphs>
  <Slides>75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5" baseType="lpstr">
      <vt:lpstr>AGaramond</vt:lpstr>
      <vt:lpstr>Arial</vt:lpstr>
      <vt:lpstr>Book Antiqua</vt:lpstr>
      <vt:lpstr>Cambria</vt:lpstr>
      <vt:lpstr>Consolas</vt:lpstr>
      <vt:lpstr>Courier New</vt:lpstr>
      <vt:lpstr>DejaVu Sans</vt:lpstr>
      <vt:lpstr>Goudy Sans Medium</vt:lpstr>
      <vt:lpstr>Lucida Sans Unicode</vt:lpstr>
      <vt:lpstr>Monotype Sorts</vt:lpstr>
      <vt:lpstr>Symbol</vt:lpstr>
      <vt:lpstr>Times New Roman</vt:lpstr>
      <vt:lpstr>Verdana</vt:lpstr>
      <vt:lpstr>Wingdings</vt:lpstr>
      <vt:lpstr>Wingdings 2</vt:lpstr>
      <vt:lpstr>Wingdings 3</vt:lpstr>
      <vt:lpstr>Office Theme</vt:lpstr>
      <vt:lpstr>Office Theme</vt:lpstr>
      <vt:lpstr>Office Theme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Recursive Methods Must Eventually Terminate</vt:lpstr>
      <vt:lpstr>Key Components of a Recursive Algorithm Design</vt:lpstr>
      <vt:lpstr>PowerPoint Presentation</vt:lpstr>
      <vt:lpstr>PowerPoint Presentation</vt:lpstr>
      <vt:lpstr>PowerPoint Presentation</vt:lpstr>
      <vt:lpstr>PowerPoint Presentation</vt:lpstr>
      <vt:lpstr>Factorial (N!)</vt:lpstr>
      <vt:lpstr>PowerPoint Presentation</vt:lpstr>
      <vt:lpstr>PowerPoint Presentation</vt:lpstr>
      <vt:lpstr>PowerPoint Presentation</vt:lpstr>
      <vt:lpstr>PowerPoint Presentation</vt:lpstr>
      <vt:lpstr>factorial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Trace (decomposition)</vt:lpstr>
      <vt:lpstr>Execution Trace (decomposition)</vt:lpstr>
      <vt:lpstr>Execution Trace (decomposition)</vt:lpstr>
      <vt:lpstr>Execution Trace (composition)</vt:lpstr>
      <vt:lpstr>Execution Trace (composition)</vt:lpstr>
      <vt:lpstr>Execution Trace (composition)</vt:lpstr>
      <vt:lpstr>Execution Trace (composition)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Trace (decomposition)</vt:lpstr>
      <vt:lpstr>Execution Trace (decomposition)</vt:lpstr>
      <vt:lpstr>Execution Trace (composition)</vt:lpstr>
      <vt:lpstr>Execution Trace (composition)</vt:lpstr>
      <vt:lpstr>Execution Trace (composition)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Number of Zeros in a Number</vt:lpstr>
      <vt:lpstr>numberOfZeros Recursive Design</vt:lpstr>
      <vt:lpstr>numberOfZeros method</vt:lpstr>
      <vt:lpstr>PowerPoint Presentation</vt:lpstr>
      <vt:lpstr>PowerPoint Presentation</vt:lpstr>
      <vt:lpstr>Number in English Words</vt:lpstr>
      <vt:lpstr>inWords Resursive Design</vt:lpstr>
      <vt:lpstr>inWords  method</vt:lpstr>
      <vt:lpstr>Execution Trace (decomposition)</vt:lpstr>
      <vt:lpstr>Execution Trace (composition)</vt:lpstr>
      <vt:lpstr>What Happens with a Recursive Call</vt:lpstr>
      <vt:lpstr>Execution Trace</vt:lpstr>
      <vt:lpstr>Execution Trace</vt:lpstr>
      <vt:lpstr>Execution Trace</vt:lpstr>
      <vt:lpstr>Execution Trace</vt:lpstr>
      <vt:lpstr>Execution Trace</vt:lpstr>
      <vt:lpstr>Composition Matters</vt:lpstr>
      <vt:lpstr>Execution Trace (decomposition)</vt:lpstr>
      <vt:lpstr>Execution Trace (decomposition)</vt:lpstr>
      <vt:lpstr>Execution Trace (decomposition)</vt:lpstr>
      <vt:lpstr>Execution Trace (composition)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and an Introduction to Recursion</dc:title>
  <dc:subject/>
  <dc:creator>Windows User</dc:creator>
  <dc:description/>
  <cp:lastModifiedBy>USER</cp:lastModifiedBy>
  <cp:revision>126</cp:revision>
  <dcterms:created xsi:type="dcterms:W3CDTF">2009-09-14T16:00:56Z</dcterms:created>
  <dcterms:modified xsi:type="dcterms:W3CDTF">2023-11-27T18:28:01Z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13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193</vt:i4>
  </property>
</Properties>
</file>