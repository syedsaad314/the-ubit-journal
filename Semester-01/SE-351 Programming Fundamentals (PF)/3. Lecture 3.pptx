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539" r:id="rId6"/>
    <p:sldId id="260" r:id="rId7"/>
    <p:sldId id="261" r:id="rId8"/>
    <p:sldId id="540" r:id="rId9"/>
    <p:sldId id="262" r:id="rId10"/>
    <p:sldId id="265" r:id="rId11"/>
    <p:sldId id="266" r:id="rId12"/>
    <p:sldId id="544" r:id="rId13"/>
    <p:sldId id="604" r:id="rId14"/>
    <p:sldId id="600" r:id="rId15"/>
    <p:sldId id="605" r:id="rId16"/>
    <p:sldId id="602" r:id="rId17"/>
    <p:sldId id="601" r:id="rId18"/>
    <p:sldId id="606" r:id="rId19"/>
    <p:sldId id="607" r:id="rId20"/>
    <p:sldId id="608" r:id="rId21"/>
    <p:sldId id="609" r:id="rId22"/>
    <p:sldId id="610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69" autoAdjust="0"/>
    <p:restoredTop sz="94663"/>
  </p:normalViewPr>
  <p:slideViewPr>
    <p:cSldViewPr>
      <p:cViewPr varScale="1">
        <p:scale>
          <a:sx n="65" d="100"/>
          <a:sy n="65" d="100"/>
        </p:scale>
        <p:origin x="139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0C876360-1F81-4BA7-B436-4A7F6E2AFB8E}" type="datetimeFigureOut">
              <a:rPr lang="en-US"/>
              <a:pPr>
                <a:defRPr/>
              </a:pPr>
              <a:t>9/5/2024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9B3DBC9-9C19-4BB1-B2C1-EE8684C60E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9356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C9C5643-83BF-4DC0-8529-F6BE34BA28FE}" type="datetimeFigureOut">
              <a:rPr lang="en-US"/>
              <a:pPr>
                <a:defRPr/>
              </a:pPr>
              <a:t>9/5/2024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62B06C98-5ECD-4FEB-8CE5-6985C5EE30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1931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4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4950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EE70B9A-28A1-4EEF-9A11-51C72A874092}" type="slidenum">
              <a:rPr lang="en-US" altLang="en-US">
                <a:latin typeface="Calibri" panose="020F0502020204030204" pitchFamily="34" charset="0"/>
              </a:rPr>
              <a:pPr eaLnBrk="1" hangingPunct="1"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1894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258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8270CBF-3C3D-4512-882B-6DDFF7FB544D}" type="slidenum">
              <a:rPr lang="en-US" altLang="en-US">
                <a:latin typeface="Calibri" panose="020F0502020204030204" pitchFamily="34" charset="0"/>
              </a:rPr>
              <a:pPr eaLnBrk="1" hangingPunct="1"/>
              <a:t>2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10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6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360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7659131-D4A7-4A5A-ADCB-7909B9B10779}" type="slidenum">
              <a:rPr lang="en-US" altLang="en-US">
                <a:latin typeface="Calibri" panose="020F0502020204030204" pitchFamily="34" charset="0"/>
              </a:rPr>
              <a:pPr eaLnBrk="1" hangingPunct="1"/>
              <a:t>3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93541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76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462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E89B379-2E7B-4AAF-B47F-1E588E851B23}" type="slidenum">
              <a:rPr lang="en-US" altLang="en-US">
                <a:latin typeface="Calibri" panose="020F0502020204030204" pitchFamily="34" charset="0"/>
              </a:rPr>
              <a:pPr eaLnBrk="1" hangingPunct="1"/>
              <a:t>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051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8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667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F8A9BD5-3D40-4FBD-AC7E-6E15586F1B3A}" type="slidenum">
              <a:rPr lang="en-US" altLang="en-US">
                <a:latin typeface="Calibri" panose="020F0502020204030204" pitchFamily="34" charset="0"/>
              </a:rPr>
              <a:pPr eaLnBrk="1" hangingPunct="1"/>
              <a:t>6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98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9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770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6B5527D-A8BD-456D-9614-CC050B38780F}" type="slidenum">
              <a:rPr lang="en-US" altLang="en-US">
                <a:latin typeface="Calibri" panose="020F0502020204030204" pitchFamily="34" charset="0"/>
              </a:rPr>
              <a:pPr eaLnBrk="1" hangingPunct="1"/>
              <a:t>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17534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07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5974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FA726BB-3576-483B-801C-53AAD23AAE55}" type="slidenum">
              <a:rPr lang="en-US" altLang="en-US"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866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97FFE63-750A-4877-94B8-4EA4005ADCB7}" type="slidenum">
              <a:rPr lang="en-US" altLang="en-US"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836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4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052DC89-E61C-41A7-B224-4F993BCFB829}" type="slidenum">
              <a:rPr lang="en-US" altLang="en-US"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97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1254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4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052DC89-E61C-41A7-B224-4F993BCFB829}" type="slidenum">
              <a:rPr lang="en-US" altLang="en-US">
                <a:latin typeface="Calibri" panose="020F0502020204030204" pitchFamily="34" charset="0"/>
              </a:rPr>
              <a:pPr eaLnBrk="1" hangingPunct="1"/>
              <a:t>14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236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84939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48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052DC89-E61C-41A7-B224-4F993BCFB829}" type="slidenum">
              <a:rPr lang="en-US" altLang="en-US">
                <a:latin typeface="Calibri" panose="020F0502020204030204" pitchFamily="34" charset="0"/>
              </a:rPr>
              <a:pPr eaLnBrk="1" hangingPunct="1"/>
              <a:t>17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817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9790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15936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33712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76895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3277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Freeform 20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9108074 w 5760"/>
                <a:gd name="T3" fmla="*/ 0 h 528"/>
                <a:gd name="T4" fmla="*/ 9108074 w 5760"/>
                <a:gd name="T5" fmla="*/ 838869 h 528"/>
                <a:gd name="T6" fmla="*/ 7590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E739EB55-AB74-42B5-B891-29B1CF7A9BED}" type="datetime1">
              <a:rPr lang="en-US" smtClean="0"/>
              <a:t>9/5/2024</a:t>
            </a:fld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A64FECE-4E25-4720-8DBA-EE0955809BF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8"/>
          <p:cNvSpPr>
            <a:spLocks noGrp="1"/>
          </p:cNvSpPr>
          <p:nvPr>
            <p:ph type="ftr" sz="quarter" idx="12"/>
          </p:nvPr>
        </p:nvSpPr>
        <p:spPr>
          <a:xfrm>
            <a:off x="2743200" y="6408738"/>
            <a:ext cx="3987800" cy="365125"/>
          </a:xfrm>
        </p:spPr>
        <p:txBody>
          <a:bodyPr/>
          <a:lstStyle>
            <a:lvl1pPr>
              <a:defRPr smtClean="0"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72718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Font typeface="Wingdings" pitchFamily="2" charset="2"/>
              <a:buChar char="§"/>
              <a:defRPr/>
            </a:lvl2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C61ECD8F-CC40-4E60-A771-A722CD2E7EF3}" type="datetime1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14800" y="6408738"/>
            <a:ext cx="2616200" cy="365125"/>
          </a:xfrm>
        </p:spPr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61D63C-60CA-4957-BBD6-ADF3355A29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1654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190F0DC7-DC3D-438A-8891-B2E22219094B}" type="datetime1">
              <a:rPr lang="en-US" smtClean="0"/>
              <a:t>9/5/2024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D48AE9-C63C-435E-9693-4485E805639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5211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C23AD2A9-D4AB-4E35-AE53-BE0768F1D92C}" type="datetime1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09249B-A83E-4340-86C6-B8BA094693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1558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1AFE3EDB-D294-4125-9635-5AB0DC78280D}" type="datetime1">
              <a:rPr lang="en-US" smtClean="0"/>
              <a:t>9/5/2024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0563A5-F9E7-4072-B51F-885CBEE84A9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860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99B0E107-2C01-418F-B6A8-5CEFF223001D}" type="datetime1">
              <a:rPr lang="en-US" smtClean="0"/>
              <a:t>9/5/2024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F97526-3E06-480D-943E-076ADCEB58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8413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3962399" y="6408738"/>
            <a:ext cx="4684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©1992-2017 by Person Education, Inc. All Rights Reserved.</a:t>
            </a:r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0BD673-929D-41AE-A817-3DEE346E57C0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59D096-640E-BC47-B618-021DEF70AB1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>
              <a:defRPr/>
            </a:pPr>
            <a:fld id="{63647285-9B29-4EF5-ABFF-478AA3098F74}" type="datetime1">
              <a:rPr lang="en-US" smtClean="0"/>
              <a:t>9/5/2024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184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fld id="{3F5E0396-20B6-4D6F-994C-4A870A2EE812}" type="datetime1">
              <a:rPr lang="en-US" smtClean="0"/>
              <a:t>9/5/2024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C6B762-89FE-4E24-93C7-69173081FEA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242346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Freeform 18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A8FC1E7C-E7E7-4548-99A2-E2163288B9A2}" type="datetime1">
              <a:rPr lang="en-US" smtClean="0"/>
              <a:t>9/5/2024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79913" y="6408738"/>
            <a:ext cx="2351087" cy="365125"/>
          </a:xfrm>
        </p:spPr>
        <p:txBody>
          <a:bodyPr/>
          <a:lstStyle>
            <a:lvl1pPr>
              <a:defRPr smtClean="0"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ADB170-CF6E-44F9-9F20-91913BCD0CC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52860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F391EC-9AFF-4233-B854-13984AAEE0B0}" type="datetime1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48B6C8-58C5-4ACA-A5CD-4A7443C865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163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DC41D0-DFB0-40A2-ADE5-8468FA509FC5}" type="datetime1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536863-64F3-402C-89D3-210ED8B94F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852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B25AA0-083D-402F-A881-3BD7F9D479DC}" type="datetime1">
              <a:rPr lang="en-US" smtClean="0"/>
              <a:t>9/5/2024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804330-C189-4087-8430-8DEA2E2C7E3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0734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3802505 w 5591"/>
              <a:gd name="T3" fmla="*/ 0 h 588"/>
              <a:gd name="T4" fmla="*/ 3802505 w 5591"/>
              <a:gd name="T5" fmla="*/ 838200 h 588"/>
              <a:gd name="T6" fmla="*/ 31688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63647285-9B29-4EF5-ABFF-478AA3098F74}" type="datetime1">
              <a:rPr lang="en-US" smtClean="0"/>
              <a:t>9/5/2024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962400" y="6408738"/>
            <a:ext cx="2768600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smtClean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latin typeface="Lucida Sans Unicode" panose="020B0602030504020204" pitchFamily="34" charset="0"/>
              </a:defRPr>
            </a:lvl1pPr>
          </a:lstStyle>
          <a:p>
            <a:fld id="{641E2B64-90EE-4CA5-8314-8779BAF3AF2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62" r:id="rId7"/>
    <p:sldLayoutId id="2147483772" r:id="rId8"/>
    <p:sldLayoutId id="2147483773" r:id="rId9"/>
    <p:sldLayoutId id="2147483763" r:id="rId10"/>
    <p:sldLayoutId id="2147483764" r:id="rId11"/>
    <p:sldLayoutId id="2147483765" r:id="rId12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3380E6"/>
                </a:solidFill>
                <a:latin typeface="Cambria" panose="02040503050406030204" pitchFamily="18" charset="0"/>
              </a:rPr>
              <a:t>Algorithm Development and Control Statements: Part 1</a:t>
            </a:r>
          </a:p>
        </p:txBody>
      </p:sp>
      <p:sp>
        <p:nvSpPr>
          <p:cNvPr id="10243" name="Subtitle 3"/>
          <p:cNvSpPr>
            <a:spLocks noGrp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</p:spPr>
        <p:txBody>
          <a:bodyPr/>
          <a:lstStyle/>
          <a:p>
            <a:pPr marR="0" eaLnBrk="1" hangingPunct="1"/>
            <a:r>
              <a:rPr lang="en-US" altLang="en-US"/>
              <a:t>C</a:t>
            </a:r>
            <a:r>
              <a:rPr lang="en-US" altLang="en-US" dirty="0"/>
              <a:t>++ How to Program, 10/e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4.1  </a:t>
            </a:r>
            <a:r>
              <a:rPr lang="en-US">
                <a:solidFill>
                  <a:srgbClr val="3380E6"/>
                </a:solidFill>
                <a:latin typeface="Arial"/>
              </a:rPr>
              <a:t>Introduction</a:t>
            </a:r>
          </a:p>
        </p:txBody>
      </p:sp>
      <p:sp>
        <p:nvSpPr>
          <p:cNvPr id="1331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Before writing a program to solve a problem, have a thorough understanding of the problem and a carefully planned approach to solving it. 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Understand the available building blocks and employ proven program-construction techniques. </a:t>
            </a:r>
          </a:p>
        </p:txBody>
      </p:sp>
      <p:sp>
        <p:nvSpPr>
          <p:cNvPr id="1331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4.2  </a:t>
            </a:r>
            <a:r>
              <a:rPr lang="en-US">
                <a:solidFill>
                  <a:srgbClr val="3380E6"/>
                </a:solidFill>
                <a:latin typeface="Arial"/>
              </a:rPr>
              <a:t>Algorithms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Any solvable computing problem can be solved by the execution a series of actions in a specific order.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An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algorithm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is a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procedure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for solving a problem in terms of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actions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to execute and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order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in which these actions execute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Specifying the order in which statements (actions) execute in a computer program is called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program control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This chapter investigates program control using C++’s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control statements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</p:txBody>
      </p:sp>
      <p:sp>
        <p:nvSpPr>
          <p:cNvPr id="1434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4.3  </a:t>
            </a:r>
            <a:r>
              <a:rPr lang="en-US">
                <a:solidFill>
                  <a:srgbClr val="3380E6"/>
                </a:solidFill>
                <a:latin typeface="Arial"/>
              </a:rPr>
              <a:t>Pseudocode </a:t>
            </a:r>
          </a:p>
        </p:txBody>
      </p:sp>
      <p:sp>
        <p:nvSpPr>
          <p:cNvPr id="1536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Pseudocode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(or “fake” code) is an artificial and informal language that helps you develop algorithms.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Similar to everyday English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Helps you “think out” a program before attempting to write it.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Carefully prepared pseudocode can easily be converted to structured portions of C++ programs.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Normally describes only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executable statements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Declarations (that do not have initializers or do not involve constructor calls) are not executable statements.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Fig. 4.1 corresponds to the algorithm that inputs two integers from the user, adds these integers and displays their sum.</a:t>
            </a:r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4_Page_09"/>
          <p:cNvPicPr>
            <a:picLocks noGrp="1" noChangeAspect="1"/>
          </p:cNvPicPr>
          <p:nvPr isPhoto="1"/>
        </p:nvPicPr>
        <p:blipFill>
          <a:blip r:embed="rId2" cstate="print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6407"/>
            <a:ext cx="9144000" cy="34039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5143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solidFill>
                  <a:srgbClr val="24B5A1"/>
                </a:solidFill>
                <a:latin typeface="Arial"/>
              </a:rPr>
              <a:t>4.4  </a:t>
            </a:r>
            <a:r>
              <a:rPr lang="en-US">
                <a:solidFill>
                  <a:srgbClr val="3380E6"/>
                </a:solidFill>
                <a:latin typeface="Arial"/>
              </a:rPr>
              <a:t>Control Structures</a:t>
            </a:r>
          </a:p>
        </p:txBody>
      </p:sp>
      <p:sp>
        <p:nvSpPr>
          <p:cNvPr id="17411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Normally, statements in a program are executed one after the other in the order in which they’re written.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Called </a:t>
            </a:r>
            <a:r>
              <a:rPr lang="en-US" altLang="en-US" sz="2000" dirty="0">
                <a:solidFill>
                  <a:srgbClr val="0000FF"/>
                </a:solidFill>
                <a:latin typeface="Cambria" panose="02040503050406030204" pitchFamily="18" charset="0"/>
              </a:rPr>
              <a:t>sequential execution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Various C++ statements enable you to specify that the next statement to execute may be other than the next one in sequence.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Called </a:t>
            </a:r>
            <a:r>
              <a:rPr lang="en-US" altLang="en-US" sz="2000" dirty="0">
                <a:solidFill>
                  <a:srgbClr val="0000FF"/>
                </a:solidFill>
                <a:latin typeface="Cambria" panose="02040503050406030204" pitchFamily="18" charset="0"/>
              </a:rPr>
              <a:t>transfer of control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All programs could be written in terms of only three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control structures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000" dirty="0">
                <a:solidFill>
                  <a:srgbClr val="0000FF"/>
                </a:solidFill>
                <a:latin typeface="Cambria" panose="02040503050406030204" pitchFamily="18" charset="0"/>
              </a:rPr>
              <a:t>sequence structure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000" dirty="0">
                <a:solidFill>
                  <a:srgbClr val="0000FF"/>
                </a:solidFill>
                <a:latin typeface="Cambria" panose="02040503050406030204" pitchFamily="18" charset="0"/>
              </a:rPr>
              <a:t>selection structure</a:t>
            </a: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 and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sz="2000" dirty="0">
                <a:solidFill>
                  <a:srgbClr val="0000FF"/>
                </a:solidFill>
                <a:latin typeface="Cambria" panose="02040503050406030204" pitchFamily="18" charset="0"/>
              </a:rPr>
              <a:t>iteration structure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When we introduce C++’s implementations of control structures, we’ll refer to them in the terminology of the C++ standard document as “control statements.”</a:t>
            </a:r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rgbClr val="00B050"/>
                </a:solidFill>
                <a:latin typeface="Arial"/>
              </a:rPr>
              <a:t>4.4.1  Sequence Structure</a:t>
            </a:r>
          </a:p>
        </p:txBody>
      </p:sp>
      <p:sp>
        <p:nvSpPr>
          <p:cNvPr id="1843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Unless directed otherwise, the computer executes C++ statements one after the other in the order in which they’re written—that is, in sequence.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Unified Modeling Language (UML) </a:t>
            </a:r>
            <a:r>
              <a:rPr lang="en-US" altLang="en-US" dirty="0">
                <a:solidFill>
                  <a:srgbClr val="0000FF"/>
                </a:solidFill>
                <a:latin typeface="Cambria" panose="02040503050406030204" pitchFamily="18" charset="0"/>
              </a:rPr>
              <a:t>activity diagram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of Fig. 4.2 illustrates a typical sequence structure in which two calculations are performed in order.</a:t>
            </a:r>
          </a:p>
        </p:txBody>
      </p:sp>
      <p:sp>
        <p:nvSpPr>
          <p:cNvPr id="1843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4_Page_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8744"/>
            <a:ext cx="9144000" cy="41005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5173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>
                <a:solidFill>
                  <a:srgbClr val="00B050"/>
                </a:solidFill>
                <a:latin typeface="Arial"/>
              </a:rPr>
              <a:t>4.4.1  Sequence Structure</a:t>
            </a:r>
          </a:p>
        </p:txBody>
      </p:sp>
      <p:sp>
        <p:nvSpPr>
          <p:cNvPr id="2048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An activity diagram models the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workflow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 (also called the </a:t>
            </a:r>
            <a:r>
              <a:rPr lang="en-US" altLang="en-US" sz="2300" dirty="0">
                <a:solidFill>
                  <a:srgbClr val="0000FF"/>
                </a:solidFill>
                <a:latin typeface="Cambria" panose="02040503050406030204" pitchFamily="18" charset="0"/>
              </a:rPr>
              <a:t>activity</a:t>
            </a: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) of a portion of a software system.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300" dirty="0">
                <a:solidFill>
                  <a:srgbClr val="000000"/>
                </a:solidFill>
                <a:latin typeface="Cambria" panose="02040503050406030204" pitchFamily="18" charset="0"/>
              </a:rPr>
              <a:t>Activity diagrams are composed of special-purpose symbols, such as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900" dirty="0">
                <a:solidFill>
                  <a:srgbClr val="0000FF"/>
                </a:solidFill>
                <a:latin typeface="Cambria" panose="02040503050406030204" pitchFamily="18" charset="0"/>
              </a:rPr>
              <a:t>Action</a:t>
            </a:r>
            <a:r>
              <a:rPr lang="en-US" altLang="en-US" sz="19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1900" dirty="0">
                <a:solidFill>
                  <a:srgbClr val="0000FF"/>
                </a:solidFill>
                <a:latin typeface="Cambria" panose="02040503050406030204" pitchFamily="18" charset="0"/>
              </a:rPr>
              <a:t>state</a:t>
            </a:r>
            <a:r>
              <a:rPr lang="en-US" altLang="en-US" sz="19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1900" dirty="0">
                <a:solidFill>
                  <a:srgbClr val="0000FF"/>
                </a:solidFill>
                <a:latin typeface="Cambria" panose="02040503050406030204" pitchFamily="18" charset="0"/>
              </a:rPr>
              <a:t>symbols</a:t>
            </a:r>
            <a:r>
              <a:rPr lang="en-US" altLang="en-US" sz="1900" dirty="0">
                <a:solidFill>
                  <a:srgbClr val="000000"/>
                </a:solidFill>
                <a:latin typeface="Cambria" panose="02040503050406030204" pitchFamily="18" charset="0"/>
              </a:rPr>
              <a:t> (rectangles with their left and right sides replaced with arcs curving outward). They represent </a:t>
            </a:r>
            <a:r>
              <a:rPr lang="en-US" altLang="en-US" sz="1900" b="1" dirty="0">
                <a:solidFill>
                  <a:srgbClr val="000000"/>
                </a:solidFill>
                <a:latin typeface="Cambria" panose="02040503050406030204" pitchFamily="18" charset="0"/>
              </a:rPr>
              <a:t>actions to perform</a:t>
            </a:r>
            <a:r>
              <a:rPr lang="en-US" altLang="en-US" sz="19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900" dirty="0">
                <a:solidFill>
                  <a:srgbClr val="0000FF"/>
                </a:solidFill>
                <a:latin typeface="Cambria" panose="02040503050406030204" pitchFamily="18" charset="0"/>
              </a:rPr>
              <a:t>Diamonds</a:t>
            </a:r>
            <a:r>
              <a:rPr lang="en-US" altLang="en-US" sz="1900" dirty="0">
                <a:solidFill>
                  <a:srgbClr val="000000"/>
                </a:solidFill>
                <a:latin typeface="Cambria" panose="02040503050406030204" pitchFamily="18" charset="0"/>
              </a:rPr>
              <a:t>. They represent </a:t>
            </a:r>
            <a:r>
              <a:rPr lang="en-US" altLang="en-US" sz="1900" b="1" dirty="0">
                <a:solidFill>
                  <a:srgbClr val="000000"/>
                </a:solidFill>
                <a:latin typeface="Cambria" panose="02040503050406030204" pitchFamily="18" charset="0"/>
              </a:rPr>
              <a:t>decisions.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900" dirty="0">
                <a:solidFill>
                  <a:srgbClr val="0000FF"/>
                </a:solidFill>
                <a:latin typeface="Cambria" panose="02040503050406030204" pitchFamily="18" charset="0"/>
              </a:rPr>
              <a:t>Small circles.</a:t>
            </a:r>
            <a:r>
              <a:rPr lang="en-US" altLang="en-US" sz="1900" dirty="0">
                <a:solidFill>
                  <a:srgbClr val="000000"/>
                </a:solidFill>
                <a:latin typeface="Cambria" panose="02040503050406030204" pitchFamily="18" charset="0"/>
              </a:rPr>
              <a:t> They represent the </a:t>
            </a:r>
            <a:r>
              <a:rPr lang="en-US" altLang="en-US" sz="1900" b="1" dirty="0">
                <a:solidFill>
                  <a:srgbClr val="000000"/>
                </a:solidFill>
                <a:latin typeface="Cambria" panose="02040503050406030204" pitchFamily="18" charset="0"/>
              </a:rPr>
              <a:t>initial and final states.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1900" dirty="0">
                <a:solidFill>
                  <a:srgbClr val="0000FF"/>
                </a:solidFill>
                <a:latin typeface="Cambria" panose="02040503050406030204" pitchFamily="18" charset="0"/>
              </a:rPr>
              <a:t>Transition</a:t>
            </a:r>
            <a:r>
              <a:rPr lang="en-US" altLang="en-US" sz="1900" dirty="0">
                <a:solidFill>
                  <a:srgbClr val="000000"/>
                </a:solidFill>
                <a:latin typeface="Cambria" panose="02040503050406030204" pitchFamily="18" charset="0"/>
              </a:rPr>
              <a:t> </a:t>
            </a:r>
            <a:r>
              <a:rPr lang="en-US" altLang="en-US" sz="1900" dirty="0">
                <a:solidFill>
                  <a:srgbClr val="0000FF"/>
                </a:solidFill>
                <a:latin typeface="Cambria" panose="02040503050406030204" pitchFamily="18" charset="0"/>
              </a:rPr>
              <a:t>arrows</a:t>
            </a:r>
            <a:r>
              <a:rPr lang="en-US" altLang="en-US" sz="1900" dirty="0">
                <a:solidFill>
                  <a:srgbClr val="000000"/>
                </a:solidFill>
                <a:latin typeface="Cambria" panose="02040503050406030204" pitchFamily="18" charset="0"/>
              </a:rPr>
              <a:t>. They represent the </a:t>
            </a:r>
            <a:r>
              <a:rPr lang="en-US" altLang="en-US" sz="1900" b="1" dirty="0">
                <a:solidFill>
                  <a:srgbClr val="000000"/>
                </a:solidFill>
                <a:latin typeface="Cambria" panose="02040503050406030204" pitchFamily="18" charset="0"/>
              </a:rPr>
              <a:t>flow of the activity</a:t>
            </a:r>
            <a:r>
              <a:rPr lang="en-US" altLang="en-US" sz="1900" dirty="0">
                <a:solidFill>
                  <a:srgbClr val="000000"/>
                </a:solidFill>
                <a:latin typeface="Cambria" panose="02040503050406030204" pitchFamily="18" charset="0"/>
              </a:rPr>
              <a:t>.</a:t>
            </a:r>
          </a:p>
          <a:p>
            <a:pPr marL="392113" lvl="1" indent="0" eaLnBrk="1" hangingPunct="1">
              <a:lnSpc>
                <a:spcPct val="80000"/>
              </a:lnSpc>
              <a:buNone/>
            </a:pPr>
            <a:r>
              <a:rPr lang="en-US" altLang="en-US" sz="1900" dirty="0">
                <a:solidFill>
                  <a:srgbClr val="000000"/>
                </a:solidFill>
                <a:latin typeface="Cambria" panose="02040503050406030204" pitchFamily="18" charset="0"/>
              </a:rPr>
              <a:t>In addition, there are often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000" dirty="0">
                <a:solidFill>
                  <a:srgbClr val="0000FF"/>
                </a:solidFill>
                <a:latin typeface="Cambria" panose="02040503050406030204" pitchFamily="18" charset="0"/>
              </a:rPr>
              <a:t>Rectangles with the upper-right corners folded over.</a:t>
            </a:r>
            <a:r>
              <a:rPr lang="en-US" altLang="en-US" sz="2000" dirty="0">
                <a:latin typeface="Cambria" panose="02040503050406030204" pitchFamily="18" charset="0"/>
              </a:rPr>
              <a:t> They are used for explaining action state symbols.</a:t>
            </a:r>
            <a:endParaRPr lang="en-US" altLang="en-US" sz="1900" dirty="0">
              <a:solidFill>
                <a:srgbClr val="0000FF"/>
              </a:solidFill>
              <a:latin typeface="Cambria" panose="02040503050406030204" pitchFamily="18" charset="0"/>
            </a:endParaRPr>
          </a:p>
          <a:p>
            <a:pPr marL="109537" indent="0" eaLnBrk="1" hangingPunct="1">
              <a:lnSpc>
                <a:spcPct val="80000"/>
              </a:lnSpc>
              <a:buNone/>
            </a:pPr>
            <a:endParaRPr lang="en-US" altLang="en-US" sz="2300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20484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00B050"/>
                </a:solidFill>
                <a:latin typeface="Arial"/>
              </a:rPr>
              <a:t>4.4.2  Selection Statements</a:t>
            </a:r>
            <a:endParaRPr lang="en-US" dirty="0">
              <a:solidFill>
                <a:srgbClr val="3380E6"/>
              </a:solidFill>
              <a:latin typeface="Arial"/>
            </a:endParaRPr>
          </a:p>
        </p:txBody>
      </p:sp>
      <p:sp>
        <p:nvSpPr>
          <p:cNvPr id="23555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C++ has three types of selection statements (discussed in this chapter and Chapter 5).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selection statement either performs (selects) an action (or group of actions) if a condition (predicate) is true or skips the action (or group of actions) if the condition is false.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…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else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selection statement performs an action (or group of actions) if a condition is true or performs a different action (or group of actions) if the condition is false.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The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switch</a:t>
            </a: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 selection statement (Chapter 5) performs one of many different actions (or groups of actions), depending on the value of an integer expression.</a:t>
            </a:r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00B050"/>
                </a:solidFill>
                <a:latin typeface="Arial"/>
              </a:rPr>
              <a:t>4.4.2  Selection Statements</a:t>
            </a:r>
            <a:endParaRPr lang="en-US" dirty="0">
              <a:solidFill>
                <a:srgbClr val="3380E6"/>
              </a:solidFill>
              <a:latin typeface="Arial"/>
            </a:endParaRPr>
          </a:p>
        </p:txBody>
      </p:sp>
      <p:sp>
        <p:nvSpPr>
          <p:cNvPr id="245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None/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Syntax for if statements:</a:t>
            </a:r>
          </a:p>
          <a:p>
            <a:pPr marL="109537" indent="0" eaLnBrk="1" hangingPunct="1">
              <a:buNone/>
            </a:pPr>
            <a:endParaRPr lang="en-US" alt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(condition) 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action;</a:t>
            </a:r>
          </a:p>
          <a:p>
            <a:pPr marL="109537" indent="0" eaLnBrk="1" hangingPunct="1">
              <a:buNone/>
            </a:pP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Or if there are several actions,(or only one but for clarity):</a:t>
            </a:r>
            <a:endParaRPr lang="en-US" alt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(condition) 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 </a:t>
            </a: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action1;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action1;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marL="109537" indent="0" eaLnBrk="1" hangingPunct="1">
              <a:buNone/>
            </a:pP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09537" indent="0" eaLnBrk="1" hangingPunct="1">
              <a:buNone/>
            </a:pPr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4_Page_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7200"/>
            <a:ext cx="9144000" cy="309919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2514600" y="3733800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if (grade &gt;= 60) </a:t>
            </a:r>
          </a:p>
          <a:p>
            <a:r>
              <a:rPr lang="en-GB" dirty="0"/>
              <a:t>	{ </a:t>
            </a:r>
          </a:p>
          <a:p>
            <a:r>
              <a:rPr lang="en-GB" dirty="0"/>
              <a:t>	</a:t>
            </a:r>
            <a:r>
              <a:rPr lang="en-GB" dirty="0" err="1"/>
              <a:t>cout</a:t>
            </a:r>
            <a:r>
              <a:rPr lang="en-GB" dirty="0"/>
              <a:t> &lt;&lt; "Passed";</a:t>
            </a:r>
          </a:p>
          <a:p>
            <a:r>
              <a:rPr lang="en-GB" dirty="0"/>
              <a:t>	 } </a:t>
            </a:r>
          </a:p>
        </p:txBody>
      </p:sp>
    </p:spTree>
    <p:extLst>
      <p:ext uri="{BB962C8B-B14F-4D97-AF65-F5344CB8AC3E}">
        <p14:creationId xmlns:p14="http://schemas.microsoft.com/office/powerpoint/2010/main" val="13236050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C5B61C-04B8-4FC2-859B-43B63A0368E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</p:spPr>
        <p:txBody>
          <a:bodyPr/>
          <a:lstStyle/>
          <a:p>
            <a:pPr algn="ctr"/>
            <a:r>
              <a:rPr lang="en-US" altLang="en-US" dirty="0"/>
              <a:t>Simple if Demo</a:t>
            </a:r>
          </a:p>
        </p:txBody>
      </p:sp>
      <p:sp>
        <p:nvSpPr>
          <p:cNvPr id="15364" name="Text Box 11"/>
          <p:cNvSpPr txBox="1">
            <a:spLocks noChangeArrowheads="1"/>
          </p:cNvSpPr>
          <p:nvPr/>
        </p:nvSpPr>
        <p:spPr bwMode="auto">
          <a:xfrm>
            <a:off x="381000" y="1076325"/>
            <a:ext cx="84105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Write a program that prompts the user to enter an integer. If the number is a multiple of 5, print HiFive. If the number is divisible by 2, print HiEven.</a:t>
            </a:r>
          </a:p>
        </p:txBody>
      </p:sp>
      <p:sp>
        <p:nvSpPr>
          <p:cNvPr id="15365" name="Rectangle 7"/>
          <p:cNvSpPr>
            <a:spLocks noChangeArrowheads="1"/>
          </p:cNvSpPr>
          <p:nvPr/>
        </p:nvSpPr>
        <p:spPr bwMode="auto">
          <a:xfrm>
            <a:off x="381000" y="2362200"/>
            <a:ext cx="4800600" cy="3139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  </a:t>
            </a:r>
            <a:r>
              <a:rPr lang="en-US" altLang="en-US" sz="1800" dirty="0" err="1"/>
              <a:t>int</a:t>
            </a:r>
            <a:r>
              <a:rPr lang="en-US" altLang="en-US" sz="1800" dirty="0"/>
              <a:t> main() {</a:t>
            </a:r>
            <a:br>
              <a:rPr lang="en-US" altLang="en-US" sz="1800" dirty="0"/>
            </a:br>
            <a:r>
              <a:rPr lang="en-US" altLang="en-US" sz="1800" dirty="0"/>
              <a:t>   </a:t>
            </a:r>
            <a:r>
              <a:rPr lang="en-US" altLang="en-US" sz="1800" dirty="0" err="1"/>
              <a:t>cout</a:t>
            </a:r>
            <a:r>
              <a:rPr lang="en-US" altLang="en-US" sz="1800" dirty="0"/>
              <a:t> &lt;&lt; "Enter an integer: “;</a:t>
            </a:r>
            <a:br>
              <a:rPr lang="en-US" altLang="en-US" sz="1800" dirty="0"/>
            </a:br>
            <a:r>
              <a:rPr lang="en-US" altLang="en-US" sz="1800" dirty="0"/>
              <a:t>    </a:t>
            </a:r>
            <a:r>
              <a:rPr lang="en-US" altLang="en-US" sz="1800" dirty="0" err="1"/>
              <a:t>int</a:t>
            </a:r>
            <a:r>
              <a:rPr lang="en-US" altLang="en-US" sz="1800" dirty="0"/>
              <a:t> number;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   </a:t>
            </a:r>
            <a:r>
              <a:rPr lang="en-US" altLang="en-US" sz="1800" dirty="0" err="1"/>
              <a:t>cin</a:t>
            </a:r>
            <a:r>
              <a:rPr lang="en-US" altLang="en-US" sz="1800" dirty="0"/>
              <a:t> &gt;&gt; number;</a:t>
            </a:r>
            <a:br>
              <a:rPr lang="en-US" altLang="en-US" sz="1800" dirty="0"/>
            </a:br>
            <a:br>
              <a:rPr lang="en-US" altLang="en-US" sz="1800" dirty="0"/>
            </a:br>
            <a:r>
              <a:rPr lang="en-US" altLang="en-US" sz="1800" dirty="0"/>
              <a:t>    if (number % 5 == 0)</a:t>
            </a:r>
            <a:br>
              <a:rPr lang="en-US" altLang="en-US" sz="1800" dirty="0"/>
            </a:br>
            <a:r>
              <a:rPr lang="en-US" altLang="en-US" sz="1800" dirty="0"/>
              <a:t>      </a:t>
            </a:r>
            <a:r>
              <a:rPr lang="en-US" altLang="en-US" sz="1800" dirty="0" err="1"/>
              <a:t>cout</a:t>
            </a:r>
            <a:r>
              <a:rPr lang="en-US" altLang="en-US" sz="1800" dirty="0"/>
              <a:t> &lt;&lt;"</a:t>
            </a:r>
            <a:r>
              <a:rPr lang="en-US" altLang="en-US" sz="1800" dirty="0" err="1"/>
              <a:t>HiFive</a:t>
            </a:r>
            <a:r>
              <a:rPr lang="en-US" altLang="en-US" sz="1800" dirty="0"/>
              <a:t>";</a:t>
            </a:r>
            <a:br>
              <a:rPr lang="en-US" altLang="en-US" sz="1800" dirty="0"/>
            </a:br>
            <a:br>
              <a:rPr lang="en-US" altLang="en-US" sz="1800" dirty="0"/>
            </a:br>
            <a:r>
              <a:rPr lang="en-US" altLang="en-US" sz="1800" dirty="0"/>
              <a:t>    if (number % 2 == 0)</a:t>
            </a:r>
            <a:br>
              <a:rPr lang="en-US" altLang="en-US" sz="1800" dirty="0"/>
            </a:br>
            <a:r>
              <a:rPr lang="en-US" altLang="en-US" sz="1800" dirty="0"/>
              <a:t>      </a:t>
            </a:r>
            <a:r>
              <a:rPr lang="en-US" altLang="en-US" sz="1800" dirty="0" err="1"/>
              <a:t>cout</a:t>
            </a:r>
            <a:r>
              <a:rPr lang="en-US" altLang="en-US" sz="1800" dirty="0"/>
              <a:t> &lt;&lt; "</a:t>
            </a:r>
            <a:r>
              <a:rPr lang="en-US" altLang="en-US" sz="1800" dirty="0" err="1"/>
              <a:t>HiEven</a:t>
            </a:r>
            <a:r>
              <a:rPr lang="en-US" altLang="en-US" sz="1800" dirty="0"/>
              <a:t>“;</a:t>
            </a:r>
            <a:br>
              <a:rPr lang="en-US" altLang="en-US" sz="1800" dirty="0"/>
            </a:br>
            <a:r>
              <a:rPr lang="en-US" altLang="en-US" sz="1800" dirty="0"/>
              <a:t>  }</a:t>
            </a:r>
          </a:p>
        </p:txBody>
      </p:sp>
      <p:sp>
        <p:nvSpPr>
          <p:cNvPr id="15366" name="Rectangle 8"/>
          <p:cNvSpPr>
            <a:spLocks noChangeArrowheads="1"/>
          </p:cNvSpPr>
          <p:nvPr/>
        </p:nvSpPr>
        <p:spPr bwMode="auto">
          <a:xfrm>
            <a:off x="6108700" y="2852738"/>
            <a:ext cx="20193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Enter an interger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Hi five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Enter an integer: </a:t>
            </a:r>
            <a:br>
              <a:rPr lang="en-US" altLang="en-US" sz="1600"/>
            </a:br>
            <a:r>
              <a:rPr lang="en-US" altLang="en-US" sz="1600">
                <a:solidFill>
                  <a:srgbClr val="FF0000"/>
                </a:solidFill>
              </a:rPr>
              <a:t>30</a:t>
            </a:r>
            <a:br>
              <a:rPr lang="en-US" altLang="en-US" sz="1600">
                <a:solidFill>
                  <a:srgbClr val="FF0000"/>
                </a:solidFill>
              </a:rPr>
            </a:br>
            <a:r>
              <a:rPr lang="en-US" altLang="en-US" sz="1600">
                <a:solidFill>
                  <a:srgbClr val="FF0000"/>
                </a:solidFill>
              </a:rPr>
              <a:t>HiFive</a:t>
            </a:r>
            <a:br>
              <a:rPr lang="en-US" altLang="en-US" sz="1600">
                <a:solidFill>
                  <a:srgbClr val="FF0000"/>
                </a:solidFill>
              </a:rPr>
            </a:br>
            <a:r>
              <a:rPr lang="en-US" altLang="en-US" sz="1600">
                <a:solidFill>
                  <a:srgbClr val="FF0000"/>
                </a:solidFill>
              </a:rPr>
              <a:t>HiEven</a:t>
            </a:r>
          </a:p>
        </p:txBody>
      </p:sp>
    </p:spTree>
    <p:extLst>
      <p:ext uri="{BB962C8B-B14F-4D97-AF65-F5344CB8AC3E}">
        <p14:creationId xmlns:p14="http://schemas.microsoft.com/office/powerpoint/2010/main" val="3456496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00B050"/>
                </a:solidFill>
                <a:latin typeface="Arial"/>
              </a:rPr>
              <a:t>4.4.2  Selection Statements</a:t>
            </a:r>
            <a:endParaRPr lang="en-US" dirty="0">
              <a:solidFill>
                <a:srgbClr val="3380E6"/>
              </a:solidFill>
              <a:latin typeface="Arial"/>
            </a:endParaRPr>
          </a:p>
        </p:txBody>
      </p:sp>
      <p:sp>
        <p:nvSpPr>
          <p:cNvPr id="24579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9537" indent="0" eaLnBrk="1" hangingPunct="1">
              <a:buNone/>
            </a:pPr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Syntax for if—else statements: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(condition) 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action1;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action2;</a:t>
            </a:r>
          </a:p>
          <a:p>
            <a:pPr marL="109537" indent="0" eaLnBrk="1" hangingPunct="1">
              <a:buNone/>
            </a:pPr>
            <a:b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Or as before, if there are several actions, or for clarity:</a:t>
            </a:r>
            <a:endParaRPr lang="en-US" alt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(condition) 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action1;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action2; 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action2;</a:t>
            </a:r>
          </a:p>
          <a:p>
            <a:pPr marL="109537" indent="0" eaLnBrk="1" hangingPunct="1">
              <a:buNone/>
            </a:pPr>
            <a:r>
              <a:rPr lang="en-US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109537" indent="0" eaLnBrk="1" hangingPunct="1">
              <a:buNone/>
            </a:pP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09537" indent="0" eaLnBrk="1" hangingPunct="1">
              <a:buNone/>
            </a:pPr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84779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F272C17-99A9-4F60-9453-3ACC8BEC60D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428750"/>
          </a:xfrm>
        </p:spPr>
        <p:txBody>
          <a:bodyPr/>
          <a:lstStyle/>
          <a:p>
            <a:r>
              <a:rPr lang="en-US" altLang="en-US"/>
              <a:t>The Two-way </a:t>
            </a:r>
            <a:r>
              <a:rPr lang="en-US" altLang="en-US" sz="4200">
                <a:latin typeface="Courier New" panose="02070309020205020404" pitchFamily="49" charset="0"/>
              </a:rPr>
              <a:t>if</a:t>
            </a:r>
            <a:r>
              <a:rPr lang="en-US" altLang="en-US"/>
              <a:t> Statement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2150" y="1085850"/>
            <a:ext cx="8001000" cy="2057400"/>
          </a:xfrm>
        </p:spPr>
        <p:txBody>
          <a:bodyPr/>
          <a:lstStyle/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if (boolean-expression) { 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  statement(s)-for-the-true-case;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else {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  statement(s)-for-the-false-case;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 b="1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  <a:endParaRPr lang="en-US" altLang="en-US" sz="2800" b="1">
              <a:solidFill>
                <a:srgbClr val="000000"/>
              </a:solidFill>
            </a:endParaRPr>
          </a:p>
        </p:txBody>
      </p:sp>
      <p:sp>
        <p:nvSpPr>
          <p:cNvPr id="17413" name="Rectangle 6"/>
          <p:cNvSpPr>
            <a:spLocks noChangeArrowheads="1"/>
          </p:cNvSpPr>
          <p:nvPr/>
        </p:nvSpPr>
        <p:spPr bwMode="auto">
          <a:xfrm>
            <a:off x="2162175" y="2428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1741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0" y="3044825"/>
            <a:ext cx="8216900" cy="344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387328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pphtp10_04_Page_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3400"/>
            <a:ext cx="9144000" cy="326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2438400" y="3802856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if (grade &gt;= 60) </a:t>
            </a:r>
          </a:p>
          <a:p>
            <a:r>
              <a:rPr lang="en-GB" dirty="0"/>
              <a:t>	{ </a:t>
            </a:r>
          </a:p>
          <a:p>
            <a:r>
              <a:rPr lang="en-GB" dirty="0"/>
              <a:t>	</a:t>
            </a:r>
            <a:r>
              <a:rPr lang="en-GB" dirty="0" err="1"/>
              <a:t>cout</a:t>
            </a:r>
            <a:r>
              <a:rPr lang="en-GB" dirty="0"/>
              <a:t> &lt;&lt; "Passed";</a:t>
            </a:r>
          </a:p>
          <a:p>
            <a:r>
              <a:rPr lang="en-GB" dirty="0"/>
              <a:t>	 } </a:t>
            </a:r>
          </a:p>
          <a:p>
            <a:r>
              <a:rPr lang="en-GB" dirty="0"/>
              <a:t>else </a:t>
            </a:r>
          </a:p>
          <a:p>
            <a:r>
              <a:rPr lang="en-GB" dirty="0"/>
              <a:t>	{ </a:t>
            </a:r>
          </a:p>
          <a:p>
            <a:r>
              <a:rPr lang="en-GB" dirty="0"/>
              <a:t>	</a:t>
            </a:r>
            <a:r>
              <a:rPr lang="en-GB" dirty="0" err="1"/>
              <a:t>cout</a:t>
            </a:r>
            <a:r>
              <a:rPr lang="en-GB" dirty="0"/>
              <a:t> &lt;&lt; "Failed"; </a:t>
            </a:r>
          </a:p>
          <a:p>
            <a:r>
              <a:rPr lang="en-GB" dirty="0"/>
              <a:t>	} </a:t>
            </a:r>
          </a:p>
        </p:txBody>
      </p:sp>
    </p:spTree>
    <p:extLst>
      <p:ext uri="{BB962C8B-B14F-4D97-AF65-F5344CB8AC3E}">
        <p14:creationId xmlns:p14="http://schemas.microsoft.com/office/powerpoint/2010/main" val="3011895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solidFill>
                  <a:srgbClr val="00B050"/>
                </a:solidFill>
                <a:latin typeface="Arial"/>
              </a:rPr>
              <a:t>4.4.2  Selection Statements</a:t>
            </a:r>
            <a:endParaRPr lang="en-US" dirty="0">
              <a:solidFill>
                <a:srgbClr val="3380E6"/>
              </a:solidFill>
              <a:latin typeface="Arial"/>
            </a:endParaRPr>
          </a:p>
        </p:txBody>
      </p:sp>
      <p:sp>
        <p:nvSpPr>
          <p:cNvPr id="24579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1138"/>
            <a:ext cx="8382000" cy="4525962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Write a program in which the user enters a number grade and it returns “Pass” if the grade is 60 or more and “Fail” if the grade is less than 60.</a:t>
            </a:r>
          </a:p>
          <a:p>
            <a:pPr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Modify the program so that it returns the letter grade corresponding to the number grade: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F if the number grade is less than 60.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D if the number grade is between 60 and 69, both inclusive.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C if the number grade is between 70 and 79, both inclusive.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B if the number grade is between 80 and 89, both inclusive.</a:t>
            </a:r>
          </a:p>
          <a:p>
            <a:pPr lvl="1" eaLnBrk="1" hangingPunct="1"/>
            <a:r>
              <a:rPr lang="en-US" altLang="en-US" dirty="0">
                <a:solidFill>
                  <a:srgbClr val="000000"/>
                </a:solidFill>
                <a:latin typeface="Cambria" panose="02040503050406030204" pitchFamily="18" charset="0"/>
              </a:rPr>
              <a:t>A if the number grade is between 90 and 100, both inclusive.</a:t>
            </a:r>
          </a:p>
          <a:p>
            <a:pPr lvl="1" eaLnBrk="1" hangingPunct="1"/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  <a:p>
            <a:pPr marL="109537" indent="0" eaLnBrk="1" hangingPunct="1">
              <a:buNone/>
            </a:pPr>
            <a:endParaRPr lang="en-US" alt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109537" indent="0" eaLnBrk="1" hangingPunct="1">
              <a:buNone/>
            </a:pPr>
            <a:br>
              <a:rPr lang="en-US" alt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109537" indent="0" eaLnBrk="1" hangingPunct="1">
              <a:buNone/>
            </a:pPr>
            <a:endParaRPr lang="en-US" altLang="en-US" dirty="0">
              <a:solidFill>
                <a:srgbClr val="000000"/>
              </a:solidFill>
              <a:latin typeface="Cambria" panose="02040503050406030204" pitchFamily="18" charset="0"/>
            </a:endParaRPr>
          </a:p>
        </p:txBody>
      </p:sp>
      <p:sp>
        <p:nvSpPr>
          <p:cNvPr id="24580" name="Footer Placeholder 3"/>
          <p:cNvSpPr>
            <a:spLocks noGrp="1"/>
          </p:cNvSpPr>
          <p:nvPr>
            <p:ph type="ftr" sz="quarter" idx="11"/>
          </p:nvPr>
        </p:nvSpPr>
        <p:spPr bwMode="auto">
          <a:ln>
            <a:miter lim="800000"/>
            <a:headEnd/>
            <a:tailEnd/>
          </a:ln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/>
              <a:t>©1992-2017 by Pearson Education,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002590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A880DB-B5F4-468D-942C-8CB49CB2DE1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001000" cy="91440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Multiple Alternative if Statements</a:t>
            </a:r>
          </a:p>
        </p:txBody>
      </p:sp>
      <p:sp>
        <p:nvSpPr>
          <p:cNvPr id="21508" name="Rectangle 7"/>
          <p:cNvSpPr>
            <a:spLocks noChangeArrowheads="1"/>
          </p:cNvSpPr>
          <p:nvPr/>
        </p:nvSpPr>
        <p:spPr bwMode="auto">
          <a:xfrm>
            <a:off x="2705100" y="2619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/>
          </a:p>
        </p:txBody>
      </p:sp>
      <p:graphicFrame>
        <p:nvGraphicFramePr>
          <p:cNvPr id="2151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1103249"/>
              </p:ext>
            </p:extLst>
          </p:nvPr>
        </p:nvGraphicFramePr>
        <p:xfrm>
          <a:off x="117475" y="1706563"/>
          <a:ext cx="8909050" cy="365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4483080" imgH="1847880" progId="Word.Picture.8">
                  <p:embed/>
                </p:oleObj>
              </mc:Choice>
              <mc:Fallback>
                <p:oleObj name="Picture" r:id="rId3" imgW="4483080" imgH="184788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475" y="1706563"/>
                        <a:ext cx="8909050" cy="365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81423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72366FF-5F11-4C54-8431-E8440982D83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/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2705100" y="2619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3556" name="Rectangle 6"/>
          <p:cNvSpPr>
            <a:spLocks noChangeArrowheads="1"/>
          </p:cNvSpPr>
          <p:nvPr/>
        </p:nvSpPr>
        <p:spPr bwMode="auto">
          <a:xfrm>
            <a:off x="0" y="2033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none" anchor="ctr">
            <a:spAutoFit/>
          </a:bodyPr>
          <a:lstStyle/>
          <a:p>
            <a:pPr eaLnBrk="1" hangingPunct="1">
              <a:defRPr/>
            </a:pPr>
            <a:endParaRPr lang="en-US"/>
          </a:p>
        </p:txBody>
      </p:sp>
      <p:pic>
        <p:nvPicPr>
          <p:cNvPr id="23558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3" y="625475"/>
            <a:ext cx="7588250" cy="585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03200"/>
            <a:ext cx="8001000" cy="711200"/>
          </a:xfrm>
        </p:spPr>
        <p:txBody>
          <a:bodyPr/>
          <a:lstStyle/>
          <a:p>
            <a:r>
              <a:rPr lang="en-US" altLang="en-US" sz="4000"/>
              <a:t>Multi-Way if-else Statements</a:t>
            </a:r>
          </a:p>
        </p:txBody>
      </p:sp>
    </p:spTree>
    <p:extLst>
      <p:ext uri="{BB962C8B-B14F-4D97-AF65-F5344CB8AC3E}">
        <p14:creationId xmlns:p14="http://schemas.microsoft.com/office/powerpoint/2010/main" val="15571503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8247F28-EE1E-474A-84B7-8F730FF9955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001000" cy="914400"/>
          </a:xfrm>
        </p:spPr>
        <p:txBody>
          <a:bodyPr/>
          <a:lstStyle/>
          <a:p>
            <a:r>
              <a:rPr lang="en-US" altLang="en-US"/>
              <a:t>Note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14400"/>
            <a:ext cx="8534400" cy="838200"/>
          </a:xfrm>
        </p:spPr>
        <p:txBody>
          <a:bodyPr/>
          <a:lstStyle/>
          <a:p>
            <a:pPr marL="0" indent="0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800">
                <a:cs typeface="Times New Roman" panose="02020603050405020304" pitchFamily="18" charset="0"/>
              </a:rPr>
              <a:t>The </a:t>
            </a:r>
            <a:r>
              <a:rPr lang="en-US" altLang="en-US" sz="2800" u="sng">
                <a:cs typeface="Times New Roman" panose="02020603050405020304" pitchFamily="18" charset="0"/>
              </a:rPr>
              <a:t>else</a:t>
            </a:r>
            <a:r>
              <a:rPr lang="en-US" altLang="en-US" sz="2800">
                <a:cs typeface="Times New Roman" panose="02020603050405020304" pitchFamily="18" charset="0"/>
              </a:rPr>
              <a:t> clause matches the most recent </a:t>
            </a:r>
            <a:r>
              <a:rPr lang="en-US" altLang="en-US" sz="2800" u="sng">
                <a:cs typeface="Times New Roman" panose="02020603050405020304" pitchFamily="18" charset="0"/>
              </a:rPr>
              <a:t>if</a:t>
            </a:r>
            <a:r>
              <a:rPr lang="en-US" altLang="en-US" sz="2800">
                <a:cs typeface="Times New Roman" panose="02020603050405020304" pitchFamily="18" charset="0"/>
              </a:rPr>
              <a:t> clause in the same block. </a:t>
            </a:r>
            <a:endParaRPr lang="en-US" altLang="en-US" sz="2800">
              <a:latin typeface="Courier" charset="0"/>
              <a:cs typeface="Times New Roman" panose="02020603050405020304" pitchFamily="18" charset="0"/>
            </a:endParaRP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2466975" y="28241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pic>
        <p:nvPicPr>
          <p:cNvPr id="35846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2333625"/>
            <a:ext cx="8801100" cy="2190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54884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551AA3-F4C2-4764-B43F-F51340E5EAD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001000" cy="914400"/>
          </a:xfrm>
        </p:spPr>
        <p:txBody>
          <a:bodyPr/>
          <a:lstStyle/>
          <a:p>
            <a:r>
              <a:rPr lang="en-US" altLang="en-US"/>
              <a:t>Common Errors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382000" cy="5486400"/>
          </a:xfrm>
        </p:spPr>
        <p:txBody>
          <a:bodyPr/>
          <a:lstStyle/>
          <a:p>
            <a:pPr marL="0" indent="0">
              <a:buFont typeface="Monotype Sorts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Adding a semicolon at the end of an </a:t>
            </a:r>
            <a:r>
              <a:rPr lang="en-US" altLang="en-US" sz="2400" u="sng" dirty="0">
                <a:cs typeface="Times New Roman" panose="02020603050405020304" pitchFamily="18" charset="0"/>
              </a:rPr>
              <a:t>if</a:t>
            </a:r>
            <a:r>
              <a:rPr lang="en-US" altLang="en-US" sz="2400" dirty="0">
                <a:cs typeface="Times New Roman" panose="02020603050405020304" pitchFamily="18" charset="0"/>
              </a:rPr>
              <a:t> clause is a common mistake.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400" dirty="0"/>
              <a:t>if (radius &gt;= 0);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400" dirty="0"/>
              <a:t>{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400" dirty="0"/>
              <a:t>  area = radius*radius*PI;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400" dirty="0"/>
              <a:t>  </a:t>
            </a:r>
            <a:r>
              <a:rPr lang="en-US" altLang="en-US" sz="2400" dirty="0" err="1"/>
              <a:t>cout</a:t>
            </a:r>
            <a:r>
              <a:rPr lang="en-US" altLang="en-US" sz="2400" dirty="0"/>
              <a:t>&lt;&lt;"The area for the circle of radius " &lt;&lt;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400" dirty="0"/>
              <a:t>    radius &lt;&lt; " is " &lt;&lt; area;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400" dirty="0"/>
              <a:t>}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This mistake is hard to find, because it is not a compilation error or a runtime error, it is a logic error. </a:t>
            </a:r>
          </a:p>
          <a:p>
            <a:pPr marL="0" indent="0">
              <a:buFont typeface="Monotype Sorts" pitchFamily="2" charset="2"/>
              <a:buNone/>
            </a:pPr>
            <a:r>
              <a:rPr lang="en-US" altLang="en-US" sz="2400" dirty="0">
                <a:cs typeface="Times New Roman" panose="02020603050405020304" pitchFamily="18" charset="0"/>
              </a:rPr>
              <a:t>This error often occurs when you use the next-line block style.</a:t>
            </a:r>
            <a:endParaRPr lang="en-US" altLang="en-US" sz="2800" dirty="0"/>
          </a:p>
        </p:txBody>
      </p:sp>
      <p:sp>
        <p:nvSpPr>
          <p:cNvPr id="39941" name="Line 5"/>
          <p:cNvSpPr>
            <a:spLocks noChangeShapeType="1"/>
          </p:cNvSpPr>
          <p:nvPr/>
        </p:nvSpPr>
        <p:spPr bwMode="auto">
          <a:xfrm flipH="1">
            <a:off x="2590800" y="2057400"/>
            <a:ext cx="8382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9942" name="Text Box 7"/>
          <p:cNvSpPr txBox="1">
            <a:spLocks noChangeArrowheads="1"/>
          </p:cNvSpPr>
          <p:nvPr/>
        </p:nvSpPr>
        <p:spPr bwMode="auto">
          <a:xfrm>
            <a:off x="3657600" y="1905000"/>
            <a:ext cx="1295400" cy="469900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400"/>
              <a:t>Wrong</a:t>
            </a:r>
          </a:p>
        </p:txBody>
      </p:sp>
    </p:spTree>
    <p:extLst>
      <p:ext uri="{BB962C8B-B14F-4D97-AF65-F5344CB8AC3E}">
        <p14:creationId xmlns:p14="http://schemas.microsoft.com/office/powerpoint/2010/main" val="2196220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B9C6B94-67EB-4E9B-8229-DE4FE64912F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8001000" cy="914400"/>
          </a:xfrm>
        </p:spPr>
        <p:txBody>
          <a:bodyPr/>
          <a:lstStyle/>
          <a:p>
            <a:r>
              <a:rPr lang="en-US" altLang="en-US"/>
              <a:t>CAUTION</a:t>
            </a:r>
          </a:p>
        </p:txBody>
      </p:sp>
      <p:sp>
        <p:nvSpPr>
          <p:cNvPr id="44036" name="Rectangle 3"/>
          <p:cNvSpPr>
            <a:spLocks noChangeArrowheads="1"/>
          </p:cNvSpPr>
          <p:nvPr/>
        </p:nvSpPr>
        <p:spPr bwMode="auto">
          <a:xfrm>
            <a:off x="2928938" y="30670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sp>
        <p:nvSpPr>
          <p:cNvPr id="44037" name="Rectangle 6"/>
          <p:cNvSpPr>
            <a:spLocks noChangeArrowheads="1"/>
          </p:cNvSpPr>
          <p:nvPr/>
        </p:nvSpPr>
        <p:spPr bwMode="auto">
          <a:xfrm>
            <a:off x="2771775" y="3119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44038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85445"/>
              </p:ext>
            </p:extLst>
          </p:nvPr>
        </p:nvGraphicFramePr>
        <p:xfrm>
          <a:off x="231775" y="1319213"/>
          <a:ext cx="8907463" cy="153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3" imgW="3727440" imgH="638640" progId="Word.Picture.8">
                  <p:embed/>
                </p:oleObj>
              </mc:Choice>
              <mc:Fallback>
                <p:oleObj name="Picture" r:id="rId3" imgW="3727440" imgH="638640" progId="Word.Picture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775" y="1319213"/>
                        <a:ext cx="8907463" cy="153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1213205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DeitelPowerPointTemplate</Template>
  <TotalTime>865</TotalTime>
  <Words>1307</Words>
  <Application>Microsoft Office PowerPoint</Application>
  <PresentationFormat>On-screen Show (4:3)</PresentationFormat>
  <Paragraphs>156</Paragraphs>
  <Slides>22</Slides>
  <Notes>18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7" baseType="lpstr">
      <vt:lpstr>Arial</vt:lpstr>
      <vt:lpstr>Calibri</vt:lpstr>
      <vt:lpstr>Cambria</vt:lpstr>
      <vt:lpstr>Consolas</vt:lpstr>
      <vt:lpstr>Courier</vt:lpstr>
      <vt:lpstr>Courier New</vt:lpstr>
      <vt:lpstr>Lucida Sans Unicode</vt:lpstr>
      <vt:lpstr>Monotype Sorts</vt:lpstr>
      <vt:lpstr>Times New Roman</vt:lpstr>
      <vt:lpstr>Verdana</vt:lpstr>
      <vt:lpstr>Wingdings</vt:lpstr>
      <vt:lpstr>Wingdings 2</vt:lpstr>
      <vt:lpstr>Wingdings 3</vt:lpstr>
      <vt:lpstr>Concourse</vt:lpstr>
      <vt:lpstr>Picture</vt:lpstr>
      <vt:lpstr>Algorithm Development and Control Statements: Part 1</vt:lpstr>
      <vt:lpstr>4.1  Introduction</vt:lpstr>
      <vt:lpstr>4.2  Algorithms</vt:lpstr>
      <vt:lpstr>4.3  Pseudocode </vt:lpstr>
      <vt:lpstr>PowerPoint Presentation</vt:lpstr>
      <vt:lpstr>4.4  Control Structures</vt:lpstr>
      <vt:lpstr>4.4.1  Sequence Structure</vt:lpstr>
      <vt:lpstr>PowerPoint Presentation</vt:lpstr>
      <vt:lpstr>4.4.1  Sequence Structure</vt:lpstr>
      <vt:lpstr>4.4.2  Selection Statements</vt:lpstr>
      <vt:lpstr>4.4.2  Selection Statements</vt:lpstr>
      <vt:lpstr>PowerPoint Presentation</vt:lpstr>
      <vt:lpstr>Simple if Demo</vt:lpstr>
      <vt:lpstr>4.4.2  Selection Statements</vt:lpstr>
      <vt:lpstr>The Two-way if Statement</vt:lpstr>
      <vt:lpstr>PowerPoint Presentation</vt:lpstr>
      <vt:lpstr>4.4.2  Selection Statements</vt:lpstr>
      <vt:lpstr>Multiple Alternative if Statements</vt:lpstr>
      <vt:lpstr>Multi-Way if-else Statements</vt:lpstr>
      <vt:lpstr>Note</vt:lpstr>
      <vt:lpstr>Common Errors</vt:lpstr>
      <vt:lpstr>CAUTION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 Statements: Part 1</dc:title>
  <dc:creator>Windows User</dc:creator>
  <cp:lastModifiedBy>Farhan A. Siddiqui / Visiting Faculty</cp:lastModifiedBy>
  <cp:revision>93</cp:revision>
  <dcterms:created xsi:type="dcterms:W3CDTF">2009-08-25T12:18:46Z</dcterms:created>
  <dcterms:modified xsi:type="dcterms:W3CDTF">2024-09-05T14:47:35Z</dcterms:modified>
</cp:coreProperties>
</file>