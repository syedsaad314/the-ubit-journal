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84"/>
  </p:notesMasterIdLst>
  <p:handoutMasterIdLst>
    <p:handoutMasterId r:id="rId85"/>
  </p:handoutMasterIdLst>
  <p:sldIdLst>
    <p:sldId id="374" r:id="rId2"/>
    <p:sldId id="413" r:id="rId3"/>
    <p:sldId id="414" r:id="rId4"/>
    <p:sldId id="257" r:id="rId5"/>
    <p:sldId id="258" r:id="rId6"/>
    <p:sldId id="415" r:id="rId7"/>
    <p:sldId id="259" r:id="rId8"/>
    <p:sldId id="416" r:id="rId9"/>
    <p:sldId id="260" r:id="rId10"/>
    <p:sldId id="417" r:id="rId11"/>
    <p:sldId id="261" r:id="rId12"/>
    <p:sldId id="262" r:id="rId13"/>
    <p:sldId id="263" r:id="rId14"/>
    <p:sldId id="418" r:id="rId15"/>
    <p:sldId id="419" r:id="rId16"/>
    <p:sldId id="420" r:id="rId17"/>
    <p:sldId id="264" r:id="rId18"/>
    <p:sldId id="373" r:id="rId19"/>
    <p:sldId id="421" r:id="rId20"/>
    <p:sldId id="265" r:id="rId21"/>
    <p:sldId id="266" r:id="rId22"/>
    <p:sldId id="422" r:id="rId23"/>
    <p:sldId id="267" r:id="rId24"/>
    <p:sldId id="423" r:id="rId25"/>
    <p:sldId id="268" r:id="rId26"/>
    <p:sldId id="424" r:id="rId27"/>
    <p:sldId id="425" r:id="rId28"/>
    <p:sldId id="269" r:id="rId29"/>
    <p:sldId id="452" r:id="rId30"/>
    <p:sldId id="451" r:id="rId31"/>
    <p:sldId id="426" r:id="rId32"/>
    <p:sldId id="427" r:id="rId33"/>
    <p:sldId id="270" r:id="rId34"/>
    <p:sldId id="271" r:id="rId35"/>
    <p:sldId id="428" r:id="rId36"/>
    <p:sldId id="429" r:id="rId37"/>
    <p:sldId id="430" r:id="rId38"/>
    <p:sldId id="431" r:id="rId39"/>
    <p:sldId id="272" r:id="rId40"/>
    <p:sldId id="273" r:id="rId41"/>
    <p:sldId id="274" r:id="rId42"/>
    <p:sldId id="275" r:id="rId43"/>
    <p:sldId id="432" r:id="rId44"/>
    <p:sldId id="276" r:id="rId45"/>
    <p:sldId id="277" r:id="rId46"/>
    <p:sldId id="278" r:id="rId47"/>
    <p:sldId id="433" r:id="rId48"/>
    <p:sldId id="434" r:id="rId49"/>
    <p:sldId id="435" r:id="rId50"/>
    <p:sldId id="279" r:id="rId51"/>
    <p:sldId id="436" r:id="rId52"/>
    <p:sldId id="280" r:id="rId53"/>
    <p:sldId id="281" r:id="rId54"/>
    <p:sldId id="437" r:id="rId55"/>
    <p:sldId id="283" r:id="rId56"/>
    <p:sldId id="438" r:id="rId57"/>
    <p:sldId id="453" r:id="rId58"/>
    <p:sldId id="454" r:id="rId59"/>
    <p:sldId id="455" r:id="rId60"/>
    <p:sldId id="459" r:id="rId61"/>
    <p:sldId id="460" r:id="rId62"/>
    <p:sldId id="456" r:id="rId63"/>
    <p:sldId id="285" r:id="rId64"/>
    <p:sldId id="439" r:id="rId65"/>
    <p:sldId id="440" r:id="rId66"/>
    <p:sldId id="441" r:id="rId67"/>
    <p:sldId id="286" r:id="rId68"/>
    <p:sldId id="442" r:id="rId69"/>
    <p:sldId id="443" r:id="rId70"/>
    <p:sldId id="444" r:id="rId71"/>
    <p:sldId id="287" r:id="rId72"/>
    <p:sldId id="288" r:id="rId73"/>
    <p:sldId id="445" r:id="rId74"/>
    <p:sldId id="446" r:id="rId75"/>
    <p:sldId id="447" r:id="rId76"/>
    <p:sldId id="289" r:id="rId77"/>
    <p:sldId id="448" r:id="rId78"/>
    <p:sldId id="290" r:id="rId79"/>
    <p:sldId id="449" r:id="rId80"/>
    <p:sldId id="450" r:id="rId81"/>
    <p:sldId id="457" r:id="rId82"/>
    <p:sldId id="458" r:id="rId8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4" autoAdjust="0"/>
    <p:restoredTop sz="94660"/>
  </p:normalViewPr>
  <p:slideViewPr>
    <p:cSldViewPr>
      <p:cViewPr varScale="1">
        <p:scale>
          <a:sx n="70" d="100"/>
          <a:sy n="70" d="100"/>
        </p:scale>
        <p:origin x="12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3FC2988-252F-422E-876B-32E9B10F9CE4}" type="datetimeFigureOut">
              <a:rPr lang="en-US"/>
              <a:pPr>
                <a:defRPr/>
              </a:pPr>
              <a:t>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E993C9-B1B7-4D64-8C38-EE075CB366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140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DD78684-E2B4-4F2D-A495-0B4F22E426E9}" type="datetimeFigureOut">
              <a:rPr lang="en-US"/>
              <a:pPr>
                <a:defRPr/>
              </a:pPr>
              <a:t>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0419A6D-4F73-46DC-9403-76F1038C1C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756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19A6D-4F73-46DC-9403-76F1038C1CD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4448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816BDB3-F099-40F4-AFA6-269627F84624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993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FF96C7-98A2-43B6-8816-05F31217E03B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3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A1DCC1A-1A13-4C72-8BBB-491314F80B68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54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3D28CE-821A-418A-B6D6-9DFA50B6AC4A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161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446146-D772-4A30-A826-F4F5744DAF91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295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E490657-E5D5-4E95-A799-FDAA8CCCC658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758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89ACB3-7E20-44C1-B775-5D867A67A2BC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395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9D15EBB-050A-4E94-9496-8E064554EAE8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64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F2BA67D-A0C6-4955-81EC-97A72B04346F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585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A352DC3-FEC2-4EE8-8C0D-604FE65A814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104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FF216B-85F9-45A9-BA02-10A109FD3C3D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63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1DD626-6EEE-4C3E-8A4D-BD4A3955CBF5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066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625BB88-F03A-449C-B0F9-FBF5E34EC129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128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A8CFF6-12C4-4F90-92E6-5FB1399F696F}" type="slidenum">
              <a:rPr lang="en-US" altLang="en-US"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68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A8CFF6-12C4-4F90-92E6-5FB1399F696F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67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A8CFF6-12C4-4F90-92E6-5FB1399F696F}" type="slidenum">
              <a:rPr lang="en-US" altLang="en-US"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106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FBEC80-2891-43BF-8CC2-DD5F5EAD6BB8}" type="slidenum">
              <a:rPr lang="en-US" altLang="en-US">
                <a:latin typeface="Calibri" panose="020F0502020204030204" pitchFamily="34" charset="0"/>
              </a:rPr>
              <a:pPr eaLnBrk="1" hangingPunct="1"/>
              <a:t>33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3699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0CC05C8-62CB-48E0-B17A-D2EBE14941A9}" type="slidenum">
              <a:rPr lang="en-US" altLang="en-US">
                <a:latin typeface="Calibri" panose="020F0502020204030204" pitchFamily="34" charset="0"/>
              </a:rPr>
              <a:pPr eaLnBrk="1" hangingPunct="1"/>
              <a:t>34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255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D41E03-B023-404D-B827-60030016EFB0}" type="slidenum">
              <a:rPr lang="en-US" altLang="en-US">
                <a:latin typeface="Calibri" panose="020F0502020204030204" pitchFamily="34" charset="0"/>
              </a:rPr>
              <a:pPr eaLnBrk="1" hangingPunct="1"/>
              <a:t>39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3664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AA59844-3921-4ED0-A651-659E24756F07}" type="slidenum">
              <a:rPr lang="en-US" altLang="en-US"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709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0DE8273-DB51-453C-83B3-7E60744400AB}" type="slidenum">
              <a:rPr lang="en-US" altLang="en-US">
                <a:latin typeface="Calibri" panose="020F0502020204030204" pitchFamily="34" charset="0"/>
              </a:rPr>
              <a:pPr eaLnBrk="1" hangingPunct="1"/>
              <a:t>41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549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369EA19-D683-498B-8F4E-3792614C36F9}" type="slidenum">
              <a:rPr lang="en-US" altLang="en-US"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695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1A97E4-8D52-4543-9EE6-035F058C4588}" type="slidenum">
              <a:rPr lang="en-US" altLang="en-US">
                <a:latin typeface="Calibri" panose="020F0502020204030204" pitchFamily="34" charset="0"/>
              </a:rPr>
              <a:pPr eaLnBrk="1" hangingPunct="1"/>
              <a:t>44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08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587E9B-80E3-4F17-90F3-0F8D56302EE5}" type="slidenum">
              <a:rPr lang="en-US" altLang="en-US"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5312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EFA65D-D58A-4BF2-947A-D0B8A3840536}" type="slidenum">
              <a:rPr lang="en-US" altLang="en-US">
                <a:latin typeface="Calibri" panose="020F0502020204030204" pitchFamily="34" charset="0"/>
              </a:rPr>
              <a:pPr eaLnBrk="1" hangingPunct="1"/>
              <a:t>46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1849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DD8B40-C14F-451B-942A-774F13F6F76A}" type="slidenum">
              <a:rPr lang="en-US" altLang="en-US">
                <a:latin typeface="Calibri" panose="020F0502020204030204" pitchFamily="34" charset="0"/>
              </a:rPr>
              <a:pPr eaLnBrk="1" hangingPunct="1"/>
              <a:t>50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245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D5CB4BD-CB81-43F7-95C0-8EAB463CFDFA}" type="slidenum">
              <a:rPr lang="en-US" altLang="en-US">
                <a:latin typeface="Calibri" panose="020F0502020204030204" pitchFamily="34" charset="0"/>
              </a:rPr>
              <a:pPr eaLnBrk="1" hangingPunct="1"/>
              <a:t>52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8045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8C66E8-5362-4B50-90DF-60E64CBCEE44}" type="slidenum">
              <a:rPr lang="en-US" altLang="en-US">
                <a:latin typeface="Calibri" panose="020F0502020204030204" pitchFamily="34" charset="0"/>
              </a:rPr>
              <a:pPr eaLnBrk="1" hangingPunct="1"/>
              <a:t>53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496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443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3423C37-D953-4C16-8E8F-E355CF41D773}" type="slidenum">
              <a:rPr lang="en-US" altLang="en-US">
                <a:latin typeface="Calibri" panose="020F0502020204030204" pitchFamily="34" charset="0"/>
              </a:rPr>
              <a:pPr eaLnBrk="1" hangingPunct="1"/>
              <a:t>55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5942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484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EFD27E5-9F45-4B38-BB22-A1A1D0093A9C}" type="slidenum">
              <a:rPr lang="en-US" altLang="en-US">
                <a:latin typeface="Calibri" panose="020F0502020204030204" pitchFamily="34" charset="0"/>
              </a:rPr>
              <a:pPr eaLnBrk="1" hangingPunct="1"/>
              <a:t>63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64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B59F053-59BA-48BF-AF65-AD3478594429}" type="slidenum">
              <a:rPr lang="en-US" altLang="en-US">
                <a:latin typeface="Calibri" panose="020F0502020204030204" pitchFamily="34" charset="0"/>
              </a:rPr>
              <a:pPr eaLnBrk="1" hangingPunct="1"/>
              <a:t>67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2124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577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CDFD28-A0D7-478E-8028-94D5EEEE6DEE}" type="slidenum">
              <a:rPr lang="en-US" altLang="en-US">
                <a:latin typeface="Calibri" panose="020F0502020204030204" pitchFamily="34" charset="0"/>
              </a:rPr>
              <a:pPr eaLnBrk="1" hangingPunct="1"/>
              <a:t>71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766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587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D4EE1F-ABEC-43A6-8713-94170E930242}" type="slidenum">
              <a:rPr lang="en-US" altLang="en-US">
                <a:latin typeface="Calibri" panose="020F0502020204030204" pitchFamily="34" charset="0"/>
              </a:rPr>
              <a:pPr eaLnBrk="1" hangingPunct="1"/>
              <a:t>72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832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3E0D14-9FEC-4E2A-B1EF-369427F54094}" type="slidenum">
              <a:rPr lang="en-US" altLang="en-US">
                <a:latin typeface="Calibri" panose="020F0502020204030204" pitchFamily="34" charset="0"/>
              </a:rPr>
              <a:pPr eaLnBrk="1" hangingPunct="1"/>
              <a:t>76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2587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4F73D97-C2C9-4321-84AE-93CC5CAB1391}" type="slidenum">
              <a:rPr lang="en-US" altLang="en-US">
                <a:latin typeface="Calibri" panose="020F0502020204030204" pitchFamily="34" charset="0"/>
              </a:rPr>
              <a:pPr eaLnBrk="1" hangingPunct="1"/>
              <a:t>78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45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extLst/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extLst/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Action Button: Forward or Next 10">
            <a:hlinkClick r:id="" action="ppaction://hlinkshowjump?jump=nextslide" highlightClick="1"/>
          </p:cNvPr>
          <p:cNvSpPr/>
          <p:nvPr/>
        </p:nvSpPr>
        <p:spPr>
          <a:xfrm>
            <a:off x="8686800" y="152400"/>
            <a:ext cx="3048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229B69CC-4F3A-4D4A-A811-CB31BD1B61AD}" type="datetime1">
              <a:rPr lang="en-US" smtClean="0"/>
              <a:t>1/23/2024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E6DA6D6-5F66-4BC0-B347-D27D36238B5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3987800" cy="365125"/>
          </a:xfrm>
        </p:spPr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04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 Button: Back or Previous 3">
            <a:hlinkClick r:id="" action="ppaction://hlinkshowjump?jump=previousslide" highlightClick="1"/>
          </p:cNvPr>
          <p:cNvSpPr/>
          <p:nvPr/>
        </p:nvSpPr>
        <p:spPr>
          <a:xfrm>
            <a:off x="8305800" y="152400"/>
            <a:ext cx="304800" cy="304800"/>
          </a:xfrm>
          <a:prstGeom prst="actionButtonBackPrevio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Action Button: Forward or Next 4">
            <a:hlinkClick r:id="" action="ppaction://hlinkshowjump?jump=nextslide" highlightClick="1"/>
          </p:cNvPr>
          <p:cNvSpPr/>
          <p:nvPr/>
        </p:nvSpPr>
        <p:spPr>
          <a:xfrm>
            <a:off x="8686800" y="152400"/>
            <a:ext cx="3048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774F1AA5-6C42-43E3-A481-625C7A0AA468}" type="datetime1">
              <a:rPr lang="en-US" smtClean="0"/>
              <a:t>1/23/2024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©1992-2017 by Pearson Education, Inc.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3E8978-2064-4FF3-9D02-93AD85FAC3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064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368DB869-2114-4329-9124-23F3665AAFFB}" type="datetime1">
              <a:rPr lang="en-US" smtClean="0"/>
              <a:t>1/23/2024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067C60-82A8-47EE-A3F7-5A886CFF72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9355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606C68FA-CB28-4536-AC0B-6A51FBB7C823}" type="datetime1">
              <a:rPr lang="en-US" smtClean="0"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190D17-5DC0-496D-ADC0-D353038781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107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617737A-EED8-45EE-82CE-967F8E514A61}" type="datetime1">
              <a:rPr lang="en-US" smtClean="0"/>
              <a:t>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9372E8-497C-46F4-B94D-E2E4A2326D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112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869D003-D2AC-45C6-8138-24AD741BD8B6}" type="datetime1">
              <a:rPr lang="en-US" smtClean="0"/>
              <a:t>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6BE0FB-5DC0-4F42-93E1-9CC6E631C5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6916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2BEF6-1389-4C1A-A089-4825725A08F9}" type="datetime1">
              <a:rPr lang="en-US" smtClean="0"/>
              <a:t>1/23/2024</a:t>
            </a:fld>
            <a:endParaRPr lang="en-US"/>
          </a:p>
        </p:txBody>
      </p:sp>
      <p:sp>
        <p:nvSpPr>
          <p:cNvPr id="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363CFE-0FEC-453E-B2B9-DDC577D1029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96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8A99656-0BDB-40DB-8779-8202436CA7D5}" type="datetime1">
              <a:rPr lang="en-US" smtClean="0"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FAA70-7669-48E5-B960-4A124E42A9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1118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5602294D-9B37-4156-93DC-AE86B51874B5}" type="datetime1">
              <a:rPr lang="en-US" smtClean="0"/>
              <a:t>1/23/2024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</p:spPr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069F6-49B3-42EC-94B0-25331031BA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2749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7371C-9A11-4BCE-8E6C-784ECDF2F81C}" type="datetime1">
              <a:rPr lang="en-US" smtClean="0"/>
              <a:t>1/23/2024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E5596E-4385-4C65-998B-32F08F608CB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1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990DE-5049-40C4-ADD4-B527981B0570}" type="datetime1">
              <a:rPr lang="en-US" smtClean="0"/>
              <a:t>1/23/2024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8FC722-98AA-4DF7-91D5-57AE5F35DFF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124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D0681-D0D9-4FEB-A022-65B0F897C76B}" type="datetime1">
              <a:rPr lang="en-US" smtClean="0"/>
              <a:t>1/23/2024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72225F-1941-475A-B25B-8287D0113BA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80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76C425E2-CF38-40E3-92D8-EC3C92BBEB8F}" type="datetime1">
              <a:rPr lang="en-US" smtClean="0"/>
              <a:t>1/23/2024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anose="020B0602030504020204" pitchFamily="34" charset="0"/>
              </a:defRPr>
            </a:lvl1pPr>
          </a:lstStyle>
          <a:p>
            <a:fld id="{4E48E014-6D64-4E50-BAE7-9350E43B7E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8305800" y="152400"/>
            <a:ext cx="304800" cy="304800"/>
          </a:xfrm>
          <a:prstGeom prst="actionButtonBackPrevio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>
          <a:xfrm>
            <a:off x="8686800" y="152400"/>
            <a:ext cx="3048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©1992-2017 by Pearson Education, Inc. All Rights Reserved.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55" r:id="rId7"/>
    <p:sldLayoutId id="2147483765" r:id="rId8"/>
    <p:sldLayoutId id="2147483766" r:id="rId9"/>
    <p:sldLayoutId id="2147483756" r:id="rId10"/>
    <p:sldLayoutId id="2147483757" r:id="rId11"/>
    <p:sldLayoutId id="2147483758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Introduction to C++ Programming, </a:t>
            </a:r>
            <a:r>
              <a:rPr lang="en-US" dirty="0" err="1" smtClean="0"/>
              <a:t>Input/Output</a:t>
            </a:r>
            <a:r>
              <a:rPr lang="en-US" dirty="0" smtClean="0"/>
              <a:t> and Operators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C++ How to Program, 10/e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016" y="857250"/>
            <a:ext cx="660677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61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1613"/>
            <a:ext cx="9144000" cy="3913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49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2.1  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Introduction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now introduce C++ programming, which facilitates a disciplined approach to program development.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Most of the C++ programs you’ll study in this book process data and display results.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Simple program that prints a line of text (Fig. 2.1).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9929"/>
            <a:ext cx="9144000" cy="41981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970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174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indicates that the remainder of each line is 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comment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insert comments to document your programs and to help other people read and understand them.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Comments are ignored by the C++ compiler and do not cause any machine-language object code to be generated.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comment beginning with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//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called 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single-line comment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because it terminates at the end of the current line.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also may use comments containing one or more lines enclosed in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/*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*/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3391"/>
            <a:ext cx="9144000" cy="21312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688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preprocessing directive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message to the C++ preprocessor.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Lines that begin with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processed by the preprocessor before the program is compiled.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notifies the preprocessor to include in the program the contents of the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input/output stream header file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header is a file containing information used by the compiler when compiling any program that outputs data to the screen or inputs data from the keyboard using C++-style stream input/output.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7154"/>
            <a:ext cx="9144000" cy="2882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444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use blank lines,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space characters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and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tab characters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(i.e., “tabs”) to make programs easier to read.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Together, these characters are known as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white space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White-space characters are normally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ignored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by the compiler.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25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part of every C++ program.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parentheses after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indicate that </a:t>
            </a:r>
            <a:r>
              <a:rPr lang="en-US" alt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program building block called a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function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programs typically consist of one or more functions and classes.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Exactly </a:t>
            </a:r>
            <a:r>
              <a:rPr lang="en-US" altLang="en-US" sz="23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one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function in every program </a:t>
            </a:r>
            <a:r>
              <a:rPr lang="en-US" altLang="en-US" sz="23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named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programs begin executing at function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even if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</a:t>
            </a:r>
            <a:r>
              <a:rPr lang="en-US" altLang="en-US" sz="23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first function defined in the program.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keyword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the left of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indicates that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“returns” an integer (whole number) value.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0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keyword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word in code that is reserved by C++ for a specific use.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now, simply include the keyword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the left of 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each of your programs.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35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left brace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must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begin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body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every function.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corresponding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right brace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must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end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each function’s body.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statement instructs the computer to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perform an action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Together, the quotation marks and the characters between them are called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string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character string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string literal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refer to characters between double quotation marks simply as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strings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White-space characters in strings are not ignored by the compiler.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Most C++ statements end with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semicolon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), also known as 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statement terminator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Preprocessing directives (like 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do not end with a semicolon.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91" y="857250"/>
            <a:ext cx="754022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65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479"/>
            <a:ext cx="9144000" cy="30170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915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3582"/>
            <a:ext cx="9144000" cy="28896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8801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76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Typically, output and input in C++ are accomplished with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streams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data.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executes, it sends a stream of characters to the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standard output stream object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</a:t>
            </a:r>
            <a:r>
              <a:rPr lang="en-US" altLang="en-US" sz="23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3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—which is normally “connected” to the screen.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before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required when we use names that we’ve brought into the program by the preprocessing directive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notation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specifies that we are using a name, in this case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that belongs to “namespace” 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names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(the standard input stream) and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cerr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(the standard error stream) also belong to namespace 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867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the context of an output statement, the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operator is referred to as the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stream insertion operator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value to the operator’s right, the right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operand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is inserted in the output stream.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characters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</a:t>
            </a:r>
            <a:r>
              <a:rPr lang="en-US" altLang="en-US" sz="28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printed on the screen.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backslash (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\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is called an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escape character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It indicates that a “special” character is to be output.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 backslash is encountered in a string of characters, the next character is combined with the backslash to form an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escape sequence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escape sequence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means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newline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Causes the </a:t>
            </a:r>
            <a:r>
              <a:rPr lang="en-US" altLang="en-US" sz="24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cursor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move to the beginning of the next line on the screen.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3" y="857250"/>
            <a:ext cx="890468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55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3072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the </a:t>
            </a:r>
            <a:r>
              <a:rPr lang="en-US" altLang="en-US" sz="28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statement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used at the end of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value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indicates that the program has </a:t>
            </a:r>
            <a:r>
              <a:rPr lang="en-US" altLang="en-US" sz="28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terminated successfully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According to the C++ standard, if program execution reaches the end of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without encountering a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statement, it’s assumed that the program terminated successfully—exactly as when the last statement in main is a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with the value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2.3  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Modifying Our First C++ Program</a:t>
            </a:r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Welcome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to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C++!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can be printed several ways.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7085"/>
            <a:ext cx="9144000" cy="3982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64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2.3  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Modifying Our First C++ Program (cont.)</a:t>
            </a:r>
          </a:p>
        </p:txBody>
      </p:sp>
      <p:sp>
        <p:nvSpPr>
          <p:cNvPr id="337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single statement can print multiple lines by using newline characters.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time the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(newline) escape sequence is encountered in the output stream, the screen cursor is positioned to the beginning of the next line.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get a blank line in your output, place two newline characters back to back.</a:t>
            </a:r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9441"/>
            <a:ext cx="9144000" cy="4377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704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</a:t>
            </a:r>
          </a:p>
        </p:txBody>
      </p:sp>
      <p:sp>
        <p:nvSpPr>
          <p:cNvPr id="358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next program obtains two integers typed by a user at the keyboard, computes their sum and outputs the result using 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 2.5 shows the program and sample inputs and outputs. </a:t>
            </a: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3" y="857250"/>
            <a:ext cx="787717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901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0769"/>
            <a:ext cx="9144000" cy="2175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1967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Declarations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introduce identifiers into programs.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identifiers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the names of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variables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variable is a location in the computer’s memory where a value can be stored for use by a program.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Variables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data of type </a:t>
            </a:r>
            <a:r>
              <a:rPr lang="en-US" altLang="en-US" sz="25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meaning that these variables will hold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integers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(whole numbers such as 7, –11, 0 and 31914).</a:t>
            </a:r>
          </a:p>
          <a:p>
            <a:pPr eaLnBrk="1" hangingPunct="1">
              <a:lnSpc>
                <a:spcPct val="80000"/>
              </a:lnSpc>
            </a:pPr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Lines 8–10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initialize 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each variable to 0 by placing a value in braces (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 immediately following the variable’s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name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Known 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as list 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initialization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I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ntroduced 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in C++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11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Previously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these declarations would have been written as: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number1 = 0;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number2 = 0;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 = 0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3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All variables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declared with a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name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a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data type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before they can be used in a program.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more than one name is declared in a declaration (as shown here), the names are separated by commas (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); this is referred to as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comma-separated list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2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9079"/>
            <a:ext cx="9144000" cy="25586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188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0510"/>
            <a:ext cx="9144000" cy="2515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76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198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Data type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for specifying real numbers, and data type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for specifying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character data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Real numbers are numbers with decimal points, such as 3.4, 0.0 and –11.19.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variable may hold only a single lowercase letter, a single uppercase letter, a single digit or a single special character (e.g.,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Types such as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called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fundamental types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Fundamental-type names are keywords and therefore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appear in all lowercase letters.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Appendix C contains the complete list of fundamental types.</a:t>
            </a: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variable name is any valid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identifier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that is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 keyword.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identifier is a series of characters consisting of letters, digits and underscores ( _ ) that does not begin with a digit.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is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case sensitive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—uppercase and lowercase letters are different, so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a1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A1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different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identifiers.</a:t>
            </a: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6438"/>
            <a:ext cx="9144000" cy="2903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3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485"/>
            <a:ext cx="9144000" cy="2917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904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7204"/>
            <a:ext cx="9144000" cy="20835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03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6938"/>
            <a:ext cx="9144000" cy="2524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270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81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Declarations of variables can be placed almost anywhere in a program, but they must appear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before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their corresponding variables are used in the program.</a:t>
            </a:r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91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prompt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it directs the user to take a specific action.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uses the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input stream object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(of namespace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and the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stream extraction operator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&gt;&gt;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to obtain a value from the keyboard.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Using the stream extraction operator with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takes character input from the standard input stream, which is usually the keyboard.</a:t>
            </a:r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01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the computer executes an input statement that places a value in an 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variable, it waits for the user to enter a value for variable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user responds by typing the number (as characters) then pressing the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Enter 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key (sometimes called the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Return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key) to send the characters to the computer.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computer converts the character representation of the number to an integer and assigns (i.e., copies) this number (or </a:t>
            </a:r>
            <a:r>
              <a:rPr lang="en-US" altLang="en-US" sz="24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value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to the variable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Any subsequent references to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this program will use this same value.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Pressing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Enter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also causes the cursor to move to the beginning of the next line on the screen. </a:t>
            </a:r>
            <a:endParaRPr lang="en-US" altLang="en-US" sz="24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120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this program, an assignment statement adds the values of variables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assigns the result to variable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using the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assignment operator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Most calculations are performed in assignment statements.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operator and the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operator are called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binary operators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because each has two operands.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4798"/>
            <a:ext cx="9144000" cy="2487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89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325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so-called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stream manipulator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name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an abbreviation for “end line” and belongs to namespace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stream manipulator outputs a newline, then “flushes the output buffer.”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simply means that, on some systems where outputs accumulate in the machine until there are enough to “make it worthwhile” to display them on the screen,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forces any accumulated outputs to be displayed at that moment.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can be important when the outputs are prompting the user for an action, such as entering data.</a:t>
            </a:r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42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Using multiple stream insertion operators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in a single statement is referred to as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concatenating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chaining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cascading stream insertion operations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Calculations can also be performed in output statements.</a:t>
            </a:r>
          </a:p>
        </p:txBody>
      </p:sp>
      <p:sp>
        <p:nvSpPr>
          <p:cNvPr id="5530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2.5  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Memory Concepts</a:t>
            </a:r>
          </a:p>
        </p:txBody>
      </p:sp>
      <p:sp>
        <p:nvSpPr>
          <p:cNvPr id="552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Variable names such as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actually correspond to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locations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the computer’s memory.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Every variable has a name, a type, a size and a value.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 value is placed in a memory location, the value overwrites the previous value in that location; thus, placing a new value into a memory location is said to be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destructive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 value is read out of a memory </a:t>
            </a:r>
            <a:r>
              <a:rPr lang="en-US" altLang="en-US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loca-tion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 process is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nondestructive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5050"/>
            <a:ext cx="9144000" cy="224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800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9788"/>
            <a:ext cx="9144000" cy="263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44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0466"/>
            <a:ext cx="9144000" cy="32158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060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Arithmetic</a:t>
            </a:r>
          </a:p>
        </p:txBody>
      </p:sp>
      <p:sp>
        <p:nvSpPr>
          <p:cNvPr id="593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Most programs perform arithmetic calculations.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2.9 summarizes the C++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arithmetic operators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asterisk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indicates multiplication.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percent sign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%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is the remainder operator.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Yields the remainder after integer division.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 be used only with integer operands.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arithmetic operators are all binary operators.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Integer division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(i.e., where both the numerator and the denominator are integers) yields an integer quotient.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Any fractional part in integer division is discarded (i.e., </a:t>
            </a:r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truncated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)—no rounding occurs.</a:t>
            </a:r>
          </a:p>
        </p:txBody>
      </p:sp>
      <p:sp>
        <p:nvSpPr>
          <p:cNvPr id="5837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0410"/>
            <a:ext cx="9144000" cy="4115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010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Arithmetic (cont.)</a:t>
            </a:r>
          </a:p>
        </p:txBody>
      </p:sp>
      <p:sp>
        <p:nvSpPr>
          <p:cNvPr id="614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Arithmetic expressions in C++ must be entered into the computer in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straight-line form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Expressions such as “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divided by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” must be written as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so that all constants, variables and operators appear in a straight line.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Parentheses are used in C++ expressions in the same manner as in algebraic expressions.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example, to multiply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times the quantity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we write 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 * ( b + c )</a:t>
            </a:r>
          </a:p>
        </p:txBody>
      </p:sp>
      <p:sp>
        <p:nvSpPr>
          <p:cNvPr id="61444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Arithmetic (cont.)</a:t>
            </a: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applies the operators in arithmetic expressions in a precise sequence determined by the following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rules of operator precedence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which are generally the same as those followed in algebra.</a:t>
            </a:r>
          </a:p>
        </p:txBody>
      </p:sp>
      <p:sp>
        <p:nvSpPr>
          <p:cNvPr id="6246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23" y="857250"/>
            <a:ext cx="886896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010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Arithmetic (cont.)</a:t>
            </a:r>
          </a:p>
        </p:txBody>
      </p:sp>
      <p:sp>
        <p:nvSpPr>
          <p:cNvPr id="645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There is no arithmetic operator for exponentiation in C++, so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x</a:t>
            </a:r>
            <a:r>
              <a:rPr lang="en-US" altLang="en-US" baseline="30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2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represented as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 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 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2.11 illustrates the order in which the operators in a second-degree polynomial are applied.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 in algebra, it’s acceptable to place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redundant parentheses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an expression to make the expression clearer.</a:t>
            </a:r>
          </a:p>
        </p:txBody>
      </p:sp>
      <p:sp>
        <p:nvSpPr>
          <p:cNvPr id="64516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431" y="857250"/>
            <a:ext cx="681513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605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AD3F4C-6D29-4742-C2A0-FCF46AF9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r>
              <a:rPr lang="en-US" i="1" dirty="0"/>
              <a:t>Q</a:t>
            </a:r>
            <a:r>
              <a:rPr lang="en-US" i="1" dirty="0" smtClean="0"/>
              <a:t>uadratic </a:t>
            </a:r>
            <a:r>
              <a:rPr lang="en-US" i="1" dirty="0"/>
              <a:t>E</a:t>
            </a:r>
            <a:r>
              <a:rPr lang="en-US" i="1" dirty="0" smtClean="0"/>
              <a:t>quation</a:t>
            </a:r>
            <a:endParaRPr lang="aa-ET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5645A8EA-7A26-3746-1607-D570851D2EB5}"/>
                  </a:ext>
                </a:extLst>
              </p:cNvPr>
              <p:cNvSpPr txBox="1"/>
              <p:nvPr/>
            </p:nvSpPr>
            <p:spPr>
              <a:xfrm>
                <a:off x="356121" y="1713698"/>
                <a:ext cx="5229225" cy="82407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From algebra: the roots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a-ET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645A8EA-7A26-3746-1607-D570851D2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21" y="1713698"/>
                <a:ext cx="5229225" cy="824072"/>
              </a:xfrm>
              <a:prstGeom prst="rect">
                <a:avLst/>
              </a:prstGeom>
              <a:blipFill rotWithShape="0">
                <a:blip r:embed="rId2"/>
                <a:stretch>
                  <a:fillRect l="-932" t="-37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ACA61CBC-DF0D-FC5C-C935-AD3C6D30A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05" y="2786062"/>
            <a:ext cx="4986338" cy="3338513"/>
          </a:xfr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#include&lt;iostream&gt;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#include&lt;cmath&gt;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int main()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double b, c;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std::</a:t>
            </a:r>
            <a:r>
              <a:rPr lang="en-US" sz="1200" dirty="0" err="1">
                <a:latin typeface="Consolas" panose="020B0609020204030204" pitchFamily="49" charset="0"/>
              </a:rPr>
              <a:t>cin</a:t>
            </a:r>
            <a:r>
              <a:rPr lang="en-US" sz="1200" dirty="0">
                <a:latin typeface="Consolas" panose="020B0609020204030204" pitchFamily="49" charset="0"/>
              </a:rPr>
              <a:t> &gt;&gt; b &gt;&gt; c; // input coefficients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// Calculate roots of x*x + b*x + c.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double discriminant = b*b - 4.0*c;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double d = sqrt(discriminant);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double root1 = (-b + d) / 2.0;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double root2 = (-b - d) / 2.0;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// Print them out.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std::</a:t>
            </a: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 &lt;&lt; root1 &lt;&lt; " " &lt;&lt; root2 &lt;&lt; std::</a:t>
            </a:r>
            <a:r>
              <a:rPr lang="en-US" sz="1200" dirty="0" err="1">
                <a:latin typeface="Consolas" panose="020B0609020204030204" pitchFamily="49" charset="0"/>
              </a:rPr>
              <a:t>endl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aa-ET" sz="12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8D3C9C3-90F9-E95F-E96B-180B90F764DF}"/>
              </a:ext>
            </a:extLst>
          </p:cNvPr>
          <p:cNvSpPr txBox="1"/>
          <p:nvPr/>
        </p:nvSpPr>
        <p:spPr>
          <a:xfrm>
            <a:off x="5585346" y="2786062"/>
            <a:ext cx="3482453" cy="286232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g++ quadratic.cpp</a:t>
            </a:r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dirty="0">
              <a:latin typeface="Consolas" panose="020B0609020204030204" pitchFamily="49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a</a:t>
            </a:r>
          </a:p>
          <a:p>
            <a:r>
              <a:rPr lang="en-US" dirty="0">
                <a:latin typeface="Consolas" panose="020B0609020204030204" pitchFamily="49" charset="0"/>
              </a:rPr>
              <a:t>-3.0 2.0</a:t>
            </a:r>
          </a:p>
          <a:p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2 1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dirty="0">
                <a:latin typeface="Consolas" panose="020B0609020204030204" pitchFamily="49" charset="0"/>
              </a:rPr>
              <a:t>a</a:t>
            </a:r>
          </a:p>
          <a:p>
            <a:r>
              <a:rPr lang="en-US" dirty="0">
                <a:latin typeface="Consolas" panose="020B0609020204030204" pitchFamily="49" charset="0"/>
              </a:rPr>
              <a:t>-1.0 -1.0</a:t>
            </a:r>
          </a:p>
          <a:p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1.61803 -0.618034</a:t>
            </a:r>
          </a:p>
          <a:p>
            <a:endParaRPr lang="aa-ET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8B299904-3866-9BB4-F265-ABE532568F69}"/>
                  </a:ext>
                </a:extLst>
              </p:cNvPr>
              <p:cNvSpPr txBox="1"/>
              <p:nvPr/>
            </p:nvSpPr>
            <p:spPr>
              <a:xfrm>
                <a:off x="7144745" y="4615023"/>
                <a:ext cx="1643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a-E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aa-ET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B299904-3866-9BB4-F265-ABE532568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4745" y="4615023"/>
                <a:ext cx="164306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6DCE68E0-D5EE-4614-1456-83BB2FEF9851}"/>
                  </a:ext>
                </a:extLst>
              </p:cNvPr>
              <p:cNvSpPr txBox="1"/>
              <p:nvPr/>
            </p:nvSpPr>
            <p:spPr>
              <a:xfrm>
                <a:off x="7297145" y="3581663"/>
                <a:ext cx="14906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a-E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aa-ET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DCE68E0-D5EE-4614-1456-83BB2FEF9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145" y="3581663"/>
                <a:ext cx="1490664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30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4807D4-0475-86E5-E876-72EBBE41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5A9B32-8ECB-9436-4719-0600FECC7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408263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A </a:t>
            </a:r>
            <a:r>
              <a:rPr lang="en-US" i="1" dirty="0">
                <a:solidFill>
                  <a:schemeClr val="accent1"/>
                </a:solidFill>
              </a:rPr>
              <a:t>data type </a:t>
            </a:r>
            <a:r>
              <a:rPr lang="en-US" i="1" dirty="0"/>
              <a:t>is set of values and set of operations on those values.</a:t>
            </a:r>
          </a:p>
          <a:p>
            <a:pPr marL="0" indent="0">
              <a:buNone/>
            </a:pPr>
            <a:endParaRPr lang="aa-ET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D6F4026F-7E75-F86B-6BB0-7B4ADCB84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801489"/>
              </p:ext>
            </p:extLst>
          </p:nvPr>
        </p:nvGraphicFramePr>
        <p:xfrm>
          <a:off x="632062" y="3276600"/>
          <a:ext cx="7749938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701">
                  <a:extLst>
                    <a:ext uri="{9D8B030D-6E8A-4147-A177-3AD203B41FA5}">
                      <a16:colId xmlns:a16="http://schemas.microsoft.com/office/drawing/2014/main" xmlns="" val="4157164430"/>
                    </a:ext>
                  </a:extLst>
                </a:gridCol>
                <a:gridCol w="1938957">
                  <a:extLst>
                    <a:ext uri="{9D8B030D-6E8A-4147-A177-3AD203B41FA5}">
                      <a16:colId xmlns:a16="http://schemas.microsoft.com/office/drawing/2014/main" xmlns="" val="2041747315"/>
                    </a:ext>
                  </a:extLst>
                </a:gridCol>
                <a:gridCol w="2060142">
                  <a:extLst>
                    <a:ext uri="{9D8B030D-6E8A-4147-A177-3AD203B41FA5}">
                      <a16:colId xmlns:a16="http://schemas.microsoft.com/office/drawing/2014/main" xmlns="" val="2306003469"/>
                    </a:ext>
                  </a:extLst>
                </a:gridCol>
                <a:gridCol w="2469138">
                  <a:extLst>
                    <a:ext uri="{9D8B030D-6E8A-4147-A177-3AD203B41FA5}">
                      <a16:colId xmlns:a16="http://schemas.microsoft.com/office/drawing/2014/main" xmlns="" val="4278298354"/>
                    </a:ext>
                  </a:extLst>
                </a:gridCol>
              </a:tblGrid>
              <a:tr h="3659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type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set of values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examples of values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examples of operations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1388982078"/>
                  </a:ext>
                </a:extLst>
              </a:tr>
              <a:tr h="5059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endParaRPr lang="aa-ET" sz="1400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integers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17</a:t>
                      </a:r>
                    </a:p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12345</a:t>
                      </a:r>
                      <a:endParaRPr lang="aa-ET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add, subtract, divide, multiply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3337613299"/>
                  </a:ext>
                </a:extLst>
              </a:tr>
              <a:tr h="5059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endParaRPr lang="aa-ET" sz="1400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floating-point numbers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3.14159</a:t>
                      </a:r>
                    </a:p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7.034e23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add, subtract, divide, multiply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1149132447"/>
                  </a:ext>
                </a:extLst>
              </a:tr>
              <a:tr h="5059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endParaRPr lang="aa-ET" sz="1400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characters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'a'</a:t>
                      </a:r>
                    </a:p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'$'</a:t>
                      </a:r>
                      <a:endParaRPr lang="aa-ET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compare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3126154656"/>
                  </a:ext>
                </a:extLst>
              </a:tr>
              <a:tr h="5059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std::string</a:t>
                      </a:r>
                      <a:endParaRPr lang="aa-ET" sz="1400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sequence of characters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"Hello World!"</a:t>
                      </a:r>
                    </a:p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"C++ is fun"</a:t>
                      </a:r>
                      <a:endParaRPr lang="aa-ET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concatenate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2498800135"/>
                  </a:ext>
                </a:extLst>
              </a:tr>
              <a:tr h="50592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bool</a:t>
                      </a:r>
                      <a:endParaRPr lang="aa-ET" sz="1400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truth values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true</a:t>
                      </a:r>
                    </a:p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false</a:t>
                      </a:r>
                      <a:endParaRPr lang="aa-ET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and, or, not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2432347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52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776838-75CB-4035-7B42-8EC24721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629" y="533400"/>
            <a:ext cx="7886700" cy="581639"/>
          </a:xfrm>
        </p:spPr>
        <p:txBody>
          <a:bodyPr>
            <a:normAutofit fontScale="90000"/>
          </a:bodyPr>
          <a:lstStyle/>
          <a:p>
            <a:r>
              <a:rPr lang="en-US" dirty="0"/>
              <a:t>Other built-in numeric types</a:t>
            </a:r>
            <a:endParaRPr lang="aa-ET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252CF928-D0DF-47E3-E67D-DDFBB910A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472135"/>
              </p:ext>
            </p:extLst>
          </p:nvPr>
        </p:nvGraphicFramePr>
        <p:xfrm>
          <a:off x="304800" y="1115046"/>
          <a:ext cx="8610600" cy="5285750"/>
        </p:xfrm>
        <a:graphic>
          <a:graphicData uri="http://schemas.openxmlformats.org/drawingml/2006/table">
            <a:tbl>
              <a:tblPr firstRow="1" firstCol="1" bandCol="1">
                <a:tableStyleId>{7DF18680-E054-41AD-8BC1-D1AEF772440D}</a:tableStyleId>
              </a:tblPr>
              <a:tblGrid>
                <a:gridCol w="1777051">
                  <a:extLst>
                    <a:ext uri="{9D8B030D-6E8A-4147-A177-3AD203B41FA5}">
                      <a16:colId xmlns:a16="http://schemas.microsoft.com/office/drawing/2014/main" xmlns="" val="3722844710"/>
                    </a:ext>
                  </a:extLst>
                </a:gridCol>
                <a:gridCol w="1927604">
                  <a:extLst>
                    <a:ext uri="{9D8B030D-6E8A-4147-A177-3AD203B41FA5}">
                      <a16:colId xmlns:a16="http://schemas.microsoft.com/office/drawing/2014/main" xmlns="" val="1836430940"/>
                    </a:ext>
                  </a:extLst>
                </a:gridCol>
                <a:gridCol w="3258030">
                  <a:extLst>
                    <a:ext uri="{9D8B030D-6E8A-4147-A177-3AD203B41FA5}">
                      <a16:colId xmlns:a16="http://schemas.microsoft.com/office/drawing/2014/main" xmlns="" val="487664268"/>
                    </a:ext>
                  </a:extLst>
                </a:gridCol>
                <a:gridCol w="1647915">
                  <a:extLst>
                    <a:ext uri="{9D8B030D-6E8A-4147-A177-3AD203B41FA5}">
                      <a16:colId xmlns:a16="http://schemas.microsoft.com/office/drawing/2014/main" xmlns="" val="3336688921"/>
                    </a:ext>
                  </a:extLst>
                </a:gridCol>
              </a:tblGrid>
              <a:tr h="210219">
                <a:tc>
                  <a:txBody>
                    <a:bodyPr/>
                    <a:lstStyle/>
                    <a:p>
                      <a:r>
                        <a:rPr lang="en-US" sz="900" dirty="0"/>
                        <a:t>Group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Type names*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Notes on size / precision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Usual size (in bytes)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3460908038"/>
                  </a:ext>
                </a:extLst>
              </a:tr>
              <a:tr h="349337">
                <a:tc rowSpan="4">
                  <a:txBody>
                    <a:bodyPr/>
                    <a:lstStyle/>
                    <a:p>
                      <a:r>
                        <a:rPr lang="en-US" sz="1100" dirty="0"/>
                        <a:t>Character types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char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Exactly one byte in size. At least 8 bits.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3172670573"/>
                  </a:ext>
                </a:extLst>
              </a:tr>
              <a:tr h="349337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char16_t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Not smaller than char. At least 16 bits.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1623489204"/>
                  </a:ext>
                </a:extLst>
              </a:tr>
              <a:tr h="349337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char32_t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Not smaller than char16_t. At least 32 bits.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375329205"/>
                  </a:ext>
                </a:extLst>
              </a:tr>
              <a:tr h="447915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 err="1">
                          <a:latin typeface="Consolas" panose="020B0609020204030204" pitchFamily="49" charset="0"/>
                        </a:rPr>
                        <a:t>wchar_t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 represent the largest supported character set.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  /  4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2976500002"/>
                  </a:ext>
                </a:extLst>
              </a:tr>
              <a:tr h="242473">
                <a:tc rowSpan="5">
                  <a:txBody>
                    <a:bodyPr/>
                    <a:lstStyle/>
                    <a:p>
                      <a:r>
                        <a:rPr lang="en-US" sz="1100"/>
                        <a:t>Integer types (signed)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signed char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Same size as char. At least 8 bits.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3637332383"/>
                  </a:ext>
                </a:extLst>
              </a:tr>
              <a:tr h="349337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onsolas" panose="020B0609020204030204" pitchFamily="49" charset="0"/>
                        </a:rPr>
                        <a:t>signed </a:t>
                      </a:r>
                      <a:r>
                        <a:rPr lang="en-US" sz="1100" b="1" dirty="0">
                          <a:latin typeface="Consolas" panose="020B0609020204030204" pitchFamily="49" charset="0"/>
                        </a:rPr>
                        <a:t>short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int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Not smaller than char. At least 16 bits.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1687561275"/>
                  </a:ext>
                </a:extLst>
              </a:tr>
              <a:tr h="349337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onsolas" panose="020B0609020204030204" pitchFamily="49" charset="0"/>
                        </a:rPr>
                        <a:t>signed </a:t>
                      </a:r>
                      <a:r>
                        <a:rPr lang="en-US" sz="1100" b="1" dirty="0">
                          <a:latin typeface="Consolas" panose="020B0609020204030204" pitchFamily="49" charset="0"/>
                        </a:rPr>
                        <a:t>int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Not smaller than short. At least 16 bits.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1580185286"/>
                  </a:ext>
                </a:extLst>
              </a:tr>
              <a:tr h="349337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onsolas" panose="020B0609020204030204" pitchFamily="49" charset="0"/>
                        </a:rPr>
                        <a:t>signed </a:t>
                      </a:r>
                      <a:r>
                        <a:rPr lang="en-US" sz="1100" b="1" dirty="0"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int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Not smaller than int. At least 32 bits.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  /  8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3818514611"/>
                  </a:ext>
                </a:extLst>
              </a:tr>
              <a:tr h="349337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onsolas" panose="020B0609020204030204" pitchFamily="49" charset="0"/>
                        </a:rPr>
                        <a:t>signed </a:t>
                      </a:r>
                      <a:r>
                        <a:rPr lang="en-US" sz="1100" b="1" dirty="0">
                          <a:latin typeface="Consolas" panose="020B0609020204030204" pitchFamily="49" charset="0"/>
                        </a:rPr>
                        <a:t>long </a:t>
                      </a:r>
                      <a:r>
                        <a:rPr lang="en-US" sz="1100" b="1" dirty="0" err="1"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int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Not smaller than long. At least 64 bits.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4140065167"/>
                  </a:ext>
                </a:extLst>
              </a:tr>
              <a:tr h="242473">
                <a:tc rowSpan="5">
                  <a:txBody>
                    <a:bodyPr/>
                    <a:lstStyle/>
                    <a:p>
                      <a:r>
                        <a:rPr lang="en-US" sz="1100" dirty="0"/>
                        <a:t>Integer types (unsigned)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unsigned char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 rowSpan="5">
                  <a:txBody>
                    <a:bodyPr/>
                    <a:lstStyle/>
                    <a:p>
                      <a:r>
                        <a:rPr lang="en-US" sz="1100" dirty="0"/>
                        <a:t>(same size as their signed counterparts)</a:t>
                      </a:r>
                    </a:p>
                  </a:txBody>
                  <a:tcPr marL="30218" marR="30218" marT="15109" marB="15109" anchor="ctr"/>
                </a:tc>
                <a:tc rowSpan="5"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1824449723"/>
                  </a:ext>
                </a:extLst>
              </a:tr>
              <a:tr h="242473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unsigned short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int</a:t>
                      </a:r>
                    </a:p>
                  </a:txBody>
                  <a:tcPr marL="30218" marR="30218" marT="15109" marB="15109" anchor="ctr"/>
                </a:tc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04188427"/>
                  </a:ext>
                </a:extLst>
              </a:tr>
              <a:tr h="242473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int</a:t>
                      </a:r>
                    </a:p>
                  </a:txBody>
                  <a:tcPr marL="30218" marR="30218" marT="15109" marB="15109" anchor="ctr"/>
                </a:tc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457348"/>
                  </a:ext>
                </a:extLst>
              </a:tr>
              <a:tr h="242473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unsigned long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int</a:t>
                      </a:r>
                    </a:p>
                  </a:txBody>
                  <a:tcPr marL="30218" marR="30218" marT="15109" marB="15109" anchor="ctr"/>
                </a:tc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3317922"/>
                  </a:ext>
                </a:extLst>
              </a:tr>
              <a:tr h="242473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unsigned long </a:t>
                      </a:r>
                      <a:r>
                        <a:rPr lang="en-US" sz="1100" b="1" dirty="0" err="1"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int</a:t>
                      </a:r>
                    </a:p>
                  </a:txBody>
                  <a:tcPr marL="30218" marR="30218" marT="15109" marB="15109" anchor="ctr"/>
                </a:tc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1234074"/>
                  </a:ext>
                </a:extLst>
              </a:tr>
              <a:tr h="242473">
                <a:tc rowSpan="3">
                  <a:txBody>
                    <a:bodyPr/>
                    <a:lstStyle/>
                    <a:p>
                      <a:r>
                        <a:rPr lang="en-US" sz="1100"/>
                        <a:t>Floating-point types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float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endParaRPr lang="aa-ET" sz="1100" dirty="0"/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aa-ET" sz="1100" dirty="0"/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1397718965"/>
                  </a:ext>
                </a:extLst>
              </a:tr>
              <a:tr h="242473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double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Precision not less than float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478564536"/>
                  </a:ext>
                </a:extLst>
              </a:tr>
              <a:tr h="242473">
                <a:tc v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long double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Precision not less than double</a:t>
                      </a:r>
                    </a:p>
                  </a:txBody>
                  <a:tcPr marL="30218" marR="30218" marT="15109" marB="151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16</a:t>
                      </a:r>
                    </a:p>
                  </a:txBody>
                  <a:tcPr marL="30218" marR="30218" marT="15109" marB="15109" anchor="ctr"/>
                </a:tc>
                <a:extLst>
                  <a:ext uri="{0D108BD9-81ED-4DB2-BD59-A6C34878D82A}">
                    <a16:rowId xmlns:a16="http://schemas.microsoft.com/office/drawing/2014/main" xmlns="" val="1238412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962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Signed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signed </a:t>
            </a:r>
            <a:r>
              <a:rPr lang="en-US" dirty="0" smtClean="0"/>
              <a:t>numbers as </a:t>
            </a:r>
            <a:r>
              <a:rPr lang="en-US" dirty="0" smtClean="0">
                <a:solidFill>
                  <a:srgbClr val="FF0000"/>
                </a:solidFill>
              </a:rPr>
              <a:t>two's </a:t>
            </a:r>
            <a:r>
              <a:rPr lang="en-US" dirty="0">
                <a:solidFill>
                  <a:srgbClr val="FF0000"/>
                </a:solidFill>
              </a:rPr>
              <a:t>complement </a:t>
            </a:r>
            <a:r>
              <a:rPr lang="en-US" dirty="0" smtClean="0">
                <a:solidFill>
                  <a:srgbClr val="FF0000"/>
                </a:solidFill>
              </a:rPr>
              <a:t>integer</a:t>
            </a:r>
          </a:p>
          <a:p>
            <a:pPr lvl="1">
              <a:defRPr/>
            </a:pPr>
            <a:r>
              <a:rPr lang="en-US" dirty="0"/>
              <a:t>One’s </a:t>
            </a:r>
            <a:r>
              <a:rPr lang="en-US" dirty="0" smtClean="0"/>
              <a:t>Complement</a:t>
            </a:r>
          </a:p>
          <a:p>
            <a:pPr lvl="2">
              <a:defRPr/>
            </a:pPr>
            <a:r>
              <a:rPr lang="en-US" dirty="0" smtClean="0"/>
              <a:t>Invert </a:t>
            </a:r>
            <a:r>
              <a:rPr lang="en-US" dirty="0"/>
              <a:t>all bits </a:t>
            </a:r>
            <a:r>
              <a:rPr lang="en-US" dirty="0" smtClean="0"/>
              <a:t>from 1 to 0 and 0 to 1</a:t>
            </a:r>
          </a:p>
          <a:p>
            <a:pPr marL="914400" lvl="2" indent="0">
              <a:buFont typeface="Monotype Sorts" pitchFamily="2" charset="2"/>
              <a:buNone/>
              <a:defRPr/>
            </a:pPr>
            <a:r>
              <a:rPr lang="en-US" dirty="0" smtClean="0"/>
              <a:t>e.g. 	Number =		0 1 1 0 0 1 0 1</a:t>
            </a:r>
          </a:p>
          <a:p>
            <a:pPr marL="914400" lvl="2" indent="0">
              <a:buFont typeface="Monotype Sorts" pitchFamily="2" charset="2"/>
              <a:buNone/>
              <a:defRPr/>
            </a:pPr>
            <a:r>
              <a:rPr lang="en-US" dirty="0" smtClean="0"/>
              <a:t>        1’s Complement</a:t>
            </a: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b="1" dirty="0" smtClean="0"/>
              <a:t>1 0 0 1 1 0 1 0</a:t>
            </a:r>
            <a:endParaRPr lang="en-US" b="1" dirty="0"/>
          </a:p>
          <a:p>
            <a:pPr lvl="1">
              <a:defRPr/>
            </a:pPr>
            <a:r>
              <a:rPr lang="en-US" dirty="0" smtClean="0"/>
              <a:t>Add 1 in one’s complement</a:t>
            </a:r>
          </a:p>
          <a:p>
            <a:pPr marL="914400" lvl="2" indent="0">
              <a:buFont typeface="Monotype Sorts" pitchFamily="2" charset="2"/>
              <a:buNone/>
              <a:defRPr/>
            </a:pPr>
            <a:r>
              <a:rPr lang="en-US" dirty="0" smtClean="0"/>
              <a:t>	</a:t>
            </a:r>
            <a:r>
              <a:rPr lang="en-US" dirty="0"/>
              <a:t>			</a:t>
            </a:r>
            <a:r>
              <a:rPr lang="en-US" dirty="0" smtClean="0"/>
              <a:t>1 0 </a:t>
            </a:r>
            <a:r>
              <a:rPr lang="en-US" dirty="0"/>
              <a:t>0 1 1 0 1 0</a:t>
            </a:r>
          </a:p>
          <a:p>
            <a:pPr marL="914400" lvl="2" indent="0">
              <a:buFont typeface="Monotype Sorts" pitchFamily="2" charset="2"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/>
              <a:t>		 </a:t>
            </a:r>
            <a:r>
              <a:rPr lang="en-US" dirty="0" smtClean="0"/>
              <a:t>                      </a:t>
            </a:r>
            <a:r>
              <a:rPr lang="en-US" b="1" dirty="0" smtClean="0"/>
              <a:t>1</a:t>
            </a:r>
          </a:p>
          <a:p>
            <a:pPr marL="914400" lvl="2" indent="0">
              <a:buFont typeface="Monotype Sorts" pitchFamily="2" charset="2"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			------------------</a:t>
            </a:r>
            <a:endParaRPr lang="en-US" dirty="0"/>
          </a:p>
          <a:p>
            <a:pPr marL="914400" lvl="2" indent="0">
              <a:buFont typeface="Monotype Sorts" pitchFamily="2" charset="2"/>
              <a:buNone/>
              <a:defRPr/>
            </a:pPr>
            <a:r>
              <a:rPr lang="en-US" dirty="0"/>
              <a:t>			</a:t>
            </a:r>
            <a:r>
              <a:rPr lang="en-US" dirty="0" smtClean="0"/>
              <a:t>	1 0 </a:t>
            </a:r>
            <a:r>
              <a:rPr lang="en-US" dirty="0"/>
              <a:t>0 1 1 0 1 </a:t>
            </a:r>
            <a:r>
              <a:rPr lang="en-US" dirty="0" smtClean="0"/>
              <a:t>1</a:t>
            </a:r>
            <a:endParaRPr lang="en-US" dirty="0"/>
          </a:p>
          <a:p>
            <a:pPr marL="914400" lvl="2" indent="0">
              <a:buFont typeface="Monotype Sorts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4453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Signed Numbers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685800" y="1657350"/>
            <a:ext cx="8034338" cy="4114800"/>
          </a:xfrm>
        </p:spPr>
        <p:txBody>
          <a:bodyPr/>
          <a:lstStyle/>
          <a:p>
            <a:r>
              <a:rPr lang="en-US" altLang="en-US" dirty="0" smtClean="0"/>
              <a:t>signed numbers as </a:t>
            </a:r>
            <a:r>
              <a:rPr lang="en-US" altLang="en-US" dirty="0" smtClean="0">
                <a:solidFill>
                  <a:srgbClr val="FF0000"/>
                </a:solidFill>
              </a:rPr>
              <a:t>two's complement integer</a:t>
            </a:r>
          </a:p>
          <a:p>
            <a:pPr marL="914400" lvl="2" indent="0">
              <a:buFont typeface="Monotype Sorts" pitchFamily="2" charset="2"/>
              <a:buNone/>
            </a:pPr>
            <a:endParaRPr lang="en-US" altLang="en-US" dirty="0" smtClean="0"/>
          </a:p>
        </p:txBody>
      </p:sp>
      <p:pic>
        <p:nvPicPr>
          <p:cNvPr id="25604" name="Picture 3" descr="http://admin.morkalork.com/uploads/images/binaries/BinaryEightBitSignedCircl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00275"/>
            <a:ext cx="5181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39424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9F9D96-DDA6-5AEC-495D-49DAC3789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</a:t>
            </a:r>
            <a:r>
              <a:rPr lang="en-US" dirty="0"/>
              <a:t>++ standard library</a:t>
            </a:r>
            <a:endParaRPr lang="aa-ET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xmlns="" id="{C3622DD1-4089-FE94-A177-70925B2A73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5949352"/>
                  </p:ext>
                </p:extLst>
              </p:nvPr>
            </p:nvGraphicFramePr>
            <p:xfrm>
              <a:off x="758798" y="2209800"/>
              <a:ext cx="7547001" cy="4038598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762530">
                      <a:extLst>
                        <a:ext uri="{9D8B030D-6E8A-4147-A177-3AD203B41FA5}">
                          <a16:colId xmlns:a16="http://schemas.microsoft.com/office/drawing/2014/main" xmlns="" val="3983175840"/>
                        </a:ext>
                      </a:extLst>
                    </a:gridCol>
                    <a:gridCol w="3784471">
                      <a:extLst>
                        <a:ext uri="{9D8B030D-6E8A-4147-A177-3AD203B41FA5}">
                          <a16:colId xmlns:a16="http://schemas.microsoft.com/office/drawing/2014/main" xmlns="" val="1187791799"/>
                        </a:ext>
                      </a:extLst>
                    </a:gridCol>
                  </a:tblGrid>
                  <a:tr h="343125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fabs(double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absolute value of a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2659598542"/>
                      </a:ext>
                    </a:extLst>
                  </a:tr>
                  <a:tr h="60278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fmax(double a, double b)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maximum of a and b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3531710050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</a:t>
                          </a:r>
                          <a:r>
                            <a:rPr lang="en-US" sz="1400" dirty="0" err="1">
                              <a:latin typeface="Consolas" panose="020B0609020204030204" pitchFamily="49" charset="0"/>
                            </a:rPr>
                            <a:t>fmin</a:t>
                          </a: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(double, double)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minimum of a and b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3224494844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sin(double theta)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sine function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3389169132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cos(double theta)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cosine function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1179536539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tan(double theta)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tangent function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4182125256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exp(double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exponential (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 )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1386291672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log(double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natural logarithm (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unc>
                                <m:func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1400" dirty="0"/>
                            <a:t> )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2707244380"/>
                      </a:ext>
                    </a:extLst>
                  </a:tr>
                  <a:tr h="3476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pow(double a, double b)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raise a to the </a:t>
                          </a:r>
                          <a:r>
                            <a:rPr lang="en-US" sz="1400" dirty="0" err="1"/>
                            <a:t>b</a:t>
                          </a:r>
                          <a:r>
                            <a:rPr lang="en-US" sz="1400" baseline="30000" dirty="0" err="1"/>
                            <a:t>th</a:t>
                          </a:r>
                          <a:r>
                            <a:rPr lang="en-US" sz="1400" dirty="0"/>
                            <a:t> power (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 )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1286165507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long </a:t>
                          </a:r>
                          <a:r>
                            <a:rPr lang="en-US" sz="1400" dirty="0" err="1">
                              <a:latin typeface="Consolas" panose="020B0609020204030204" pitchFamily="49" charset="0"/>
                            </a:rPr>
                            <a:t>lround</a:t>
                          </a: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round to the nearest integer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1804806989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sqrt(double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square root of a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xmlns="" val="21481980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3622DD1-4089-FE94-A177-70925B2A73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5949352"/>
                  </p:ext>
                </p:extLst>
              </p:nvPr>
            </p:nvGraphicFramePr>
            <p:xfrm>
              <a:off x="758798" y="2209800"/>
              <a:ext cx="7547001" cy="4038598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76253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983175840"/>
                        </a:ext>
                      </a:extLst>
                    </a:gridCol>
                    <a:gridCol w="378447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187791799"/>
                        </a:ext>
                      </a:extLst>
                    </a:gridCol>
                  </a:tblGrid>
                  <a:tr h="343125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fabs(double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absolute value of a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659598542"/>
                      </a:ext>
                    </a:extLst>
                  </a:tr>
                  <a:tr h="60278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fmax(double a, double b)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maximum of a and b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531710050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</a:t>
                          </a:r>
                          <a:r>
                            <a:rPr lang="en-US" sz="1400" dirty="0" err="1">
                              <a:latin typeface="Consolas" panose="020B0609020204030204" pitchFamily="49" charset="0"/>
                            </a:rPr>
                            <a:t>fmin</a:t>
                          </a: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(double, double)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minimum of a and b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224494844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sin(double theta)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sine function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389169132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cos(double theta)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cosine function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179536539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tan(double theta)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tangent function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182125256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exp(double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99678" t="-685714" r="-322" b="-408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386291672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log(double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99678" t="-785714" r="-322" b="-308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707244380"/>
                      </a:ext>
                    </a:extLst>
                  </a:tr>
                  <a:tr h="34768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pow(double a, double b)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 rotWithShape="0">
                          <a:blip r:embed="rId2"/>
                          <a:stretch>
                            <a:fillRect l="-99678" t="-870175" r="-322" b="-20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286165507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long </a:t>
                          </a:r>
                          <a:r>
                            <a:rPr lang="en-US" sz="1400" dirty="0" err="1">
                              <a:latin typeface="Consolas" panose="020B0609020204030204" pitchFamily="49" charset="0"/>
                            </a:rPr>
                            <a:t>lround</a:t>
                          </a: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round to the nearest integer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804806989"/>
                      </a:ext>
                    </a:extLst>
                  </a:tr>
                  <a:tr h="3431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Consolas" panose="020B0609020204030204" pitchFamily="49" charset="0"/>
                            </a:rPr>
                            <a:t>double sqrt(double a)</a:t>
                          </a:r>
                          <a:endParaRPr lang="aa-ET" sz="1400" dirty="0">
                            <a:latin typeface="Consolas" panose="020B0609020204030204" pitchFamily="49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square root of a</a:t>
                          </a:r>
                          <a:endParaRPr lang="aa-ET" sz="1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1481980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C6341CD-A060-9E2A-858F-6DA1B0E479AB}"/>
              </a:ext>
            </a:extLst>
          </p:cNvPr>
          <p:cNvSpPr txBox="1"/>
          <p:nvPr/>
        </p:nvSpPr>
        <p:spPr>
          <a:xfrm>
            <a:off x="746289" y="1422466"/>
            <a:ext cx="2210862" cy="369332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cmath</a:t>
            </a:r>
            <a:r>
              <a:rPr lang="en-US" dirty="0">
                <a:latin typeface="Consolas" panose="020B0609020204030204" pitchFamily="49" charset="0"/>
              </a:rPr>
              <a:t>&gt;</a:t>
            </a:r>
            <a:endParaRPr lang="aa-ET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7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</a:t>
            </a:r>
          </a:p>
        </p:txBody>
      </p:sp>
      <p:sp>
        <p:nvSpPr>
          <p:cNvPr id="665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statement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allows a program to take alternative action based on whether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condition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true or false.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the condition is true, the statement in the body of the 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is executed.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the condition is false, the body statement is not executed.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Conditions in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statements can be formed by using 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equality operators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relational operators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(Fig. 2.12).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relational operators all have the same level of precedence and associate left to right.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equality operators both have the same level of precedence, which is lower than that of the relational operators, and associate left to right.</a:t>
            </a:r>
          </a:p>
        </p:txBody>
      </p:sp>
      <p:sp>
        <p:nvSpPr>
          <p:cNvPr id="6861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3463"/>
            <a:ext cx="9144000" cy="4791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23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29" y="857250"/>
            <a:ext cx="8768953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810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150"/>
            <a:ext cx="9144000" cy="445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358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06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Fig. 2.12 uses six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statements to compare two numbers input by the user.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the condition in any of these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statements is satisfied, the output statement associated with that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executes.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2.13 shows the program and the input/output dialogs of three sample executions.</a:t>
            </a:r>
          </a:p>
        </p:txBody>
      </p:sp>
      <p:sp>
        <p:nvSpPr>
          <p:cNvPr id="7373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66" y="857250"/>
            <a:ext cx="755927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655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54" y="857250"/>
            <a:ext cx="7836694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1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23" y="857250"/>
            <a:ext cx="8489156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900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47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declarations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eliminate the need to repeat the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prefix.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 write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instead of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instead of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instead of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respectively, in the remainder of the program.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Many programmers prefer to use the declaration</a:t>
            </a:r>
          </a:p>
          <a:p>
            <a:pPr lvl="2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9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 namespace </a:t>
            </a:r>
            <a:r>
              <a:rPr lang="en-US" alt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	which enables a program to use all the names in any standard C++ header file (such as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that a program might include.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From this point forward in the book, we’ll use the preceding declaration in our programs.</a:t>
            </a:r>
          </a:p>
        </p:txBody>
      </p:sp>
      <p:sp>
        <p:nvSpPr>
          <p:cNvPr id="7782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57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in Fig. 2.13 has a single statement in its body and each body statement is indented.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statement’s body is enclosed in a pair of braces,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creating what’s called 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compound statement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block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that may contain multiple statements.</a:t>
            </a:r>
          </a:p>
        </p:txBody>
      </p:sp>
      <p:sp>
        <p:nvSpPr>
          <p:cNvPr id="78852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0775"/>
            <a:ext cx="9144000" cy="2076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930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8054"/>
            <a:ext cx="9144000" cy="37218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27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5357"/>
            <a:ext cx="9144000" cy="4966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684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885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Statements may be split over several lines and may be spaced according to your preferences.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It’s a syntax error to split identifiers, strings (such as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"hello"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and constants (such as the number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1000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over several lines.</a:t>
            </a:r>
          </a:p>
        </p:txBody>
      </p:sp>
      <p:sp>
        <p:nvSpPr>
          <p:cNvPr id="82948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6844"/>
            <a:ext cx="9144000" cy="40231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268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808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2.14 shows the precedence and associativity of the operators introduced in this chapter.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operators are shown top to bottom in decreasing order of precedence.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All these operators, with the exception of the assignment operator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associate from left to right.</a:t>
            </a: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8960"/>
            <a:ext cx="9144000" cy="44588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830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" y="857250"/>
            <a:ext cx="875823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997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3CB5C2-1DB6-53B5-FD92-5C730F4A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Example of computing with </a:t>
            </a:r>
            <a:r>
              <a:rPr lang="en-US" sz="2700" dirty="0">
                <a:latin typeface="Consolas" panose="020B0609020204030204" pitchFamily="49" charset="0"/>
              </a:rPr>
              <a:t>bool</a:t>
            </a:r>
            <a:r>
              <a:rPr lang="en-US" sz="2700" dirty="0"/>
              <a:t>: leap year test</a:t>
            </a:r>
            <a:endParaRPr lang="aa-ET" sz="2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5884863-AFFB-604D-C6F4-9DE6606599D9}"/>
              </a:ext>
            </a:extLst>
          </p:cNvPr>
          <p:cNvSpPr txBox="1"/>
          <p:nvPr/>
        </p:nvSpPr>
        <p:spPr>
          <a:xfrm>
            <a:off x="586078" y="1890197"/>
            <a:ext cx="8100722" cy="424731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#include&lt;iostream&gt;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year;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year;</a:t>
            </a:r>
          </a:p>
          <a:p>
            <a:r>
              <a:rPr lang="en-US" dirty="0">
                <a:latin typeface="Consolas" panose="020B0609020204030204" pitchFamily="49" charset="0"/>
              </a:rPr>
              <a:t>    bool </a:t>
            </a:r>
            <a:r>
              <a:rPr lang="en-US" dirty="0" err="1">
                <a:latin typeface="Consolas" panose="020B0609020204030204" pitchFamily="49" charset="0"/>
              </a:rPr>
              <a:t>isLeapYear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// divisible by 4 but not 100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isLeapYear</a:t>
            </a:r>
            <a:r>
              <a:rPr lang="en-US" dirty="0">
                <a:latin typeface="Consolas" panose="020B0609020204030204" pitchFamily="49" charset="0"/>
              </a:rPr>
              <a:t> = (year % 4 == 0) &amp;&amp; (year % 100 != 0);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// or divisible by 400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isLeapYear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isLeapYear</a:t>
            </a:r>
            <a:r>
              <a:rPr lang="en-US" dirty="0">
                <a:latin typeface="Consolas" panose="020B0609020204030204" pitchFamily="49" charset="0"/>
              </a:rPr>
              <a:t> || (year % 400 == 0);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std::</a:t>
            </a:r>
            <a:r>
              <a:rPr lang="en-US" dirty="0" err="1">
                <a:latin typeface="Consolas" panose="020B0609020204030204" pitchFamily="49" charset="0"/>
              </a:rPr>
              <a:t>boolalpha</a:t>
            </a:r>
            <a:r>
              <a:rPr lang="en-US" dirty="0">
                <a:latin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</a:rPr>
              <a:t>isLeapYear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0BB2393-5D6A-8036-BA6A-3A502A2805B6}"/>
              </a:ext>
            </a:extLst>
          </p:cNvPr>
          <p:cNvSpPr txBox="1"/>
          <p:nvPr/>
        </p:nvSpPr>
        <p:spPr>
          <a:xfrm>
            <a:off x="469710" y="1221119"/>
            <a:ext cx="6997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Q.</a:t>
            </a:r>
            <a:r>
              <a:rPr lang="en-US" dirty="0"/>
              <a:t> Is a given year a leap year?</a:t>
            </a:r>
          </a:p>
          <a:p>
            <a:r>
              <a:rPr lang="en-US" dirty="0">
                <a:solidFill>
                  <a:schemeClr val="accent1"/>
                </a:solidFill>
              </a:rPr>
              <a:t>A.</a:t>
            </a:r>
            <a:r>
              <a:rPr lang="en-US" dirty="0"/>
              <a:t> Yes if either (i) divisible by 400 or (ii) divisible by 4 but not 100.</a:t>
            </a:r>
            <a:endParaRPr lang="aa-ET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D30B293F-4636-66BA-AD14-8F4D8BBFF7DC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412992" y="5393941"/>
            <a:ext cx="2826008" cy="69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E32341C-D9C5-EC2D-4598-101604B8FA63}"/>
              </a:ext>
            </a:extLst>
          </p:cNvPr>
          <p:cNvSpPr txBox="1"/>
          <p:nvPr/>
        </p:nvSpPr>
        <p:spPr>
          <a:xfrm>
            <a:off x="7239000" y="5105400"/>
            <a:ext cx="159553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1"/>
                </a:solidFill>
              </a:rPr>
              <a:t>enable printing of bool values as true/false instead on 1/0</a:t>
            </a:r>
            <a:endParaRPr lang="aa-ET" sz="105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11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243DF4-67BA-A920-14A2-5A87FBA1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Data type for computing with strings: </a:t>
            </a:r>
            <a:r>
              <a:rPr lang="en-US" sz="2700" dirty="0">
                <a:latin typeface="Consolas" panose="020B0609020204030204" pitchFamily="49" charset="0"/>
              </a:rPr>
              <a:t>std::string</a:t>
            </a:r>
            <a:endParaRPr lang="aa-ET" sz="2700" dirty="0">
              <a:latin typeface="Consolas" panose="020B0609020204030204" pitchFamily="49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xmlns="" id="{4FD4DA02-949A-FD85-FB80-35075EB80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644809"/>
              </p:ext>
            </p:extLst>
          </p:nvPr>
        </p:nvGraphicFramePr>
        <p:xfrm>
          <a:off x="186443" y="1480981"/>
          <a:ext cx="4137661" cy="1341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44442">
                  <a:extLst>
                    <a:ext uri="{9D8B030D-6E8A-4147-A177-3AD203B41FA5}">
                      <a16:colId xmlns:a16="http://schemas.microsoft.com/office/drawing/2014/main" xmlns="" val="977857119"/>
                    </a:ext>
                  </a:extLst>
                </a:gridCol>
                <a:gridCol w="2893219">
                  <a:extLst>
                    <a:ext uri="{9D8B030D-6E8A-4147-A177-3AD203B41FA5}">
                      <a16:colId xmlns:a16="http://schemas.microsoft.com/office/drawing/2014/main" xmlns="" val="127225827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values</a:t>
                      </a:r>
                      <a:endParaRPr lang="aa-ET" sz="1400" i="1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sequence of characters</a:t>
                      </a:r>
                      <a:r>
                        <a:rPr lang="en-US" sz="1400" baseline="30000" dirty="0"/>
                        <a:t>1</a:t>
                      </a:r>
                      <a:endParaRPr lang="aa-ET" sz="1400" baseline="30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307937311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typical literals</a:t>
                      </a:r>
                      <a:r>
                        <a:rPr lang="en-US" sz="1400" i="1" baseline="30000" dirty="0"/>
                        <a:t>2</a:t>
                      </a:r>
                      <a:endParaRPr lang="aa-ET" sz="1400" i="1" baseline="30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"Hello, "    "</a:t>
                      </a:r>
                      <a:r>
                        <a:rPr lang="aa-ET" sz="1400" dirty="0"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 "     " * "  </a:t>
                      </a:r>
                      <a:endParaRPr lang="aa-ET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298675824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operations</a:t>
                      </a:r>
                      <a:endParaRPr lang="aa-ET" sz="1400" i="1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concatenation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29923737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operators</a:t>
                      </a:r>
                      <a:endParaRPr lang="aa-ET" sz="1400" i="1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+  </a:t>
                      </a:r>
                      <a:endParaRPr lang="aa-ET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xmlns="" val="310969066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853F123-DA12-3DE3-E3B9-8A46C06FF263}"/>
              </a:ext>
            </a:extLst>
          </p:cNvPr>
          <p:cNvSpPr txBox="1"/>
          <p:nvPr/>
        </p:nvSpPr>
        <p:spPr>
          <a:xfrm>
            <a:off x="164834" y="4274879"/>
            <a:ext cx="4699885" cy="646331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Examples of std::string operations (concatenation)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42C0F99-2D50-3B1D-1C2D-2C4863F1682F}"/>
              </a:ext>
            </a:extLst>
          </p:cNvPr>
          <p:cNvSpPr txBox="1"/>
          <p:nvPr/>
        </p:nvSpPr>
        <p:spPr>
          <a:xfrm>
            <a:off x="164834" y="5008528"/>
            <a:ext cx="4730592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std::string s1 { "Hello, " };</a:t>
            </a:r>
          </a:p>
          <a:p>
            <a:r>
              <a:rPr lang="en-US" dirty="0">
                <a:latin typeface="Consolas" panose="020B0609020204030204" pitchFamily="49" charset="0"/>
              </a:rPr>
              <a:t>std::string s2 { s1 + "ITP class" };</a:t>
            </a:r>
          </a:p>
          <a:p>
            <a:r>
              <a:rPr lang="en-US" dirty="0">
                <a:latin typeface="Consolas" panose="020B0609020204030204" pitchFamily="49" charset="0"/>
              </a:rPr>
              <a:t>std::string s3 = s2 + '\n';</a:t>
            </a:r>
          </a:p>
          <a:p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s3;</a:t>
            </a:r>
            <a:endParaRPr lang="aa-ET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AA7471F-50F4-52DC-337C-159C400D8269}"/>
              </a:ext>
            </a:extLst>
          </p:cNvPr>
          <p:cNvSpPr txBox="1"/>
          <p:nvPr/>
        </p:nvSpPr>
        <p:spPr>
          <a:xfrm>
            <a:off x="316460" y="3029570"/>
            <a:ext cx="4007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</a:t>
            </a:r>
            <a:r>
              <a:rPr lang="en-US" dirty="0"/>
              <a:t> infinite many possible values</a:t>
            </a:r>
          </a:p>
          <a:p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std::string </a:t>
            </a:r>
            <a:r>
              <a:rPr lang="en-US" dirty="0"/>
              <a:t>can be constructed from these literals</a:t>
            </a:r>
            <a:endParaRPr lang="aa-E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18A0A84-1C97-3E41-F95D-849913E93205}"/>
              </a:ext>
            </a:extLst>
          </p:cNvPr>
          <p:cNvSpPr txBox="1"/>
          <p:nvPr/>
        </p:nvSpPr>
        <p:spPr>
          <a:xfrm>
            <a:off x="4930971" y="2242072"/>
            <a:ext cx="2657475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std::string s; // create empty string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33E5DED-7CF6-0BE2-DA8B-905F7A8DAEB7}"/>
              </a:ext>
            </a:extLst>
          </p:cNvPr>
          <p:cNvSpPr txBox="1"/>
          <p:nvPr/>
        </p:nvSpPr>
        <p:spPr>
          <a:xfrm>
            <a:off x="4872436" y="1527525"/>
            <a:ext cx="3564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character interpretation depends on the context</a:t>
            </a:r>
            <a:endParaRPr lang="aa-ET" i="1" baseline="30000" dirty="0">
              <a:solidFill>
                <a:schemeClr val="accent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426" y="3158226"/>
            <a:ext cx="4143450" cy="235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DeitelPowerPointTemplate</Template>
  <TotalTime>288</TotalTime>
  <Words>3372</Words>
  <Application>Microsoft Office PowerPoint</Application>
  <PresentationFormat>On-screen Show (4:3)</PresentationFormat>
  <Paragraphs>427</Paragraphs>
  <Slides>82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4" baseType="lpstr">
      <vt:lpstr>Arial</vt:lpstr>
      <vt:lpstr>Calibri</vt:lpstr>
      <vt:lpstr>Cambria</vt:lpstr>
      <vt:lpstr>Cambria Math</vt:lpstr>
      <vt:lpstr>Consolas</vt:lpstr>
      <vt:lpstr>Lucida Sans Unicode</vt:lpstr>
      <vt:lpstr>Monotype Sorts</vt:lpstr>
      <vt:lpstr>Verdana</vt:lpstr>
      <vt:lpstr>Wingdings</vt:lpstr>
      <vt:lpstr>Wingdings 2</vt:lpstr>
      <vt:lpstr>Wingdings 3</vt:lpstr>
      <vt:lpstr>Concourse</vt:lpstr>
      <vt:lpstr>Introduction to C++ Programming, Input/Output and Operators</vt:lpstr>
      <vt:lpstr>PowerPoint Presentation</vt:lpstr>
      <vt:lpstr>PowerPoint Presentation</vt:lpstr>
      <vt:lpstr>2.1  Introduction</vt:lpstr>
      <vt:lpstr>2.2  First Program in C++: Printing a Line of Text</vt:lpstr>
      <vt:lpstr>PowerPoint Presentation</vt:lpstr>
      <vt:lpstr>2.2  First Program in C++: Printing a Line of Text (cont.)</vt:lpstr>
      <vt:lpstr>PowerPoint Presentation</vt:lpstr>
      <vt:lpstr>2.2  First Program in C++: Printing a Line of Text (cont.)</vt:lpstr>
      <vt:lpstr>PowerPoint Presentation</vt:lpstr>
      <vt:lpstr>2.2  First Program in C++: Printing a Line of Text (cont.)</vt:lpstr>
      <vt:lpstr>2.2  First Program in C++: Printing a Line of Text (cont.)</vt:lpstr>
      <vt:lpstr>2.2  First Program in C++: Printing a Line of Text (cont.)</vt:lpstr>
      <vt:lpstr>PowerPoint Presentation</vt:lpstr>
      <vt:lpstr>PowerPoint Presentation</vt:lpstr>
      <vt:lpstr>PowerPoint Presentation</vt:lpstr>
      <vt:lpstr>2.2  First Program in C++: Printing a Line of Text (cont.)</vt:lpstr>
      <vt:lpstr>2.2  First Program in C++: Printing a Line of Text (cont.)</vt:lpstr>
      <vt:lpstr>PowerPoint Presentation</vt:lpstr>
      <vt:lpstr>2.2  First Program in C++: Printing a Line of Text (cont.)</vt:lpstr>
      <vt:lpstr>2.3  Modifying Our First C++ Program</vt:lpstr>
      <vt:lpstr>PowerPoint Presentation</vt:lpstr>
      <vt:lpstr>2.3  Modifying Our First C++ Program (cont.)</vt:lpstr>
      <vt:lpstr>PowerPoint Presentation</vt:lpstr>
      <vt:lpstr>2.4  Another C++ Program: Adding Integers</vt:lpstr>
      <vt:lpstr>PowerPoint Presentation</vt:lpstr>
      <vt:lpstr>PowerPoint Presentation</vt:lpstr>
      <vt:lpstr>2.4  Another C++ Program: Adding Integers (cont.)</vt:lpstr>
      <vt:lpstr>2.4  Another C++ Program: Adding Integers (cont.)</vt:lpstr>
      <vt:lpstr>2.4  Another C++ Program: Adding Integers (cont.)</vt:lpstr>
      <vt:lpstr>PowerPoint Presentation</vt:lpstr>
      <vt:lpstr>PowerPoint Presentation</vt:lpstr>
      <vt:lpstr>2.4  Another C++ Program: Adding Integers (cont.)</vt:lpstr>
      <vt:lpstr>2.4  Another C++ Program: Adding Integers (cont.)</vt:lpstr>
      <vt:lpstr>PowerPoint Presentation</vt:lpstr>
      <vt:lpstr>PowerPoint Presentation</vt:lpstr>
      <vt:lpstr>PowerPoint Presentation</vt:lpstr>
      <vt:lpstr>PowerPoint Presentation</vt:lpstr>
      <vt:lpstr>2.4  Another C++ Program: Adding Integers (cont.)</vt:lpstr>
      <vt:lpstr>2.4  Another C++ Program: Adding Integers (cont.)</vt:lpstr>
      <vt:lpstr>2.4  Another C++ Program: Adding Integers (cont.)</vt:lpstr>
      <vt:lpstr>2.4  Another C++ Program: Adding Integers (cont.)</vt:lpstr>
      <vt:lpstr>PowerPoint Presentation</vt:lpstr>
      <vt:lpstr>2.4  Another C++ Program: Adding Integers (cont.)</vt:lpstr>
      <vt:lpstr>2.4  Another C++ Program: Adding Integers (cont.)</vt:lpstr>
      <vt:lpstr>2.5  Memory Concepts</vt:lpstr>
      <vt:lpstr>PowerPoint Presentation</vt:lpstr>
      <vt:lpstr>PowerPoint Presentation</vt:lpstr>
      <vt:lpstr>PowerPoint Presentation</vt:lpstr>
      <vt:lpstr>2.6  Arithmetic</vt:lpstr>
      <vt:lpstr>PowerPoint Presentation</vt:lpstr>
      <vt:lpstr>2.6  Arithmetic (cont.)</vt:lpstr>
      <vt:lpstr>2.6  Arithmetic (cont.)</vt:lpstr>
      <vt:lpstr>PowerPoint Presentation</vt:lpstr>
      <vt:lpstr>2.6  Arithmetic (cont.)</vt:lpstr>
      <vt:lpstr>PowerPoint Presentation</vt:lpstr>
      <vt:lpstr>Example: Quadratic Equation</vt:lpstr>
      <vt:lpstr>Data types</vt:lpstr>
      <vt:lpstr>Other built-in numeric types</vt:lpstr>
      <vt:lpstr>Signed Numbers</vt:lpstr>
      <vt:lpstr>Signed Numbers</vt:lpstr>
      <vt:lpstr>C++ standard library</vt:lpstr>
      <vt:lpstr>2.7  Decision Making: Equality and Relational Operators</vt:lpstr>
      <vt:lpstr>PowerPoint Presentation</vt:lpstr>
      <vt:lpstr>PowerPoint Presentation</vt:lpstr>
      <vt:lpstr>PowerPoint Presentation</vt:lpstr>
      <vt:lpstr>2.7  Decision Making: Equality and Relational Operators (cont.)</vt:lpstr>
      <vt:lpstr>PowerPoint Presentation</vt:lpstr>
      <vt:lpstr>PowerPoint Presentation</vt:lpstr>
      <vt:lpstr>PowerPoint Presentation</vt:lpstr>
      <vt:lpstr>2.7  Decision Making: Equality and Relational Operators (cont.)</vt:lpstr>
      <vt:lpstr>2.7  Decision Making: Equality and Relational Operators (cont.)</vt:lpstr>
      <vt:lpstr>PowerPoint Presentation</vt:lpstr>
      <vt:lpstr>PowerPoint Presentation</vt:lpstr>
      <vt:lpstr>PowerPoint Presentation</vt:lpstr>
      <vt:lpstr>2.7  Decision Making: Equality and Relational Operators (cont.)</vt:lpstr>
      <vt:lpstr>PowerPoint Presentation</vt:lpstr>
      <vt:lpstr>2.7  Decision Making: Equality and Relational Operators (cont.)</vt:lpstr>
      <vt:lpstr>PowerPoint Presentation</vt:lpstr>
      <vt:lpstr>PowerPoint Presentation</vt:lpstr>
      <vt:lpstr>Example of computing with bool: leap year test</vt:lpstr>
      <vt:lpstr>Data type for computing with strings: std::string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C++ Programming</dc:title>
  <dc:creator>Windows User</dc:creator>
  <cp:lastModifiedBy>USER</cp:lastModifiedBy>
  <cp:revision>44</cp:revision>
  <dcterms:created xsi:type="dcterms:W3CDTF">2009-08-24T19:56:30Z</dcterms:created>
  <dcterms:modified xsi:type="dcterms:W3CDTF">2024-01-23T17:25:33Z</dcterms:modified>
</cp:coreProperties>
</file>