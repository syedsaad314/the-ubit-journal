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4" r:id="rId1"/>
  </p:sldMasterIdLst>
  <p:notesMasterIdLst>
    <p:notesMasterId r:id="rId26"/>
  </p:notesMasterIdLst>
  <p:handoutMasterIdLst>
    <p:handoutMasterId r:id="rId27"/>
  </p:handoutMasterIdLst>
  <p:sldIdLst>
    <p:sldId id="256" r:id="rId2"/>
    <p:sldId id="651" r:id="rId3"/>
    <p:sldId id="257" r:id="rId4"/>
    <p:sldId id="258" r:id="rId5"/>
    <p:sldId id="576" r:id="rId6"/>
    <p:sldId id="577" r:id="rId7"/>
    <p:sldId id="578" r:id="rId8"/>
    <p:sldId id="259" r:id="rId9"/>
    <p:sldId id="652" r:id="rId10"/>
    <p:sldId id="260" r:id="rId11"/>
    <p:sldId id="261" r:id="rId12"/>
    <p:sldId id="579" r:id="rId13"/>
    <p:sldId id="580" r:id="rId14"/>
    <p:sldId id="262" r:id="rId15"/>
    <p:sldId id="581" r:id="rId16"/>
    <p:sldId id="263" r:id="rId17"/>
    <p:sldId id="582" r:id="rId18"/>
    <p:sldId id="583" r:id="rId19"/>
    <p:sldId id="584" r:id="rId20"/>
    <p:sldId id="585" r:id="rId21"/>
    <p:sldId id="586" r:id="rId22"/>
    <p:sldId id="264" r:id="rId23"/>
    <p:sldId id="649" r:id="rId24"/>
    <p:sldId id="587" r:id="rId2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69" autoAdjust="0"/>
    <p:restoredTop sz="94663"/>
  </p:normalViewPr>
  <p:slideViewPr>
    <p:cSldViewPr>
      <p:cViewPr varScale="1">
        <p:scale>
          <a:sx n="70" d="100"/>
          <a:sy n="70" d="100"/>
        </p:scale>
        <p:origin x="142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dirty="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632A12B5-AD82-46B2-B308-0D2F70F9A1CE}" type="datetimeFigureOut">
              <a:rPr lang="en-US">
                <a:latin typeface="Calibri" panose="020F0502020204030204" pitchFamily="34" charset="0"/>
              </a:rPr>
              <a:pPr>
                <a:defRPr/>
              </a:pPr>
              <a:t>9/26/2023</a:t>
            </a:fld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dirty="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0A286EB-296D-4640-A689-89F2D1819951}" type="slidenum">
              <a:rPr lang="en-US" altLang="en-US">
                <a:latin typeface="Calibri" panose="020F0502020204030204" pitchFamily="34" charset="0"/>
              </a:rPr>
              <a:pPr/>
              <a:t>‹#›</a:t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83783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4B8F439D-E2A6-4772-8877-419FCCE9F662}" type="datetimeFigureOut">
              <a:rPr lang="en-US"/>
              <a:pPr>
                <a:defRPr/>
              </a:pPr>
              <a:t>9/26/2023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0FA2F6A6-72BE-450D-B582-C83DA98F765B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2032314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/>
        </p:nvSpPr>
        <p:spPr>
          <a:xfrm>
            <a:off x="0" y="4664075"/>
            <a:ext cx="9150350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5" name="Group 18"/>
          <p:cNvGrpSpPr>
            <a:grpSpLocks/>
          </p:cNvGrpSpPr>
          <p:nvPr/>
        </p:nvGrpSpPr>
        <p:grpSpPr bwMode="auto">
          <a:xfrm>
            <a:off x="-3175" y="4953000"/>
            <a:ext cx="9147175" cy="1911350"/>
            <a:chOff x="-3765" y="4832896"/>
            <a:chExt cx="9147765" cy="2032192"/>
          </a:xfrm>
        </p:grpSpPr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cs typeface="+mn-cs"/>
              </a:endParaRPr>
            </a:p>
          </p:txBody>
        </p:sp>
        <p:sp>
          <p:nvSpPr>
            <p:cNvPr id="7" name="Freeform 20"/>
            <p:cNvSpPr>
              <a:spLocks/>
            </p:cNvSpPr>
            <p:nvPr/>
          </p:nvSpPr>
          <p:spPr bwMode="auto">
            <a:xfrm>
              <a:off x="35926" y="5135025"/>
              <a:ext cx="9108074" cy="838869"/>
            </a:xfrm>
            <a:custGeom>
              <a:avLst/>
              <a:gdLst>
                <a:gd name="T0" fmla="*/ 0 w 5760"/>
                <a:gd name="T1" fmla="*/ 0 h 528"/>
                <a:gd name="T2" fmla="*/ 9108074 w 5760"/>
                <a:gd name="T3" fmla="*/ 0 h 528"/>
                <a:gd name="T4" fmla="*/ 9108074 w 5760"/>
                <a:gd name="T5" fmla="*/ 838869 h 528"/>
                <a:gd name="T6" fmla="*/ 75901 w 5760"/>
                <a:gd name="T7" fmla="*/ 0 h 5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0"/>
                <a:gd name="T13" fmla="*/ 0 h 528"/>
                <a:gd name="T14" fmla="*/ 5760 w 5760"/>
                <a:gd name="T15" fmla="*/ 528 h 5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en-US" dirty="0">
                <a:latin typeface="Calibri" panose="020F0502020204030204" pitchFamily="34" charset="0"/>
              </a:endParaRPr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anchor="b"/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  <a:extLst/>
          </a:lstStyle>
          <a:p>
            <a:pPr>
              <a:defRPr/>
            </a:pPr>
            <a:fld id="{855B2C5B-F161-421D-94F8-D8214427D9CB}" type="datetime1">
              <a:rPr lang="en-US" smtClean="0"/>
              <a:pPr>
                <a:defRPr/>
              </a:pPr>
              <a:t>9/26/2023</a:t>
            </a:fld>
            <a:endParaRPr lang="en-US" dirty="0"/>
          </a:p>
        </p:txBody>
      </p:sp>
      <p:sp>
        <p:nvSpPr>
          <p:cNvPr id="13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DDCD0E4-459A-405B-ABEB-0BF303A19EDD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  <p:sp>
        <p:nvSpPr>
          <p:cNvPr id="14" name="Footer Placeholder 18"/>
          <p:cNvSpPr>
            <a:spLocks noGrp="1"/>
          </p:cNvSpPr>
          <p:nvPr>
            <p:ph type="ftr" sz="quarter" idx="12"/>
          </p:nvPr>
        </p:nvSpPr>
        <p:spPr>
          <a:xfrm>
            <a:off x="2743200" y="6408738"/>
            <a:ext cx="3987800" cy="365125"/>
          </a:xfrm>
        </p:spPr>
        <p:txBody>
          <a:bodyPr/>
          <a:lstStyle>
            <a:lvl1pPr>
              <a:defRPr smtClean="0"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pPr>
              <a:defRPr/>
            </a:pPr>
            <a:r>
              <a:rPr lang="en-US"/>
              <a:t>©1992-2014 by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493069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buFont typeface="Wingdings" pitchFamily="2" charset="2"/>
              <a:buChar char="§"/>
              <a:defRPr/>
            </a:lvl2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fld id="{B549D32A-E851-4B2B-B040-99BCB5B539AE}" type="datetime1">
              <a:rPr lang="en-US" smtClean="0"/>
              <a:pPr>
                <a:defRPr/>
              </a:pPr>
              <a:t>9/26/2023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14800" y="6408738"/>
            <a:ext cx="2616200" cy="365125"/>
          </a:xfrm>
        </p:spPr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r>
              <a:rPr lang="en-US"/>
              <a:t>©1992-2014 by Pearson Education, Inc. All Rights Reserved.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FA06D9-7514-4000-A34E-519FDF1F42B5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20250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3"/>
          <p:cNvSpPr/>
          <p:nvPr/>
        </p:nvSpPr>
        <p:spPr>
          <a:xfrm>
            <a:off x="3636963" y="3005138"/>
            <a:ext cx="182562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Chevron 4"/>
          <p:cNvSpPr/>
          <p:nvPr/>
        </p:nvSpPr>
        <p:spPr>
          <a:xfrm>
            <a:off x="3449638" y="3005138"/>
            <a:ext cx="18415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anchor="b"/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fld id="{19CE1C81-44EA-4BDE-BC52-7518FA247F08}" type="datetime1">
              <a:rPr lang="en-US" smtClean="0"/>
              <a:pPr>
                <a:defRPr/>
              </a:pPr>
              <a:t>9/26/2023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r>
              <a:rPr lang="en-US"/>
              <a:t>©1992-2014 by Pearson Education, Inc. All Rights Reserved.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1CEE82-8C93-4C8F-ABF4-3CDF6F38E1ED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7301118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fld id="{8680DF0C-00B0-40E2-9479-302494A13B4C}" type="datetime1">
              <a:rPr lang="en-US" smtClean="0"/>
              <a:pPr>
                <a:defRPr/>
              </a:pPr>
              <a:t>9/26/2023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r>
              <a:rPr lang="en-US"/>
              <a:t>©1992-2014 by Pearson Education, Inc. All Rights Reserved.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D75492-3BE2-4EC5-A917-CD4294750865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888457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/>
          <a:lstStyle>
            <a:lvl1pPr>
              <a:defRPr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fld id="{3F4A5379-0B6B-4379-A5FA-D458BE903183}" type="datetime1">
              <a:rPr lang="en-US" smtClean="0"/>
              <a:pPr>
                <a:defRPr/>
              </a:pPr>
              <a:t>9/26/2023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r>
              <a:rPr lang="en-US"/>
              <a:t>©1992-2014 by Pearson Education, Inc.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93B95E-EB1E-4826-AFDC-357288A64F7A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9693636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fld id="{F891505E-F829-4456-B3A4-FA7D66FBEF1D}" type="datetime1">
              <a:rPr lang="en-US" smtClean="0"/>
              <a:pPr>
                <a:defRPr/>
              </a:pPr>
              <a:t>9/26/2023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r>
              <a:rPr lang="en-US"/>
              <a:t>©1992-2014 by Pearson Education, Inc. All Rights Reserved.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EE6B2A-DAB8-4A7F-B909-FAAB69F42DDB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471647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3962399" y="6408738"/>
            <a:ext cx="4684713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©1992-2014 by Pearson Education, Inc. All Rights Reserved.</a:t>
            </a:r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DAFF36-F47C-4888-987A-77F9E69B9EDA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64986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fld id="{6B585217-7A69-4BFA-977A-1D37A4BCAA7D}" type="datetime1">
              <a:rPr lang="en-US" smtClean="0"/>
              <a:pPr>
                <a:defRPr/>
              </a:pPr>
              <a:t>9/26/2023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r>
              <a:rPr lang="en-US"/>
              <a:t>©1992-2014 by Pearson Education, Inc. All Rights Reserved.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0EA480-6BFF-4B36-B64C-CDABB545FF8A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292274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>
            <a:spLocks/>
          </p:cNvSpPr>
          <p:nvPr/>
        </p:nvSpPr>
        <p:spPr bwMode="auto">
          <a:xfrm>
            <a:off x="500063" y="5945188"/>
            <a:ext cx="4940300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6" name="Freeform 18"/>
          <p:cNvSpPr>
            <a:spLocks/>
          </p:cNvSpPr>
          <p:nvPr/>
        </p:nvSpPr>
        <p:spPr bwMode="auto">
          <a:xfrm>
            <a:off x="485775" y="5938838"/>
            <a:ext cx="3690938" cy="933450"/>
          </a:xfrm>
          <a:custGeom>
            <a:avLst/>
            <a:gdLst>
              <a:gd name="T0" fmla="*/ 0 w 5591"/>
              <a:gd name="T1" fmla="*/ 0 h 588"/>
              <a:gd name="T2" fmla="*/ 3802505 w 5591"/>
              <a:gd name="T3" fmla="*/ 0 h 588"/>
              <a:gd name="T4" fmla="*/ 3802505 w 5591"/>
              <a:gd name="T5" fmla="*/ 838200 h 588"/>
              <a:gd name="T6" fmla="*/ 31688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7" name="Right Triangle 6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evron 8"/>
          <p:cNvSpPr/>
          <p:nvPr/>
        </p:nvSpPr>
        <p:spPr>
          <a:xfrm>
            <a:off x="8664575" y="4987925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Chevron 9"/>
          <p:cNvSpPr/>
          <p:nvPr/>
        </p:nvSpPr>
        <p:spPr>
          <a:xfrm>
            <a:off x="8477250" y="4987925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tIns="0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extLst/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fld id="{9FFFEB10-01F1-49F6-ADDD-0499DA12B512}" type="datetime1">
              <a:rPr lang="en-US" smtClean="0"/>
              <a:pPr>
                <a:defRPr/>
              </a:pPr>
              <a:t>9/26/2023</a:t>
            </a:fld>
            <a:endParaRPr lang="en-US" dirty="0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79913" y="6408738"/>
            <a:ext cx="2351087" cy="365125"/>
          </a:xfrm>
        </p:spPr>
        <p:txBody>
          <a:bodyPr/>
          <a:lstStyle>
            <a:lvl1pPr>
              <a:defRPr smtClean="0"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r>
              <a:rPr lang="en-US"/>
              <a:t>©1992-2014 by Pearson Education, Inc. All Rights Reserved.</a:t>
            </a:r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79777C-E024-4B5D-AAA4-0CEA9DF63B17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671690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836DFB-6096-4135-AD75-2BFA363E97A3}" type="datetime1">
              <a:rPr lang="en-US" smtClean="0"/>
              <a:pPr>
                <a:defRPr/>
              </a:pPr>
              <a:t>9/26/2023</a:t>
            </a:fld>
            <a:endParaRPr lang="en-US" dirty="0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©1992-2014 by Pearson Education, Inc. All Rights Reserved.</a:t>
            </a: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7C83E3-AE00-412E-B870-274E07ADD435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02415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6286A6-2C8E-4FBC-9E03-218A72BCCB32}" type="datetime1">
              <a:rPr lang="en-US" smtClean="0"/>
              <a:pPr>
                <a:defRPr/>
              </a:pPr>
              <a:t>9/26/2023</a:t>
            </a:fld>
            <a:endParaRPr lang="en-US" dirty="0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©1992-2014 by Pearson Education, Inc. All Rights Reserved.</a:t>
            </a: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C3E7FB-CF45-491D-8073-92EB4FCF78CD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263295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78D813-D35B-45D4-8DC9-1624E2E4B6F9}" type="datetime1">
              <a:rPr lang="en-US" smtClean="0"/>
              <a:pPr>
                <a:defRPr/>
              </a:pPr>
              <a:t>9/26/2023</a:t>
            </a:fld>
            <a:endParaRPr lang="en-US" dirty="0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3962399" y="6408738"/>
            <a:ext cx="4684713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©1992-2014 by Pearson Education, Inc. All Rights Reserved.</a:t>
            </a: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82997E-3504-4710-9466-2AA8E81C43EF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96570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500063" y="5945188"/>
            <a:ext cx="4940300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1027" name="Freeform 11"/>
          <p:cNvSpPr>
            <a:spLocks/>
          </p:cNvSpPr>
          <p:nvPr/>
        </p:nvSpPr>
        <p:spPr bwMode="auto">
          <a:xfrm>
            <a:off x="485775" y="5938838"/>
            <a:ext cx="3690938" cy="933450"/>
          </a:xfrm>
          <a:custGeom>
            <a:avLst/>
            <a:gdLst>
              <a:gd name="T0" fmla="*/ 0 w 5591"/>
              <a:gd name="T1" fmla="*/ 0 h 588"/>
              <a:gd name="T2" fmla="*/ 3802505 w 5591"/>
              <a:gd name="T3" fmla="*/ 0 h 588"/>
              <a:gd name="T4" fmla="*/ 3802505 w 5591"/>
              <a:gd name="T5" fmla="*/ 838200 h 588"/>
              <a:gd name="T6" fmla="*/ 31688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4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33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457200" y="1481138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 smtClean="0">
                <a:solidFill>
                  <a:schemeClr val="tx1"/>
                </a:solidFill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fld id="{CBC13280-11D6-47BB-8EBD-4DF5E4A8055C}" type="datetime1">
              <a:rPr lang="en-US" smtClean="0"/>
              <a:pPr>
                <a:defRPr/>
              </a:pPr>
              <a:t>9/26/2023</a:t>
            </a:fld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962400" y="6408738"/>
            <a:ext cx="2768600" cy="3651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 smtClean="0">
                <a:solidFill>
                  <a:schemeClr val="tx1"/>
                </a:solidFill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r>
              <a:rPr lang="en-US"/>
              <a:t>©1992-2014 by Pearson Education, Inc. All Rights Reserved.</a:t>
            </a: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2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Lucida Sans Unicode" panose="020B0602030504020204" pitchFamily="34" charset="0"/>
              </a:defRPr>
            </a:lvl1pPr>
          </a:lstStyle>
          <a:p>
            <a:fld id="{800FE285-0411-4D0D-A622-14CF6E953AC8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982327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  <p:sldLayoutId id="2147483786" r:id="rId12"/>
  </p:sldLayoutIdLst>
  <p:hf sldNum="0"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9pPr>
      <a:extLst/>
    </p:titleStyle>
    <p:bodyStyle>
      <a:lvl1pPr marL="365125" indent="-255588" algn="l" rtl="0" eaLnBrk="1" fontAlgn="base" hangingPunct="1">
        <a:spcBef>
          <a:spcPts val="400"/>
        </a:spcBef>
        <a:spcAft>
          <a:spcPct val="0"/>
        </a:spcAft>
        <a:buClr>
          <a:schemeClr val="accent1"/>
        </a:buClr>
        <a:buSzPct val="68000"/>
        <a:buFont typeface="Wingdings 3" panose="05040102010807070707" pitchFamily="18" charset="2"/>
        <a:buChar char=""/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0713" indent="-228600" algn="l" rtl="0" eaLnBrk="1" fontAlgn="base" hangingPunct="1">
        <a:spcBef>
          <a:spcPts val="325"/>
        </a:spcBef>
        <a:spcAft>
          <a:spcPct val="0"/>
        </a:spcAft>
        <a:buClr>
          <a:schemeClr val="accent1"/>
        </a:buClr>
        <a:buFont typeface="Verdana" panose="020B0604030504040204" pitchFamily="34" charset="0"/>
        <a:buChar char="◦"/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8838" indent="-228600" algn="l" rtl="0" eaLnBrk="1" fontAlgn="base" hangingPunct="1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fontAlgn="base" hangingPunct="1">
        <a:spcBef>
          <a:spcPts val="350"/>
        </a:spcBef>
        <a:spcAft>
          <a:spcPct val="0"/>
        </a:spcAft>
        <a:buClr>
          <a:schemeClr val="accent2"/>
        </a:buClr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rtl="0" eaLnBrk="1" fontAlgn="base" hangingPunct="1">
        <a:spcBef>
          <a:spcPts val="350"/>
        </a:spcBef>
        <a:spcAft>
          <a:spcPct val="0"/>
        </a:spcAft>
        <a:buClr>
          <a:schemeClr val="accent2"/>
        </a:buClr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3380E6"/>
                </a:solidFill>
                <a:latin typeface="Consolas" panose="020B0609020204030204" pitchFamily="49" charset="0"/>
              </a:rPr>
              <a:t>Array</a:t>
            </a:r>
            <a:r>
              <a:rPr lang="en-US" dirty="0" smtClean="0">
                <a:solidFill>
                  <a:srgbClr val="3380E6"/>
                </a:solidFill>
                <a:latin typeface="Goudy Sans Medium"/>
              </a:rPr>
              <a:t> </a:t>
            </a:r>
            <a:r>
              <a:rPr lang="en-US" dirty="0">
                <a:solidFill>
                  <a:srgbClr val="3380E6"/>
                </a:solidFill>
                <a:latin typeface="Goudy Sans Medium"/>
              </a:rPr>
              <a:t>and </a:t>
            </a:r>
            <a:r>
              <a:rPr lang="en-US" dirty="0">
                <a:solidFill>
                  <a:srgbClr val="3380E6"/>
                </a:solidFill>
                <a:latin typeface="Consolas" panose="020B0609020204030204" pitchFamily="49" charset="0"/>
              </a:rPr>
              <a:t>vector</a:t>
            </a:r>
            <a:r>
              <a:rPr lang="en-US" dirty="0">
                <a:solidFill>
                  <a:srgbClr val="3380E6"/>
                </a:solidFill>
                <a:latin typeface="Goudy Sans Medium"/>
              </a:rPr>
              <a:t>; Catching Exceptions</a:t>
            </a:r>
          </a:p>
        </p:txBody>
      </p:sp>
      <p:sp>
        <p:nvSpPr>
          <p:cNvPr id="10243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R="0" eaLnBrk="1" hangingPunct="1"/>
            <a:r>
              <a:rPr lang="en-US" altLang="en-US" dirty="0" smtClean="0"/>
              <a:t>C</a:t>
            </a:r>
            <a:r>
              <a:rPr lang="en-US" altLang="en-US" dirty="0"/>
              <a:t>++ How to Program, 10/e</a:t>
            </a:r>
          </a:p>
          <a:p>
            <a:pPr marR="0" eaLnBrk="1" hangingPunct="1"/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</a:t>
            </a:r>
            <a:r>
              <a:rPr lang="en-US" dirty="0" smtClean="0"/>
              <a:t>1992-2019 </a:t>
            </a:r>
            <a:r>
              <a:rPr lang="en-US" dirty="0"/>
              <a:t>by Pearson Education, Inc. All Rights Reserved.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F663394D-0D1E-402D-96CC-D4E5347DB6FE}" type="slidenum">
              <a:rPr lang="en-US" altLang="en-US" sz="1400" smtClean="0"/>
              <a:pPr/>
              <a:t>2</a:t>
            </a:fld>
            <a:endParaRPr lang="en-US" altLang="en-US" sz="1400" smtClean="0"/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28600"/>
            <a:ext cx="8763000" cy="473075"/>
          </a:xfrm>
          <a:noFill/>
        </p:spPr>
        <p:txBody>
          <a:bodyPr>
            <a:normAutofit fontScale="90000"/>
          </a:bodyPr>
          <a:lstStyle/>
          <a:p>
            <a:r>
              <a:rPr lang="en-US" altLang="en-US" sz="4000" smtClean="0"/>
              <a:t>Opening Problem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1775" y="971550"/>
            <a:ext cx="8642350" cy="5106988"/>
          </a:xfrm>
          <a:noFill/>
        </p:spPr>
        <p:txBody>
          <a:bodyPr/>
          <a:lstStyle/>
          <a:p>
            <a:pPr marL="0" indent="0">
              <a:buFont typeface="Monotype Sorts" pitchFamily="2" charset="2"/>
              <a:buNone/>
            </a:pPr>
            <a:r>
              <a:rPr lang="en-US" altLang="en-US" sz="3500" smtClean="0"/>
              <a:t>Read one hundred numbers, compute their average, and find out how many numbers are above the average. </a:t>
            </a:r>
          </a:p>
        </p:txBody>
      </p:sp>
    </p:spTree>
    <p:extLst>
      <p:ext uri="{BB962C8B-B14F-4D97-AF65-F5344CB8AC3E}">
        <p14:creationId xmlns:p14="http://schemas.microsoft.com/office/powerpoint/2010/main" val="3969364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7.1  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Introduction</a:t>
            </a:r>
          </a:p>
        </p:txBody>
      </p:sp>
      <p:sp>
        <p:nvSpPr>
          <p:cNvPr id="14339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3000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This chapter introduces the topic of </a:t>
            </a:r>
            <a:r>
              <a:rPr lang="en-US" altLang="en-US" sz="2500" dirty="0">
                <a:solidFill>
                  <a:srgbClr val="0000FF"/>
                </a:solidFill>
                <a:latin typeface="Cambria" panose="02040503050406030204" pitchFamily="18" charset="0"/>
              </a:rPr>
              <a:t>data structures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—</a:t>
            </a:r>
            <a:r>
              <a:rPr lang="en-US" altLang="en-US" sz="2500" i="1" dirty="0">
                <a:solidFill>
                  <a:srgbClr val="000000"/>
                </a:solidFill>
                <a:latin typeface="Cambria" panose="02040503050406030204" pitchFamily="18" charset="0"/>
              </a:rPr>
              <a:t>collections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 of related data items.</a:t>
            </a:r>
          </a:p>
          <a:p>
            <a:pPr eaLnBrk="1" hangingPunct="1"/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We discuss </a:t>
            </a:r>
            <a:r>
              <a:rPr lang="en-US" altLang="en-US" sz="2500" dirty="0">
                <a:solidFill>
                  <a:srgbClr val="0000FF"/>
                </a:solidFill>
                <a:latin typeface="Consolas" panose="020B0609020204030204" pitchFamily="49" charset="0"/>
              </a:rPr>
              <a:t>array</a:t>
            </a:r>
            <a:r>
              <a:rPr lang="en-US" altLang="en-US" sz="2500" dirty="0">
                <a:solidFill>
                  <a:srgbClr val="0000FF"/>
                </a:solidFill>
                <a:latin typeface="Cambria" panose="02040503050406030204" pitchFamily="18" charset="0"/>
              </a:rPr>
              <a:t>s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 which are </a:t>
            </a:r>
            <a:r>
              <a:rPr lang="en-US" altLang="en-US" sz="2500" i="1" dirty="0">
                <a:solidFill>
                  <a:srgbClr val="000000"/>
                </a:solidFill>
                <a:latin typeface="Cambria" panose="02040503050406030204" pitchFamily="18" charset="0"/>
              </a:rPr>
              <a:t>fixed-size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 collections consisting of data items of the </a:t>
            </a:r>
            <a:r>
              <a:rPr lang="en-US" altLang="en-US" sz="2500" i="1" dirty="0">
                <a:solidFill>
                  <a:srgbClr val="000000"/>
                </a:solidFill>
                <a:latin typeface="Cambria" panose="02040503050406030204" pitchFamily="18" charset="0"/>
              </a:rPr>
              <a:t>same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 type, and </a:t>
            </a:r>
            <a:r>
              <a:rPr lang="en-US" altLang="en-US" sz="2500" dirty="0">
                <a:solidFill>
                  <a:srgbClr val="0000FF"/>
                </a:solidFill>
                <a:latin typeface="Consolas" panose="020B0609020204030204" pitchFamily="49" charset="0"/>
              </a:rPr>
              <a:t>vector</a:t>
            </a:r>
            <a:r>
              <a:rPr lang="en-US" altLang="en-US" sz="2500" dirty="0">
                <a:solidFill>
                  <a:srgbClr val="0000FF"/>
                </a:solidFill>
                <a:latin typeface="Cambria" panose="02040503050406030204" pitchFamily="18" charset="0"/>
              </a:rPr>
              <a:t>s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 which are collections (also of data items of the </a:t>
            </a:r>
            <a:r>
              <a:rPr lang="en-US" altLang="en-US" sz="2500" i="1" dirty="0">
                <a:solidFill>
                  <a:srgbClr val="000000"/>
                </a:solidFill>
                <a:latin typeface="Cambria" panose="02040503050406030204" pitchFamily="18" charset="0"/>
              </a:rPr>
              <a:t>same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 type) that can grow and shrink </a:t>
            </a:r>
            <a:r>
              <a:rPr lang="en-US" altLang="en-US" sz="2500" i="1" dirty="0">
                <a:solidFill>
                  <a:srgbClr val="000000"/>
                </a:solidFill>
                <a:latin typeface="Cambria" panose="02040503050406030204" pitchFamily="18" charset="0"/>
              </a:rPr>
              <a:t>dynamically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 at execution time. </a:t>
            </a:r>
          </a:p>
          <a:p>
            <a:pPr eaLnBrk="1" hangingPunct="1"/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Both 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 and 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vector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 are C++ standard library class templates. </a:t>
            </a:r>
          </a:p>
          <a:p>
            <a:pPr eaLnBrk="1" hangingPunct="1"/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We present examples that demonstrate several common array manipulations and introduce exception handling.</a:t>
            </a:r>
          </a:p>
        </p:txBody>
      </p:sp>
      <p:sp>
        <p:nvSpPr>
          <p:cNvPr id="13316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©1992-2014 by Pearson Education, Inc. All Rights Reserved.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7.2  </a:t>
            </a:r>
            <a:r>
              <a:rPr lang="en-US" dirty="0">
                <a:solidFill>
                  <a:srgbClr val="3380E6"/>
                </a:solidFill>
                <a:latin typeface="Consolas" panose="020B0609020204030204" pitchFamily="49" charset="0"/>
              </a:rPr>
              <a:t>array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s</a:t>
            </a:r>
          </a:p>
        </p:txBody>
      </p:sp>
      <p:sp>
        <p:nvSpPr>
          <p:cNvPr id="1536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100" dirty="0">
                <a:solidFill>
                  <a:srgbClr val="000000"/>
                </a:solidFill>
                <a:latin typeface="Cambria" panose="02040503050406030204" pitchFamily="18" charset="0"/>
              </a:rPr>
              <a:t>An array is a </a:t>
            </a:r>
            <a:r>
              <a:rPr lang="en-US" altLang="en-US" sz="2100" i="1" dirty="0">
                <a:solidFill>
                  <a:srgbClr val="000000"/>
                </a:solidFill>
                <a:latin typeface="Cambria" panose="02040503050406030204" pitchFamily="18" charset="0"/>
              </a:rPr>
              <a:t>contiguous</a:t>
            </a:r>
            <a:r>
              <a:rPr lang="en-US" altLang="en-US" sz="2100" dirty="0">
                <a:solidFill>
                  <a:srgbClr val="000000"/>
                </a:solidFill>
                <a:latin typeface="Cambria" panose="02040503050406030204" pitchFamily="18" charset="0"/>
              </a:rPr>
              <a:t> group of memory locations that all have the same type.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100" dirty="0">
                <a:solidFill>
                  <a:srgbClr val="000000"/>
                </a:solidFill>
                <a:latin typeface="Cambria" panose="02040503050406030204" pitchFamily="18" charset="0"/>
              </a:rPr>
              <a:t>To refer to a particular location or element in the array, specify the name of the array and the </a:t>
            </a:r>
            <a:r>
              <a:rPr lang="en-US" altLang="en-US" sz="2100" dirty="0">
                <a:solidFill>
                  <a:srgbClr val="0000FF"/>
                </a:solidFill>
                <a:latin typeface="Cambria" panose="02040503050406030204" pitchFamily="18" charset="0"/>
              </a:rPr>
              <a:t>position number</a:t>
            </a:r>
            <a:r>
              <a:rPr lang="en-US" altLang="en-US" sz="2100" dirty="0">
                <a:solidFill>
                  <a:srgbClr val="000000"/>
                </a:solidFill>
                <a:latin typeface="Cambria" panose="02040503050406030204" pitchFamily="18" charset="0"/>
              </a:rPr>
              <a:t> of the particular element.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100" dirty="0">
                <a:solidFill>
                  <a:srgbClr val="000000"/>
                </a:solidFill>
                <a:latin typeface="Cambria" panose="02040503050406030204" pitchFamily="18" charset="0"/>
              </a:rPr>
              <a:t>Figure 7.1 shows an integer array called </a:t>
            </a:r>
            <a:r>
              <a:rPr lang="en-US" alt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c</a:t>
            </a:r>
            <a:r>
              <a:rPr lang="en-US" altLang="en-US" sz="2100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100" dirty="0">
                <a:solidFill>
                  <a:srgbClr val="000000"/>
                </a:solidFill>
                <a:latin typeface="Cambria" panose="02040503050406030204" pitchFamily="18" charset="0"/>
              </a:rPr>
              <a:t>12 </a:t>
            </a:r>
            <a:r>
              <a:rPr lang="en-US" altLang="en-US" sz="2100" dirty="0">
                <a:solidFill>
                  <a:srgbClr val="0000FF"/>
                </a:solidFill>
                <a:latin typeface="Cambria" panose="02040503050406030204" pitchFamily="18" charset="0"/>
              </a:rPr>
              <a:t>elements</a:t>
            </a:r>
            <a:r>
              <a:rPr lang="en-US" altLang="en-US" sz="2100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100" dirty="0">
                <a:solidFill>
                  <a:srgbClr val="000000"/>
                </a:solidFill>
                <a:latin typeface="Cambria" panose="02040503050406030204" pitchFamily="18" charset="0"/>
              </a:rPr>
              <a:t>The position number is more formally called a </a:t>
            </a:r>
            <a:r>
              <a:rPr lang="en-US" altLang="en-US" sz="2100" dirty="0">
                <a:solidFill>
                  <a:srgbClr val="0000FF"/>
                </a:solidFill>
                <a:latin typeface="Cambria" panose="02040503050406030204" pitchFamily="18" charset="0"/>
              </a:rPr>
              <a:t>subscript</a:t>
            </a:r>
            <a:r>
              <a:rPr lang="en-US" altLang="en-US" sz="2100" dirty="0">
                <a:solidFill>
                  <a:srgbClr val="000000"/>
                </a:solidFill>
                <a:latin typeface="Cambria" panose="02040503050406030204" pitchFamily="18" charset="0"/>
              </a:rPr>
              <a:t> or </a:t>
            </a:r>
            <a:r>
              <a:rPr lang="en-US" altLang="en-US" sz="2100" dirty="0">
                <a:solidFill>
                  <a:srgbClr val="0000FF"/>
                </a:solidFill>
                <a:latin typeface="Cambria" panose="02040503050406030204" pitchFamily="18" charset="0"/>
              </a:rPr>
              <a:t>index </a:t>
            </a:r>
            <a:r>
              <a:rPr lang="en-US" altLang="en-US" sz="2100" dirty="0">
                <a:solidFill>
                  <a:srgbClr val="000000"/>
                </a:solidFill>
                <a:latin typeface="AGaramond" pitchFamily="50" charset="0"/>
              </a:rPr>
              <a:t>(this number specifies the number of elements from the beginning of the array)</a:t>
            </a:r>
            <a:r>
              <a:rPr lang="en-US" altLang="en-US" sz="2100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100" dirty="0">
                <a:solidFill>
                  <a:srgbClr val="000000"/>
                </a:solidFill>
                <a:latin typeface="Cambria" panose="02040503050406030204" pitchFamily="18" charset="0"/>
              </a:rPr>
              <a:t>The first element in every array has </a:t>
            </a:r>
            <a:r>
              <a:rPr lang="en-US" altLang="en-US" sz="2100" dirty="0">
                <a:solidFill>
                  <a:srgbClr val="0000FF"/>
                </a:solidFill>
                <a:latin typeface="Cambria" panose="02040503050406030204" pitchFamily="18" charset="0"/>
              </a:rPr>
              <a:t>subscript 0 </a:t>
            </a:r>
            <a:r>
              <a:rPr lang="en-US" altLang="en-US" sz="2100" dirty="0">
                <a:solidFill>
                  <a:srgbClr val="000000"/>
                </a:solidFill>
                <a:latin typeface="Cambria" panose="02040503050406030204" pitchFamily="18" charset="0"/>
              </a:rPr>
              <a:t>(</a:t>
            </a:r>
            <a:r>
              <a:rPr lang="en-US" altLang="en-US" sz="2100" dirty="0">
                <a:solidFill>
                  <a:srgbClr val="0000FF"/>
                </a:solidFill>
                <a:latin typeface="Cambria" panose="02040503050406030204" pitchFamily="18" charset="0"/>
              </a:rPr>
              <a:t>zero</a:t>
            </a:r>
            <a:r>
              <a:rPr lang="en-US" altLang="en-US" sz="2100" dirty="0">
                <a:solidFill>
                  <a:srgbClr val="000000"/>
                </a:solidFill>
                <a:latin typeface="Cambria" panose="02040503050406030204" pitchFamily="18" charset="0"/>
              </a:rPr>
              <a:t>) and is sometimes called the </a:t>
            </a:r>
            <a:r>
              <a:rPr lang="en-US" altLang="en-US" sz="2100" dirty="0">
                <a:solidFill>
                  <a:srgbClr val="0000FF"/>
                </a:solidFill>
                <a:latin typeface="Cambria" panose="02040503050406030204" pitchFamily="18" charset="0"/>
              </a:rPr>
              <a:t>zeroth element</a:t>
            </a:r>
            <a:r>
              <a:rPr lang="en-US" altLang="en-US" sz="2100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100" dirty="0">
                <a:solidFill>
                  <a:srgbClr val="000000"/>
                </a:solidFill>
                <a:latin typeface="Cambria" panose="02040503050406030204" pitchFamily="18" charset="0"/>
              </a:rPr>
              <a:t>The highest subscript in array </a:t>
            </a:r>
            <a:r>
              <a:rPr lang="en-US" alt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c</a:t>
            </a:r>
            <a:r>
              <a:rPr lang="en-US" altLang="en-US" sz="2100" dirty="0">
                <a:solidFill>
                  <a:srgbClr val="000000"/>
                </a:solidFill>
                <a:latin typeface="Cambria" panose="02040503050406030204" pitchFamily="18" charset="0"/>
              </a:rPr>
              <a:t> is 11, which is 1 less than the number of elements in the array (12).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100" dirty="0">
                <a:solidFill>
                  <a:srgbClr val="000000"/>
                </a:solidFill>
                <a:latin typeface="Cambria" panose="02040503050406030204" pitchFamily="18" charset="0"/>
              </a:rPr>
              <a:t>A subscript must be an integer or integer expression (using any integral type).</a:t>
            </a:r>
          </a:p>
        </p:txBody>
      </p:sp>
      <p:sp>
        <p:nvSpPr>
          <p:cNvPr id="14340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©1992-2014 by Pearson Education, Inc. All Rights Reserved.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0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" y="857250"/>
            <a:ext cx="8609410" cy="5143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78193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08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52500"/>
            <a:ext cx="9144000" cy="49518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50828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0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885" y="857250"/>
            <a:ext cx="7184231" cy="5143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50605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7.3  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Declaring </a:t>
            </a:r>
            <a:r>
              <a:rPr lang="en-US" dirty="0">
                <a:solidFill>
                  <a:srgbClr val="3380E6"/>
                </a:solidFill>
                <a:latin typeface="Consolas" panose="020B0609020204030204" pitchFamily="49" charset="0"/>
              </a:rPr>
              <a:t>array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s</a:t>
            </a:r>
          </a:p>
        </p:txBody>
      </p:sp>
      <p:sp>
        <p:nvSpPr>
          <p:cNvPr id="2048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s occupy space in memory.</a:t>
            </a:r>
          </a:p>
          <a:p>
            <a:pPr eaLnBrk="1" hangingPunct="1"/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To specify the type of the elements and the number of elements required by an array use a declaration of the form:</a:t>
            </a:r>
          </a:p>
          <a:p>
            <a:pPr lvl="2" eaLnBrk="1" hangingPunct="1"/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altLang="en-US" i="1" dirty="0">
                <a:solidFill>
                  <a:srgbClr val="000000"/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  <a:t>&lt; type, </a:t>
            </a:r>
            <a:r>
              <a:rPr lang="en-US" altLang="en-US" i="1" dirty="0" err="1">
                <a:solidFill>
                  <a:srgbClr val="000000"/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  <a:t>arraySize</a:t>
            </a:r>
            <a:r>
              <a:rPr lang="en-US" altLang="en-US" i="1" dirty="0">
                <a:solidFill>
                  <a:srgbClr val="000000"/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  <a:t> &gt;</a:t>
            </a:r>
            <a:r>
              <a:rPr lang="en-US" altLang="en-US" i="1" dirty="0">
                <a:solidFill>
                  <a:srgbClr val="000000"/>
                </a:solidFill>
                <a:latin typeface="AGaramond" pitchFamily="50" charset="0"/>
              </a:rPr>
              <a:t> </a:t>
            </a:r>
            <a:r>
              <a:rPr lang="en-US" altLang="en-US" i="1" dirty="0" err="1">
                <a:solidFill>
                  <a:srgbClr val="000000"/>
                </a:solidFill>
                <a:latin typeface="AGaramond" pitchFamily="50" charset="0"/>
              </a:rPr>
              <a:t>arrayName</a:t>
            </a:r>
            <a:r>
              <a:rPr lang="en-US" altLang="en-US" i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eaLnBrk="1" hangingPunct="1"/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The notation &lt;</a:t>
            </a:r>
            <a:r>
              <a:rPr lang="en-US" altLang="en-US" sz="2400" i="1" dirty="0">
                <a:solidFill>
                  <a:srgbClr val="000000"/>
                </a:solidFill>
                <a:latin typeface="Cambria" panose="02040503050406030204" pitchFamily="18" charset="0"/>
              </a:rPr>
              <a:t>type, </a:t>
            </a:r>
            <a:r>
              <a:rPr lang="en-US" altLang="en-US" sz="2400" i="1" dirty="0" err="1">
                <a:solidFill>
                  <a:srgbClr val="000000"/>
                </a:solidFill>
                <a:latin typeface="Cambria" panose="02040503050406030204" pitchFamily="18" charset="0"/>
              </a:rPr>
              <a:t>arraySize</a:t>
            </a: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&gt; indicates that </a:t>
            </a:r>
            <a:r>
              <a:rPr lang="en-US" alt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 is a class template.</a:t>
            </a:r>
          </a:p>
          <a:p>
            <a:pPr eaLnBrk="1" hangingPunct="1"/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The compiler reserves the appropriate amount of memory based on the </a:t>
            </a:r>
            <a:r>
              <a:rPr lang="en-US" altLang="en-US" sz="2400" i="1" dirty="0">
                <a:solidFill>
                  <a:srgbClr val="000000"/>
                </a:solidFill>
                <a:latin typeface="Cambria" panose="02040503050406030204" pitchFamily="18" charset="0"/>
              </a:rPr>
              <a:t>type</a:t>
            </a: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 of the elements and the </a:t>
            </a:r>
            <a:r>
              <a:rPr lang="en-US" altLang="en-US" sz="2400" i="1" dirty="0" err="1">
                <a:solidFill>
                  <a:srgbClr val="000000"/>
                </a:solidFill>
                <a:latin typeface="Cambria" panose="02040503050406030204" pitchFamily="18" charset="0"/>
              </a:rPr>
              <a:t>arraySize</a:t>
            </a: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. </a:t>
            </a:r>
          </a:p>
          <a:p>
            <a:pPr eaLnBrk="1" hangingPunct="1"/>
            <a:r>
              <a:rPr lang="en-US" alt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s can be declared to contain values of most data types.</a:t>
            </a:r>
          </a:p>
        </p:txBody>
      </p:sp>
      <p:sp>
        <p:nvSpPr>
          <p:cNvPr id="18436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©1992-2014 by Pearson Education, Inc. All Rights Reserved.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945E71EA-0661-45F5-94CE-C168B85F5C0E}" type="slidenum">
              <a:rPr lang="en-US" altLang="en-US" sz="1400" smtClean="0"/>
              <a:pPr/>
              <a:t>9</a:t>
            </a:fld>
            <a:endParaRPr lang="en-US" altLang="en-US" sz="1400" smtClean="0"/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609600"/>
          </a:xfrm>
          <a:noFill/>
        </p:spPr>
        <p:txBody>
          <a:bodyPr>
            <a:normAutofit fontScale="90000"/>
          </a:bodyPr>
          <a:lstStyle/>
          <a:p>
            <a:r>
              <a:rPr lang="en-US" altLang="en-US" smtClean="0"/>
              <a:t>Using Indexed Variables</a:t>
            </a:r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914400"/>
            <a:ext cx="8686800" cy="5486400"/>
          </a:xfrm>
          <a:noFill/>
        </p:spPr>
        <p:txBody>
          <a:bodyPr/>
          <a:lstStyle/>
          <a:p>
            <a:pPr marL="0" indent="0" algn="just">
              <a:buFont typeface="Monotype Sorts" pitchFamily="2" charset="2"/>
              <a:buNone/>
            </a:pPr>
            <a:r>
              <a:rPr lang="en-US" altLang="en-US" sz="3400" smtClean="0">
                <a:cs typeface="Courier New" pitchFamily="49" charset="0"/>
              </a:rPr>
              <a:t>After an array is created, an indexed variable can be used in the same way as a regular variable. For example, the following code adds the value in myList[0] and myList[1] to myList[2].</a:t>
            </a:r>
          </a:p>
          <a:p>
            <a:pPr marL="0" indent="0" algn="just">
              <a:buFont typeface="Monotype Sorts" pitchFamily="2" charset="2"/>
              <a:buNone/>
            </a:pPr>
            <a:endParaRPr lang="en-US" altLang="en-US" sz="3400" smtClean="0">
              <a:cs typeface="Courier New" pitchFamily="49" charset="0"/>
            </a:endParaRPr>
          </a:p>
          <a:p>
            <a:pPr lvl="1" algn="just">
              <a:buFontTx/>
              <a:buNone/>
            </a:pPr>
            <a:r>
              <a:rPr lang="en-US" altLang="en-US" sz="2600" smtClean="0">
                <a:latin typeface="Courier New" pitchFamily="49" charset="0"/>
                <a:cs typeface="Courier New" pitchFamily="49" charset="0"/>
              </a:rPr>
              <a:t>myList[2] = myList[0] + myList[1];</a:t>
            </a:r>
            <a:endParaRPr lang="en-US" altLang="en-US" sz="2600" smtClean="0"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2794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7.4  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Examples Using </a:t>
            </a:r>
            <a:r>
              <a:rPr lang="en-US" dirty="0">
                <a:solidFill>
                  <a:srgbClr val="3380E6"/>
                </a:solidFill>
                <a:latin typeface="Consolas" panose="020B0609020204030204" pitchFamily="49" charset="0"/>
              </a:rPr>
              <a:t>array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s</a:t>
            </a:r>
          </a:p>
        </p:txBody>
      </p:sp>
      <p:sp>
        <p:nvSpPr>
          <p:cNvPr id="21507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The following examples demonstrate how to declare arrays, how to initialize arrays and how to perform common array manipulations.</a:t>
            </a:r>
          </a:p>
        </p:txBody>
      </p:sp>
      <p:sp>
        <p:nvSpPr>
          <p:cNvPr id="20484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©1992-2014 by Pearson Education, Inc. All Rights Reserved.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59D9B3"/>
                </a:solidFill>
                <a:latin typeface="Calibri" panose="020F0502020204030204" pitchFamily="34" charset="0"/>
              </a:rPr>
              <a:t>7.4.1 </a:t>
            </a:r>
            <a:r>
              <a:rPr lang="en-US" dirty="0">
                <a:solidFill>
                  <a:srgbClr val="33B38C"/>
                </a:solidFill>
                <a:latin typeface="Goudy Sans Medium"/>
              </a:rPr>
              <a:t>Declaring an </a:t>
            </a:r>
            <a:r>
              <a:rPr lang="en-US" dirty="0">
                <a:solidFill>
                  <a:srgbClr val="33B38C"/>
                </a:solidFill>
                <a:latin typeface="Consolas" panose="020B0609020204030204" pitchFamily="49" charset="0"/>
              </a:rPr>
              <a:t>array</a:t>
            </a:r>
            <a:r>
              <a:rPr lang="en-US" dirty="0">
                <a:solidFill>
                  <a:srgbClr val="33B38C"/>
                </a:solidFill>
                <a:latin typeface="Goudy Sans Medium"/>
              </a:rPr>
              <a:t> and Using a Loop to Initialize the </a:t>
            </a:r>
            <a:r>
              <a:rPr lang="en-US" dirty="0">
                <a:solidFill>
                  <a:srgbClr val="33B38C"/>
                </a:solidFill>
                <a:latin typeface="Consolas" panose="020B0609020204030204" pitchFamily="49" charset="0"/>
              </a:rPr>
              <a:t>array</a:t>
            </a:r>
            <a:r>
              <a:rPr lang="en-US" dirty="0">
                <a:solidFill>
                  <a:srgbClr val="33B38C"/>
                </a:solidFill>
                <a:latin typeface="Goudy Sans Medium"/>
              </a:rPr>
              <a:t>’s Elements</a:t>
            </a:r>
          </a:p>
        </p:txBody>
      </p:sp>
      <p:sp>
        <p:nvSpPr>
          <p:cNvPr id="22531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The program in Fig. 7.3 declares five-element integer array </a:t>
            </a:r>
            <a:r>
              <a:rPr lang="en-US" alt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n</a:t>
            </a: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 (line 10).</a:t>
            </a:r>
          </a:p>
          <a:p>
            <a:pPr eaLnBrk="1" hangingPunct="1"/>
            <a:r>
              <a:rPr lang="en-US" alt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size_t</a:t>
            </a: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 represents an unsigned integral type. </a:t>
            </a:r>
          </a:p>
          <a:p>
            <a:pPr eaLnBrk="1" hangingPunct="1"/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This type is recommended for any variable that represents an </a:t>
            </a:r>
            <a:r>
              <a:rPr lang="en-US" alt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’s size or an </a:t>
            </a:r>
            <a:r>
              <a:rPr lang="en-US" alt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’s subscripts. Type </a:t>
            </a:r>
            <a:r>
              <a:rPr lang="en-US" alt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size_t</a:t>
            </a: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 is defined in the </a:t>
            </a:r>
            <a:r>
              <a:rPr lang="en-US" alt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 namespace and is in header </a:t>
            </a:r>
            <a:r>
              <a:rPr lang="en-US" alt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alt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cstddef</a:t>
            </a:r>
            <a:r>
              <a:rPr lang="en-US" alt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, which is included by various other headers. </a:t>
            </a:r>
          </a:p>
          <a:p>
            <a:pPr eaLnBrk="1" hangingPunct="1"/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If you attempt to compile a program that uses type </a:t>
            </a:r>
            <a:r>
              <a:rPr lang="en-US" alt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size_t</a:t>
            </a: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 and receive errors indicating that it’s not defined, simply include </a:t>
            </a:r>
            <a:r>
              <a:rPr lang="en-US" alt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alt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cstddef</a:t>
            </a:r>
            <a:r>
              <a:rPr lang="en-US" alt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 in your program.</a:t>
            </a:r>
          </a:p>
        </p:txBody>
      </p:sp>
      <p:sp>
        <p:nvSpPr>
          <p:cNvPr id="21508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©1992-2014 by Pearson Education, Inc. All Rights Reserved.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1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4800"/>
            <a:ext cx="9118284" cy="6172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155789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1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35969"/>
            <a:ext cx="9144000" cy="27860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290878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59D9B3"/>
                </a:solidFill>
                <a:latin typeface="Calibri" panose="020F0502020204030204" pitchFamily="34" charset="0"/>
              </a:rPr>
              <a:t>7.4.2 </a:t>
            </a:r>
            <a:r>
              <a:rPr lang="en-US" dirty="0">
                <a:solidFill>
                  <a:srgbClr val="33B38C"/>
                </a:solidFill>
                <a:latin typeface="Goudy Sans Medium"/>
              </a:rPr>
              <a:t>Initializing an </a:t>
            </a:r>
            <a:r>
              <a:rPr lang="en-US" dirty="0">
                <a:solidFill>
                  <a:srgbClr val="33B38C"/>
                </a:solidFill>
                <a:latin typeface="Consolas" panose="020B0609020204030204" pitchFamily="49" charset="0"/>
              </a:rPr>
              <a:t>array</a:t>
            </a:r>
            <a:r>
              <a:rPr lang="en-US" dirty="0">
                <a:solidFill>
                  <a:srgbClr val="33B38C"/>
                </a:solidFill>
                <a:latin typeface="Goudy Sans Medium"/>
              </a:rPr>
              <a:t> in a Declaration with an Initializer List</a:t>
            </a:r>
          </a:p>
        </p:txBody>
      </p:sp>
      <p:sp>
        <p:nvSpPr>
          <p:cNvPr id="2560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The elements of an array also can be initialized in the array declaration by following the array name with an equals sign and a brace-delimited comma-separated list of </a:t>
            </a:r>
            <a:r>
              <a:rPr lang="en-US" altLang="en-US" sz="2500" dirty="0">
                <a:solidFill>
                  <a:srgbClr val="0000FF"/>
                </a:solidFill>
                <a:latin typeface="Cambria" panose="02040503050406030204" pitchFamily="18" charset="0"/>
              </a:rPr>
              <a:t>initializers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The program in Fig. 7.4 uses an </a:t>
            </a:r>
            <a:r>
              <a:rPr lang="en-US" altLang="en-US" sz="2500" dirty="0">
                <a:solidFill>
                  <a:srgbClr val="0000FF"/>
                </a:solidFill>
                <a:latin typeface="Cambria" panose="02040503050406030204" pitchFamily="18" charset="0"/>
              </a:rPr>
              <a:t>initializer list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 to initialize an integer array with five values (line 11) and prints the array in tabular format (lines 13–17).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If there are </a:t>
            </a:r>
            <a:r>
              <a:rPr lang="en-US" altLang="en-US" sz="2500" i="1" dirty="0">
                <a:solidFill>
                  <a:srgbClr val="000000"/>
                </a:solidFill>
                <a:latin typeface="Cambria" panose="02040503050406030204" pitchFamily="18" charset="0"/>
              </a:rPr>
              <a:t>fewer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 initializers than elements in the 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, the remaining 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 elements are initialized to zero.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If there are more, a compilation error occurs.</a:t>
            </a:r>
          </a:p>
        </p:txBody>
      </p:sp>
      <p:sp>
        <p:nvSpPr>
          <p:cNvPr id="24580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©1992-2014 by Pearson Education, Inc. All Rights Reserved.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1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8096"/>
            <a:ext cx="9143999" cy="656180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455552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59D9B3"/>
                </a:solidFill>
                <a:latin typeface="Calibri" panose="020F0502020204030204" pitchFamily="34" charset="0"/>
              </a:rPr>
              <a:t>7.4.3 </a:t>
            </a:r>
            <a:r>
              <a:rPr lang="en-US" dirty="0">
                <a:solidFill>
                  <a:srgbClr val="33B38C"/>
                </a:solidFill>
                <a:latin typeface="Goudy Sans Medium"/>
              </a:rPr>
              <a:t>Specifying an </a:t>
            </a:r>
            <a:r>
              <a:rPr lang="en-US" dirty="0">
                <a:solidFill>
                  <a:srgbClr val="33B38C"/>
                </a:solidFill>
                <a:latin typeface="Consolas" panose="020B0609020204030204" pitchFamily="49" charset="0"/>
              </a:rPr>
              <a:t>array</a:t>
            </a:r>
            <a:r>
              <a:rPr lang="en-US" dirty="0">
                <a:solidFill>
                  <a:srgbClr val="33B38C"/>
                </a:solidFill>
                <a:latin typeface="Goudy Sans Medium"/>
              </a:rPr>
              <a:t>’s Size with a Constant Variable and Setting </a:t>
            </a:r>
            <a:r>
              <a:rPr lang="en-US" dirty="0">
                <a:solidFill>
                  <a:srgbClr val="33B38C"/>
                </a:solidFill>
                <a:latin typeface="Consolas" panose="020B0609020204030204" pitchFamily="49" charset="0"/>
              </a:rPr>
              <a:t>array </a:t>
            </a:r>
            <a:r>
              <a:rPr lang="en-US" dirty="0">
                <a:solidFill>
                  <a:srgbClr val="33B38C"/>
                </a:solidFill>
                <a:latin typeface="Goudy Sans Medium"/>
              </a:rPr>
              <a:t>Elements with Calculations</a:t>
            </a:r>
          </a:p>
        </p:txBody>
      </p:sp>
      <p:sp>
        <p:nvSpPr>
          <p:cNvPr id="28675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Figure 7.5 sets the elements of a 5-element array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values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to the even integers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2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,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4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,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6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,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8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10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and prints the array in tabular format.</a:t>
            </a:r>
          </a:p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Line 10 uses the </a:t>
            </a:r>
            <a:r>
              <a:rPr lang="en-US" alt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altLang="en-US" dirty="0">
                <a:solidFill>
                  <a:srgbClr val="0000FF"/>
                </a:solidFill>
                <a:latin typeface="Cambria" panose="02040503050406030204" pitchFamily="18" charset="0"/>
              </a:rPr>
              <a:t> qualifier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to declare a </a:t>
            </a:r>
            <a:r>
              <a:rPr lang="en-US" altLang="en-US" dirty="0">
                <a:solidFill>
                  <a:srgbClr val="0000FF"/>
                </a:solidFill>
                <a:latin typeface="Cambria" panose="02040503050406030204" pitchFamily="18" charset="0"/>
              </a:rPr>
              <a:t>constant variable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arraySize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with the value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5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lvl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A constant variable that’s used to specify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’s size </a:t>
            </a:r>
            <a:r>
              <a:rPr lang="en-US" altLang="en-US" i="1" dirty="0">
                <a:solidFill>
                  <a:srgbClr val="000000"/>
                </a:solidFill>
                <a:latin typeface="Cambria" panose="02040503050406030204" pitchFamily="18" charset="0"/>
              </a:rPr>
              <a:t>must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be initialized with a constant expression when it’s declared and </a:t>
            </a:r>
            <a:r>
              <a:rPr lang="en-US" altLang="en-US" i="1" dirty="0">
                <a:solidFill>
                  <a:srgbClr val="000000"/>
                </a:solidFill>
                <a:latin typeface="Cambria" panose="02040503050406030204" pitchFamily="18" charset="0"/>
              </a:rPr>
              <a:t>cannot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be modified thereafter.</a:t>
            </a:r>
          </a:p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Constant variables are also called </a:t>
            </a:r>
            <a:r>
              <a:rPr lang="en-US" altLang="en-US" dirty="0">
                <a:solidFill>
                  <a:srgbClr val="0000FF"/>
                </a:solidFill>
                <a:latin typeface="Cambria" panose="02040503050406030204" pitchFamily="18" charset="0"/>
              </a:rPr>
              <a:t>named constants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or </a:t>
            </a:r>
            <a:r>
              <a:rPr lang="en-US" altLang="en-US" dirty="0">
                <a:solidFill>
                  <a:srgbClr val="0000FF"/>
                </a:solidFill>
                <a:latin typeface="Cambria" panose="02040503050406030204" pitchFamily="18" charset="0"/>
              </a:rPr>
              <a:t>read-only variables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</p:txBody>
      </p:sp>
      <p:sp>
        <p:nvSpPr>
          <p:cNvPr id="28676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©1992-2014 by Pearson Education, Inc. All Rights Reserved.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1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76200"/>
            <a:ext cx="9144001" cy="662453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810513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1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35969"/>
            <a:ext cx="9144000" cy="27860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621318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15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95538"/>
            <a:ext cx="9144000" cy="20669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834827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16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61010"/>
            <a:ext cx="9144000" cy="213598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62188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17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64456"/>
            <a:ext cx="9144000" cy="412908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543448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59D9B3"/>
                </a:solidFill>
                <a:latin typeface="Calibri" panose="020F0502020204030204" pitchFamily="34" charset="0"/>
              </a:rPr>
              <a:t>7.4.4 </a:t>
            </a:r>
            <a:r>
              <a:rPr lang="en-US" dirty="0">
                <a:solidFill>
                  <a:srgbClr val="33B38C"/>
                </a:solidFill>
                <a:latin typeface="Goudy Sans Medium"/>
              </a:rPr>
              <a:t>Summing the Elements of an </a:t>
            </a:r>
            <a:r>
              <a:rPr lang="en-US" dirty="0">
                <a:solidFill>
                  <a:srgbClr val="33B38C"/>
                </a:solidFill>
                <a:latin typeface="Consolas" panose="020B0609020204030204" pitchFamily="49" charset="0"/>
              </a:rPr>
              <a:t>array</a:t>
            </a:r>
          </a:p>
        </p:txBody>
      </p:sp>
      <p:sp>
        <p:nvSpPr>
          <p:cNvPr id="37891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Often, the elements of an array represent a series of values to be used in a calculation.</a:t>
            </a:r>
          </a:p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Fig. 7.6 sums the values contained in the four-element integer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a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</p:txBody>
      </p:sp>
      <p:sp>
        <p:nvSpPr>
          <p:cNvPr id="38916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©1992-2014 by Pearson Education, Inc. All Rights Reserved.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59D9B3"/>
                </a:solidFill>
                <a:latin typeface="Calibri" panose="020F0502020204030204" pitchFamily="34" charset="0"/>
              </a:rPr>
              <a:t>Exercises</a:t>
            </a:r>
            <a:endParaRPr lang="en-US" dirty="0">
              <a:solidFill>
                <a:srgbClr val="33B38C"/>
              </a:solidFill>
              <a:latin typeface="Consolas" panose="020B0609020204030204" pitchFamily="49" charset="0"/>
            </a:endParaRPr>
          </a:p>
        </p:txBody>
      </p:sp>
      <p:sp>
        <p:nvSpPr>
          <p:cNvPr id="37891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Declare an array </a:t>
            </a: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firstArray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with 10 elements of type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. Initialize the </a:t>
            </a:r>
            <a:r>
              <a:rPr lang="en-US" altLang="en-US" dirty="0" err="1">
                <a:solidFill>
                  <a:srgbClr val="000000"/>
                </a:solidFill>
                <a:latin typeface="Cambria" panose="02040503050406030204" pitchFamily="18" charset="0"/>
              </a:rPr>
              <a:t>i</a:t>
            </a:r>
            <a:r>
              <a:rPr lang="en-US" altLang="en-US" baseline="30000" dirty="0" err="1">
                <a:solidFill>
                  <a:srgbClr val="000000"/>
                </a:solidFill>
                <a:latin typeface="Cambria" panose="02040503050406030204" pitchFamily="18" charset="0"/>
              </a:rPr>
              <a:t>th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element to i</a:t>
            </a:r>
            <a:r>
              <a:rPr lang="en-US" altLang="en-US" baseline="30000" dirty="0">
                <a:solidFill>
                  <a:srgbClr val="000000"/>
                </a:solidFill>
                <a:latin typeface="Cambria" panose="02040503050406030204" pitchFamily="18" charset="0"/>
              </a:rPr>
              <a:t>2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using a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for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loop. Remember that the length of the array can be found using </a:t>
            </a: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firstArray.size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(). 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Then print out the array using another for loop.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</a:p>
          <a:p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Declare an array </a:t>
            </a: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secondArray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with 6 elements of type int and initialize them to whatever you want using a list inside braces. Print out this array also.</a:t>
            </a:r>
          </a:p>
          <a:p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Find the sum of the elements of </a:t>
            </a: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firstArray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and </a:t>
            </a: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secondArray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using a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loop.</a:t>
            </a:r>
          </a:p>
        </p:txBody>
      </p:sp>
      <p:sp>
        <p:nvSpPr>
          <p:cNvPr id="38916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©1992-2014 by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6916962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1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9752"/>
            <a:ext cx="9146740" cy="59410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2962921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2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3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4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cpphtp10_04</Template>
  <TotalTime>1584</TotalTime>
  <Words>595</Words>
  <Application>Microsoft Office PowerPoint</Application>
  <PresentationFormat>On-screen Show (4:3)</PresentationFormat>
  <Paragraphs>65</Paragraphs>
  <Slides>24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9" baseType="lpstr">
      <vt:lpstr>AGaramond</vt:lpstr>
      <vt:lpstr>Arial</vt:lpstr>
      <vt:lpstr>Calibri</vt:lpstr>
      <vt:lpstr>Cambria</vt:lpstr>
      <vt:lpstr>Consolas</vt:lpstr>
      <vt:lpstr>Courier New</vt:lpstr>
      <vt:lpstr>Goudy Sans Medium</vt:lpstr>
      <vt:lpstr>Lucida Sans Unicode</vt:lpstr>
      <vt:lpstr>Monotype Sorts</vt:lpstr>
      <vt:lpstr>Times New Roman</vt:lpstr>
      <vt:lpstr>Verdana</vt:lpstr>
      <vt:lpstr>Wingdings</vt:lpstr>
      <vt:lpstr>Wingdings 2</vt:lpstr>
      <vt:lpstr>Wingdings 3</vt:lpstr>
      <vt:lpstr>Concourse</vt:lpstr>
      <vt:lpstr>Array and vector; Catching Exceptions</vt:lpstr>
      <vt:lpstr>Opening Problem</vt:lpstr>
      <vt:lpstr>7.1  Introduction</vt:lpstr>
      <vt:lpstr>7.2  arrays</vt:lpstr>
      <vt:lpstr>PowerPoint Presentation</vt:lpstr>
      <vt:lpstr>PowerPoint Presentation</vt:lpstr>
      <vt:lpstr>PowerPoint Presentation</vt:lpstr>
      <vt:lpstr>7.3  Declaring arrays</vt:lpstr>
      <vt:lpstr>Using Indexed Variables</vt:lpstr>
      <vt:lpstr>7.4  Examples Using arrays</vt:lpstr>
      <vt:lpstr>7.4.1 Declaring an array and Using a Loop to Initialize the array’s Elements</vt:lpstr>
      <vt:lpstr>PowerPoint Presentation</vt:lpstr>
      <vt:lpstr>PowerPoint Presentation</vt:lpstr>
      <vt:lpstr>7.4.2 Initializing an array in a Declaration with an Initializer List</vt:lpstr>
      <vt:lpstr>PowerPoint Presentation</vt:lpstr>
      <vt:lpstr>7.4.3 Specifying an array’s Size with a Constant Variable and Setting array Elements with Calculations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7.4.4 Summing the Elements of an array</vt:lpstr>
      <vt:lpstr>Exercises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Arrays and Vectors</dc:title>
  <dc:creator>Windows User</dc:creator>
  <cp:lastModifiedBy>USER</cp:lastModifiedBy>
  <cp:revision>58</cp:revision>
  <dcterms:created xsi:type="dcterms:W3CDTF">2009-09-14T16:00:56Z</dcterms:created>
  <dcterms:modified xsi:type="dcterms:W3CDTF">2023-09-26T17:14:55Z</dcterms:modified>
</cp:coreProperties>
</file>