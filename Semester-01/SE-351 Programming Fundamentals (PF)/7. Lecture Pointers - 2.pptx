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4" r:id="rId1"/>
  </p:sldMasterIdLst>
  <p:notesMasterIdLst>
    <p:notesMasterId r:id="rId97"/>
  </p:notesMasterIdLst>
  <p:handoutMasterIdLst>
    <p:handoutMasterId r:id="rId98"/>
  </p:handoutMasterIdLst>
  <p:sldIdLst>
    <p:sldId id="256" r:id="rId2"/>
    <p:sldId id="257" r:id="rId3"/>
    <p:sldId id="533" r:id="rId4"/>
    <p:sldId id="258" r:id="rId5"/>
    <p:sldId id="534" r:id="rId6"/>
    <p:sldId id="591" r:id="rId7"/>
    <p:sldId id="259" r:id="rId8"/>
    <p:sldId id="536" r:id="rId9"/>
    <p:sldId id="260" r:id="rId10"/>
    <p:sldId id="537" r:id="rId11"/>
    <p:sldId id="449" r:id="rId12"/>
    <p:sldId id="450" r:id="rId13"/>
    <p:sldId id="595" r:id="rId14"/>
    <p:sldId id="594" r:id="rId15"/>
    <p:sldId id="596" r:id="rId16"/>
    <p:sldId id="541" r:id="rId17"/>
    <p:sldId id="542" r:id="rId18"/>
    <p:sldId id="597" r:id="rId19"/>
    <p:sldId id="263" r:id="rId20"/>
    <p:sldId id="264" r:id="rId21"/>
    <p:sldId id="592" r:id="rId22"/>
    <p:sldId id="587" r:id="rId23"/>
    <p:sldId id="265" r:id="rId24"/>
    <p:sldId id="546" r:id="rId25"/>
    <p:sldId id="266" r:id="rId26"/>
    <p:sldId id="547" r:id="rId27"/>
    <p:sldId id="452" r:id="rId28"/>
    <p:sldId id="453" r:id="rId29"/>
    <p:sldId id="548" r:id="rId30"/>
    <p:sldId id="549" r:id="rId31"/>
    <p:sldId id="550" r:id="rId32"/>
    <p:sldId id="551" r:id="rId33"/>
    <p:sldId id="552" r:id="rId34"/>
    <p:sldId id="553" r:id="rId35"/>
    <p:sldId id="593" r:id="rId36"/>
    <p:sldId id="605" r:id="rId37"/>
    <p:sldId id="606" r:id="rId38"/>
    <p:sldId id="267" r:id="rId39"/>
    <p:sldId id="456" r:id="rId40"/>
    <p:sldId id="457" r:id="rId41"/>
    <p:sldId id="555" r:id="rId42"/>
    <p:sldId id="598" r:id="rId43"/>
    <p:sldId id="599" r:id="rId44"/>
    <p:sldId id="461" r:id="rId45"/>
    <p:sldId id="462" r:id="rId46"/>
    <p:sldId id="463" r:id="rId47"/>
    <p:sldId id="600" r:id="rId48"/>
    <p:sldId id="601" r:id="rId49"/>
    <p:sldId id="268" r:id="rId50"/>
    <p:sldId id="558" r:id="rId51"/>
    <p:sldId id="269" r:id="rId52"/>
    <p:sldId id="602" r:id="rId53"/>
    <p:sldId id="603" r:id="rId54"/>
    <p:sldId id="604" r:id="rId55"/>
    <p:sldId id="276" r:id="rId56"/>
    <p:sldId id="277" r:id="rId57"/>
    <p:sldId id="569" r:id="rId58"/>
    <p:sldId id="570" r:id="rId59"/>
    <p:sldId id="571" r:id="rId60"/>
    <p:sldId id="572" r:id="rId61"/>
    <p:sldId id="279" r:id="rId62"/>
    <p:sldId id="280" r:id="rId63"/>
    <p:sldId id="573" r:id="rId64"/>
    <p:sldId id="465" r:id="rId65"/>
    <p:sldId id="574" r:id="rId66"/>
    <p:sldId id="282" r:id="rId67"/>
    <p:sldId id="466" r:id="rId68"/>
    <p:sldId id="575" r:id="rId69"/>
    <p:sldId id="576" r:id="rId70"/>
    <p:sldId id="283" r:id="rId71"/>
    <p:sldId id="577" r:id="rId72"/>
    <p:sldId id="284" r:id="rId73"/>
    <p:sldId id="578" r:id="rId74"/>
    <p:sldId id="285" r:id="rId75"/>
    <p:sldId id="579" r:id="rId76"/>
    <p:sldId id="286" r:id="rId77"/>
    <p:sldId id="287" r:id="rId78"/>
    <p:sldId id="467" r:id="rId79"/>
    <p:sldId id="288" r:id="rId80"/>
    <p:sldId id="289" r:id="rId81"/>
    <p:sldId id="468" r:id="rId82"/>
    <p:sldId id="290" r:id="rId83"/>
    <p:sldId id="580" r:id="rId84"/>
    <p:sldId id="291" r:id="rId85"/>
    <p:sldId id="581" r:id="rId86"/>
    <p:sldId id="582" r:id="rId87"/>
    <p:sldId id="583" r:id="rId88"/>
    <p:sldId id="292" r:id="rId89"/>
    <p:sldId id="293" r:id="rId90"/>
    <p:sldId id="469" r:id="rId91"/>
    <p:sldId id="588" r:id="rId92"/>
    <p:sldId id="295" r:id="rId93"/>
    <p:sldId id="471" r:id="rId94"/>
    <p:sldId id="296" r:id="rId95"/>
    <p:sldId id="590" r:id="rId9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4843" autoAdjust="0"/>
    <p:restoredTop sz="94663" autoAdjust="0"/>
  </p:normalViewPr>
  <p:slideViewPr>
    <p:cSldViewPr>
      <p:cViewPr varScale="1">
        <p:scale>
          <a:sx n="65" d="100"/>
          <a:sy n="65" d="100"/>
        </p:scale>
        <p:origin x="870" y="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654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-337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slide" Target="slides/slide75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97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87" Type="http://schemas.openxmlformats.org/officeDocument/2006/relationships/slide" Target="slides/slide86.xml"/><Relationship Id="rId102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100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slide" Target="slides/slide92.xml"/><Relationship Id="rId9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presProps" Target="presProps.xml"/><Relationship Id="rId10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dirty="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 dirty="0">
              <a:latin typeface="Calibri" panose="020F050202020403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E3A22326-8839-4605-B942-46962A0FEACD}" type="datetimeFigureOut">
              <a:rPr lang="en-US">
                <a:latin typeface="Calibri" panose="020F0502020204030204" pitchFamily="34" charset="0"/>
              </a:rPr>
              <a:pPr>
                <a:defRPr/>
              </a:pPr>
              <a:t>11/3/2024</a:t>
            </a:fld>
            <a:endParaRPr lang="en-US" dirty="0">
              <a:latin typeface="Calibri" panose="020F0502020204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dirty="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 dirty="0">
              <a:latin typeface="Calibri" panose="020F050202020403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49F099E2-9775-420C-A067-A5DFA85C6603}" type="slidenum">
              <a:rPr lang="en-US" altLang="en-US">
                <a:latin typeface="Calibri" panose="020F0502020204030204" pitchFamily="34" charset="0"/>
              </a:rPr>
              <a:pPr/>
              <a:t>‹#›</a:t>
            </a:fld>
            <a:endParaRPr lang="en-US" altLang="en-US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45229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dirty="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DBE6CE68-EB4D-4143-BF1C-3CEE6E87E450}" type="datetimeFigureOut">
              <a:rPr lang="en-US"/>
              <a:pPr>
                <a:defRPr/>
              </a:pPr>
              <a:t>11/3/2024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dirty="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fld id="{0E3AFF98-033A-4CF3-885F-5D750793F76E}" type="slidenum">
              <a:rPr lang="en-US" altLang="en-US" smtClean="0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66570039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3AFF98-033A-4CF3-885F-5D750793F76E}" type="slidenum">
              <a:rPr lang="en-US" altLang="en-US" smtClean="0"/>
              <a:pPr/>
              <a:t>1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7763817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3AFF98-033A-4CF3-885F-5D750793F76E}" type="slidenum">
              <a:rPr lang="en-US" altLang="en-US" smtClean="0"/>
              <a:pPr/>
              <a:t>95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2065540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2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4.xml"/><Relationship Id="rId4" Type="http://schemas.openxmlformats.org/officeDocument/2006/relationships/image" Target="../media/image1.jpe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ight Triangle 3"/>
          <p:cNvSpPr/>
          <p:nvPr/>
        </p:nvSpPr>
        <p:spPr>
          <a:xfrm>
            <a:off x="0" y="4664075"/>
            <a:ext cx="9150350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grpSp>
        <p:nvGrpSpPr>
          <p:cNvPr id="5" name="Group 18"/>
          <p:cNvGrpSpPr>
            <a:grpSpLocks/>
          </p:cNvGrpSpPr>
          <p:nvPr/>
        </p:nvGrpSpPr>
        <p:grpSpPr bwMode="auto">
          <a:xfrm>
            <a:off x="-3175" y="4953000"/>
            <a:ext cx="9147175" cy="1911350"/>
            <a:chOff x="-3765" y="4832896"/>
            <a:chExt cx="9147765" cy="2032192"/>
          </a:xfrm>
        </p:grpSpPr>
        <p:sp>
          <p:nvSpPr>
            <p:cNvPr id="6" name="Freeform 5"/>
            <p:cNvSpPr>
              <a:spLocks/>
            </p:cNvSpPr>
            <p:nvPr/>
          </p:nvSpPr>
          <p:spPr bwMode="auto">
            <a:xfrm>
              <a:off x="1687032" y="4832896"/>
              <a:ext cx="7456968" cy="51817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latin typeface="+mn-lt"/>
                <a:cs typeface="+mn-cs"/>
              </a:endParaRPr>
            </a:p>
          </p:txBody>
        </p:sp>
        <p:sp>
          <p:nvSpPr>
            <p:cNvPr id="7" name="Freeform 20"/>
            <p:cNvSpPr>
              <a:spLocks/>
            </p:cNvSpPr>
            <p:nvPr/>
          </p:nvSpPr>
          <p:spPr bwMode="auto">
            <a:xfrm>
              <a:off x="35926" y="5135025"/>
              <a:ext cx="9108074" cy="838869"/>
            </a:xfrm>
            <a:custGeom>
              <a:avLst/>
              <a:gdLst>
                <a:gd name="T0" fmla="*/ 0 w 5760"/>
                <a:gd name="T1" fmla="*/ 0 h 528"/>
                <a:gd name="T2" fmla="*/ 9108074 w 5760"/>
                <a:gd name="T3" fmla="*/ 0 h 528"/>
                <a:gd name="T4" fmla="*/ 9108074 w 5760"/>
                <a:gd name="T5" fmla="*/ 838869 h 528"/>
                <a:gd name="T6" fmla="*/ 75901 w 5760"/>
                <a:gd name="T7" fmla="*/ 0 h 52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760"/>
                <a:gd name="T13" fmla="*/ 0 h 528"/>
                <a:gd name="T14" fmla="*/ 5760 w 5760"/>
                <a:gd name="T15" fmla="*/ 528 h 52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en-US" dirty="0">
                <a:latin typeface="Calibri" panose="020F0502020204030204" pitchFamily="34" charset="0"/>
              </a:endParaRPr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 cstate="print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cxnSp>
          <p:nvCxnSpPr>
            <p:cNvPr id="10" name="Straight Connector 9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anchor="b"/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2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>
                <a:solidFill>
                  <a:srgbClr val="FFFFFF"/>
                </a:solidFill>
              </a:defRPr>
            </a:lvl1pPr>
            <a:extLst/>
          </a:lstStyle>
          <a:p>
            <a:pPr>
              <a:defRPr/>
            </a:pPr>
            <a:fld id="{F1733BC2-6D4A-477B-90F1-B35B6625A6FE}" type="datetime1">
              <a:rPr lang="en-US" smtClean="0"/>
              <a:t>11/3/2024</a:t>
            </a:fld>
            <a:endParaRPr lang="en-US" dirty="0"/>
          </a:p>
        </p:txBody>
      </p:sp>
      <p:sp>
        <p:nvSpPr>
          <p:cNvPr id="13" name="Slide Number Placeholder 2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7A50BC6D-7151-4098-9751-02A9BDB8924F}" type="slidenum">
              <a:rPr lang="en-US" altLang="en-US" smtClean="0"/>
              <a:pPr/>
              <a:t>‹#›</a:t>
            </a:fld>
            <a:endParaRPr lang="en-US" altLang="en-US" dirty="0"/>
          </a:p>
        </p:txBody>
      </p:sp>
      <p:sp>
        <p:nvSpPr>
          <p:cNvPr id="14" name="Footer Placeholder 18"/>
          <p:cNvSpPr>
            <a:spLocks noGrp="1"/>
          </p:cNvSpPr>
          <p:nvPr>
            <p:ph type="ftr" sz="quarter" idx="12"/>
          </p:nvPr>
        </p:nvSpPr>
        <p:spPr>
          <a:xfrm>
            <a:off x="2743200" y="6408738"/>
            <a:ext cx="3987800" cy="365125"/>
          </a:xfrm>
        </p:spPr>
        <p:txBody>
          <a:bodyPr/>
          <a:lstStyle>
            <a:lvl1pPr>
              <a:defRPr smtClean="0"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pPr>
              <a:defRPr/>
            </a:pPr>
            <a:r>
              <a:rPr lang="en-US"/>
              <a:t>©1992-2017 by Pearson Education, Inc.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77920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2pPr>
              <a:buFont typeface="Wingdings" pitchFamily="2" charset="2"/>
              <a:buChar char="§"/>
              <a:defRPr/>
            </a:lvl2pPr>
            <a:extLst/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  <a:extLst/>
          </a:lstStyle>
          <a:p>
            <a:pPr>
              <a:defRPr/>
            </a:pPr>
            <a:fld id="{F97FAFEE-8D2F-4210-87D8-FC6665657C36}" type="datetime1">
              <a:rPr lang="en-US" smtClean="0"/>
              <a:t>11/3/2024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14800" y="6408738"/>
            <a:ext cx="2616200" cy="365125"/>
          </a:xfrm>
        </p:spPr>
        <p:txBody>
          <a:bodyPr/>
          <a:lstStyle>
            <a:lvl1pPr>
              <a:defRPr smtClean="0"/>
            </a:lvl1pPr>
            <a:extLst/>
          </a:lstStyle>
          <a:p>
            <a:pPr>
              <a:defRPr/>
            </a:pPr>
            <a:r>
              <a:rPr lang="en-US"/>
              <a:t>©1992-2017 by Pearson Education, Inc. All Rights Reserved.</a:t>
            </a:r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FBF5401-07B8-498A-8902-9481E7B564CF}" type="slidenum">
              <a:rPr lang="en-US" altLang="en-US" smtClean="0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9505977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evron 3"/>
          <p:cNvSpPr/>
          <p:nvPr/>
        </p:nvSpPr>
        <p:spPr>
          <a:xfrm>
            <a:off x="3636963" y="3005138"/>
            <a:ext cx="182562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Chevron 4"/>
          <p:cNvSpPr/>
          <p:nvPr/>
        </p:nvSpPr>
        <p:spPr>
          <a:xfrm>
            <a:off x="3449638" y="3005138"/>
            <a:ext cx="18415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anchor="b"/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  <a:extLst/>
          </a:lstStyle>
          <a:p>
            <a:pPr>
              <a:defRPr/>
            </a:pPr>
            <a:fld id="{070A5321-4181-4216-AD9B-4AF71D8675CF}" type="datetime1">
              <a:rPr lang="en-US" smtClean="0"/>
              <a:t>11/3/2024</a:t>
            </a:fld>
            <a:endParaRPr lang="en-US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  <a:extLst/>
          </a:lstStyle>
          <a:p>
            <a:pPr>
              <a:defRPr/>
            </a:pPr>
            <a:r>
              <a:rPr lang="en-US"/>
              <a:t>©1992-2017 by Pearson Education, Inc. All Rights Reserved.</a:t>
            </a:r>
            <a:endParaRPr lang="en-US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3A792B6-1D4C-44D7-871E-B01A8231DC34}" type="slidenum">
              <a:rPr lang="en-US" altLang="en-US" smtClean="0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3607145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  <a:extLst/>
          </a:lstStyle>
          <a:p>
            <a:pPr>
              <a:defRPr/>
            </a:pPr>
            <a:fld id="{B4CAB88D-68A8-4763-80F5-DFDE27CF1DF8}" type="datetime1">
              <a:rPr lang="en-US" smtClean="0"/>
              <a:t>11/3/2024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  <a:extLst/>
          </a:lstStyle>
          <a:p>
            <a:pPr>
              <a:defRPr/>
            </a:pPr>
            <a:r>
              <a:rPr lang="en-US"/>
              <a:t>©1992-2017 by Pearson Education, Inc. All Rights Reserved.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596473-6CA9-4EC9-AB74-435D4A5B920B}" type="slidenum">
              <a:rPr lang="en-US" altLang="en-US" smtClean="0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0900589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/>
          <a:lstStyle>
            <a:lvl1pPr>
              <a:defRPr/>
            </a:lvl1pPr>
            <a:extLst/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  <a:extLst/>
          </a:lstStyle>
          <a:p>
            <a:pPr>
              <a:defRPr/>
            </a:pPr>
            <a:fld id="{A5BA6962-C0CE-4569-AF9C-FABBCE42495F}" type="datetime1">
              <a:rPr lang="en-US" smtClean="0"/>
              <a:t>11/3/2024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  <a:extLst/>
          </a:lstStyle>
          <a:p>
            <a:pPr>
              <a:defRPr/>
            </a:pPr>
            <a:r>
              <a:rPr lang="en-US"/>
              <a:t>©1992-2017 by Pearson Education, Inc. All Rights Reserved.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9FA8506-1E89-4721-9766-C217C26ED9E8}" type="slidenum">
              <a:rPr lang="en-US" altLang="en-US" smtClean="0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5141729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  <a:extLst/>
          </a:lstStyle>
          <a:p>
            <a:pPr>
              <a:defRPr/>
            </a:pPr>
            <a:fld id="{35D8CD72-5AE1-48EA-9ED0-7946402CB94D}" type="datetime1">
              <a:rPr lang="en-US" smtClean="0"/>
              <a:t>11/3/2024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  <a:extLst/>
          </a:lstStyle>
          <a:p>
            <a:pPr>
              <a:defRPr/>
            </a:pPr>
            <a:r>
              <a:rPr lang="en-US"/>
              <a:t>©1992-2017 by Pearson Education, Inc. All Rights Reserved.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E998B47-18E6-4E0C-ACFA-03A217FFACB1}" type="slidenum">
              <a:rPr lang="en-US" altLang="en-US" smtClean="0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87882178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1"/>
          <p:cNvSpPr>
            <a:spLocks noGrp="1"/>
          </p:cNvSpPr>
          <p:nvPr>
            <p:ph type="ftr" sz="quarter" idx="11"/>
          </p:nvPr>
        </p:nvSpPr>
        <p:spPr>
          <a:xfrm>
            <a:off x="3962399" y="6408738"/>
            <a:ext cx="4684713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©1992-2017 by Pearson Education, Inc. All Rights Reserved.</a:t>
            </a:r>
            <a:endParaRPr lang="en-US" dirty="0"/>
          </a:p>
        </p:txBody>
      </p:sp>
      <p:sp>
        <p:nvSpPr>
          <p:cNvPr id="4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0EB35C9-B9AC-438C-B263-B0BB0F8E78D4}" type="slidenum">
              <a:rPr lang="en-US" altLang="en-US" smtClean="0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4653490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  <a:extLst/>
          </a:lstStyle>
          <a:p>
            <a:pPr>
              <a:defRPr/>
            </a:pPr>
            <a:fld id="{1A999C2B-350B-4509-B0BF-DBDBA027A935}" type="datetime1">
              <a:rPr lang="en-US" smtClean="0"/>
              <a:t>11/3/2024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  <a:extLst/>
          </a:lstStyle>
          <a:p>
            <a:pPr>
              <a:defRPr/>
            </a:pPr>
            <a:r>
              <a:rPr lang="en-US"/>
              <a:t>©1992-2017 by Pearson Education, Inc. All Rights Reserved.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D27FA86-A1D9-427C-B87C-58C056865ADF}" type="slidenum">
              <a:rPr lang="en-US" altLang="en-US" smtClean="0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8529489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/>
          <p:cNvSpPr>
            <a:spLocks/>
          </p:cNvSpPr>
          <p:nvPr/>
        </p:nvSpPr>
        <p:spPr bwMode="auto">
          <a:xfrm>
            <a:off x="500063" y="5945188"/>
            <a:ext cx="4940300" cy="9207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</p:txBody>
      </p:sp>
      <p:sp>
        <p:nvSpPr>
          <p:cNvPr id="6" name="Freeform 18"/>
          <p:cNvSpPr>
            <a:spLocks/>
          </p:cNvSpPr>
          <p:nvPr/>
        </p:nvSpPr>
        <p:spPr bwMode="auto">
          <a:xfrm>
            <a:off x="485775" y="5938838"/>
            <a:ext cx="3690938" cy="933450"/>
          </a:xfrm>
          <a:custGeom>
            <a:avLst/>
            <a:gdLst>
              <a:gd name="T0" fmla="*/ 0 w 5591"/>
              <a:gd name="T1" fmla="*/ 0 h 588"/>
              <a:gd name="T2" fmla="*/ 3802505 w 5591"/>
              <a:gd name="T3" fmla="*/ 0 h 588"/>
              <a:gd name="T4" fmla="*/ 3802505 w 5591"/>
              <a:gd name="T5" fmla="*/ 838200 h 588"/>
              <a:gd name="T6" fmla="*/ 31688 w 5591"/>
              <a:gd name="T7" fmla="*/ 0 h 588"/>
              <a:gd name="T8" fmla="*/ 0 60000 65536"/>
              <a:gd name="T9" fmla="*/ 0 60000 65536"/>
              <a:gd name="T10" fmla="*/ 0 60000 65536"/>
              <a:gd name="T11" fmla="*/ 0 60000 65536"/>
              <a:gd name="T12" fmla="*/ 0 w 5591"/>
              <a:gd name="T13" fmla="*/ 0 h 588"/>
              <a:gd name="T14" fmla="*/ 5591 w 5591"/>
              <a:gd name="T15" fmla="*/ 588 h 58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/>
          <a:lstStyle/>
          <a:p>
            <a:endParaRPr lang="en-US" dirty="0">
              <a:latin typeface="Calibri" panose="020F0502020204030204" pitchFamily="34" charset="0"/>
            </a:endParaRPr>
          </a:p>
        </p:txBody>
      </p:sp>
      <p:sp>
        <p:nvSpPr>
          <p:cNvPr id="7" name="Right Triangle 6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4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Chevron 8"/>
          <p:cNvSpPr/>
          <p:nvPr/>
        </p:nvSpPr>
        <p:spPr>
          <a:xfrm>
            <a:off x="8664575" y="4987925"/>
            <a:ext cx="182563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0" name="Chevron 9"/>
          <p:cNvSpPr/>
          <p:nvPr/>
        </p:nvSpPr>
        <p:spPr>
          <a:xfrm>
            <a:off x="8477250" y="4987925"/>
            <a:ext cx="182563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tIns="0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>
            <a:normAutofit/>
          </a:bodyPr>
          <a:lstStyle>
            <a:lvl1pPr marL="0" indent="0">
              <a:buNone/>
              <a:defRPr sz="3200"/>
            </a:lvl1pPr>
            <a:extLst/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>
                <a:solidFill>
                  <a:schemeClr val="tx1"/>
                </a:solidFill>
              </a:defRPr>
            </a:lvl1pPr>
            <a:extLst/>
          </a:lstStyle>
          <a:p>
            <a:pPr>
              <a:defRPr/>
            </a:pPr>
            <a:fld id="{5A89DF2B-1961-4460-876E-4517D321EF82}" type="datetime1">
              <a:rPr lang="en-US" smtClean="0"/>
              <a:t>11/3/2024</a:t>
            </a:fld>
            <a:endParaRPr lang="en-US" dirty="0"/>
          </a:p>
        </p:txBody>
      </p:sp>
      <p:sp>
        <p:nvSpPr>
          <p:cNvPr id="12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79913" y="6408738"/>
            <a:ext cx="2351087" cy="365125"/>
          </a:xfrm>
        </p:spPr>
        <p:txBody>
          <a:bodyPr/>
          <a:lstStyle>
            <a:lvl1pPr>
              <a:defRPr smtClean="0">
                <a:solidFill>
                  <a:schemeClr val="tx1"/>
                </a:solidFill>
              </a:defRPr>
            </a:lvl1pPr>
            <a:extLst/>
          </a:lstStyle>
          <a:p>
            <a:pPr>
              <a:defRPr/>
            </a:pPr>
            <a:r>
              <a:rPr lang="en-US"/>
              <a:t>©1992-2017 by Pearson Education, Inc. All Rights Reserved.</a:t>
            </a:r>
            <a:endParaRPr lang="en-US" dirty="0"/>
          </a:p>
        </p:txBody>
      </p:sp>
      <p:sp>
        <p:nvSpPr>
          <p:cNvPr id="13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F38535F-0E36-4316-A496-194D1A1F1E1E}" type="slidenum">
              <a:rPr lang="en-US" altLang="en-US" smtClean="0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76650817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7182B3-3B99-4D2D-AE5D-DD5965F44CA6}" type="datetime1">
              <a:rPr lang="en-US" smtClean="0"/>
              <a:t>11/3/2024</a:t>
            </a:fld>
            <a:endParaRPr lang="en-US" dirty="0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©1992-2017 by Pearson Education, Inc. All Rights Reserved.</a:t>
            </a:r>
            <a:endParaRPr lang="en-US" dirty="0"/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5CE638E-9BE4-45A7-81E5-663BC4374D0A}" type="slidenum">
              <a:rPr lang="en-US" altLang="en-US" smtClean="0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0932814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9F6156E-FF3C-4183-98BE-399A239C5FDE}" type="datetime1">
              <a:rPr lang="en-US" smtClean="0"/>
              <a:t>11/3/2024</a:t>
            </a:fld>
            <a:endParaRPr lang="en-US" dirty="0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©1992-2017 by Pearson Education, Inc. All Rights Reserved.</a:t>
            </a:r>
            <a:endParaRPr lang="en-US" dirty="0"/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A4C7E73-E2D2-4AD6-9863-65DB56E706EA}" type="slidenum">
              <a:rPr lang="en-US" altLang="en-US" smtClean="0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3367933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2CEEEC-E8B2-4DA1-9A4F-9DF71DA83D40}" type="datetime1">
              <a:rPr lang="en-US" smtClean="0"/>
              <a:t>11/3/2024</a:t>
            </a:fld>
            <a:endParaRPr lang="en-US" dirty="0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>
          <a:xfrm>
            <a:off x="3962399" y="6408738"/>
            <a:ext cx="4684713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©1992-2017 by Pearson Education, Inc. All Rights Reserved.</a:t>
            </a:r>
            <a:endParaRPr lang="en-US" dirty="0"/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2ABE319-2FB3-4963-8687-646B4F75ED30}" type="slidenum">
              <a:rPr lang="en-US" altLang="en-US" smtClean="0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9390252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500063" y="5945188"/>
            <a:ext cx="4940300" cy="9207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</p:txBody>
      </p:sp>
      <p:sp>
        <p:nvSpPr>
          <p:cNvPr id="1027" name="Freeform 11"/>
          <p:cNvSpPr>
            <a:spLocks/>
          </p:cNvSpPr>
          <p:nvPr/>
        </p:nvSpPr>
        <p:spPr bwMode="auto">
          <a:xfrm>
            <a:off x="485775" y="5938838"/>
            <a:ext cx="3690938" cy="933450"/>
          </a:xfrm>
          <a:custGeom>
            <a:avLst/>
            <a:gdLst>
              <a:gd name="T0" fmla="*/ 0 w 5591"/>
              <a:gd name="T1" fmla="*/ 0 h 588"/>
              <a:gd name="T2" fmla="*/ 3802505 w 5591"/>
              <a:gd name="T3" fmla="*/ 0 h 588"/>
              <a:gd name="T4" fmla="*/ 3802505 w 5591"/>
              <a:gd name="T5" fmla="*/ 838200 h 588"/>
              <a:gd name="T6" fmla="*/ 31688 w 5591"/>
              <a:gd name="T7" fmla="*/ 0 h 588"/>
              <a:gd name="T8" fmla="*/ 0 60000 65536"/>
              <a:gd name="T9" fmla="*/ 0 60000 65536"/>
              <a:gd name="T10" fmla="*/ 0 60000 65536"/>
              <a:gd name="T11" fmla="*/ 0 60000 65536"/>
              <a:gd name="T12" fmla="*/ 0 w 5591"/>
              <a:gd name="T13" fmla="*/ 0 h 588"/>
              <a:gd name="T14" fmla="*/ 5591 w 5591"/>
              <a:gd name="T15" fmla="*/ 588 h 58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/>
          <a:lstStyle/>
          <a:p>
            <a:endParaRPr lang="en-US" dirty="0">
              <a:latin typeface="Calibri" panose="020F0502020204030204" pitchFamily="34" charset="0"/>
            </a:endParaRPr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4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33" name="Text Placeholder 29"/>
          <p:cNvSpPr>
            <a:spLocks noGrp="1"/>
          </p:cNvSpPr>
          <p:nvPr>
            <p:ph type="body" idx="1"/>
          </p:nvPr>
        </p:nvSpPr>
        <p:spPr bwMode="auto">
          <a:xfrm>
            <a:off x="457200" y="1481138"/>
            <a:ext cx="8229600" cy="452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825" y="6408738"/>
            <a:ext cx="1919288" cy="365125"/>
          </a:xfrm>
          <a:prstGeom prst="rect">
            <a:avLst/>
          </a:prstGeom>
        </p:spPr>
        <p:txBody>
          <a:bodyPr vert="horz" anchor="b"/>
          <a:lstStyle>
            <a:lvl1pPr algn="l" eaLnBrk="1" fontAlgn="auto" latinLnBrk="0" hangingPunct="1">
              <a:spcBef>
                <a:spcPts val="0"/>
              </a:spcBef>
              <a:spcAft>
                <a:spcPts val="0"/>
              </a:spcAft>
              <a:defRPr kumimoji="0" sz="1000" smtClean="0">
                <a:solidFill>
                  <a:schemeClr val="tx1"/>
                </a:solidFill>
                <a:latin typeface="+mn-lt"/>
                <a:cs typeface="+mn-cs"/>
              </a:defRPr>
            </a:lvl1pPr>
            <a:extLst/>
          </a:lstStyle>
          <a:p>
            <a:pPr>
              <a:defRPr/>
            </a:pPr>
            <a:fld id="{2C40E429-71B0-43C8-8CAE-6B4915EEDF58}" type="datetime1">
              <a:rPr lang="en-US" smtClean="0"/>
              <a:t>11/3/2024</a:t>
            </a:fld>
            <a:endParaRPr lang="en-US" dirty="0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3962400" y="6408738"/>
            <a:ext cx="2768600" cy="365125"/>
          </a:xfrm>
          <a:prstGeom prst="rect">
            <a:avLst/>
          </a:prstGeom>
        </p:spPr>
        <p:txBody>
          <a:bodyPr vert="horz" anchor="b"/>
          <a:lstStyle>
            <a:lvl1pPr algn="r" eaLnBrk="1" fontAlgn="auto" latinLnBrk="0" hangingPunct="1">
              <a:spcBef>
                <a:spcPts val="0"/>
              </a:spcBef>
              <a:spcAft>
                <a:spcPts val="0"/>
              </a:spcAft>
              <a:defRPr kumimoji="0" sz="1000" smtClean="0">
                <a:solidFill>
                  <a:schemeClr val="tx1"/>
                </a:solidFill>
                <a:latin typeface="+mn-lt"/>
                <a:cs typeface="+mn-cs"/>
              </a:defRPr>
            </a:lvl1pPr>
            <a:extLst/>
          </a:lstStyle>
          <a:p>
            <a:pPr>
              <a:defRPr/>
            </a:pPr>
            <a:r>
              <a:rPr lang="en-US"/>
              <a:t>©1992-2017 by Pearson Education, Inc. All Rights Reserved.</a:t>
            </a:r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113" y="6408738"/>
            <a:ext cx="366712" cy="365125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000">
                <a:latin typeface="Lucida Sans Unicode" panose="020B0602030504020204" pitchFamily="34" charset="0"/>
              </a:defRPr>
            </a:lvl1pPr>
          </a:lstStyle>
          <a:p>
            <a:fld id="{CF354F89-A572-4110-B4FB-4A6031F50B4E}" type="slidenum">
              <a:rPr lang="en-US" altLang="en-US" smtClean="0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5403729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5" r:id="rId1"/>
    <p:sldLayoutId id="2147483756" r:id="rId2"/>
    <p:sldLayoutId id="2147483757" r:id="rId3"/>
    <p:sldLayoutId id="2147483758" r:id="rId4"/>
    <p:sldLayoutId id="2147483759" r:id="rId5"/>
    <p:sldLayoutId id="2147483760" r:id="rId6"/>
    <p:sldLayoutId id="2147483761" r:id="rId7"/>
    <p:sldLayoutId id="2147483762" r:id="rId8"/>
    <p:sldLayoutId id="2147483763" r:id="rId9"/>
    <p:sldLayoutId id="2147483764" r:id="rId10"/>
    <p:sldLayoutId id="2147483765" r:id="rId11"/>
    <p:sldLayoutId id="2147483766" r:id="rId12"/>
  </p:sldLayoutIdLst>
  <p:hf sldNum="0" hd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34" charset="0"/>
        </a:defRPr>
      </a:lvl9pPr>
      <a:extLst/>
    </p:titleStyle>
    <p:bodyStyle>
      <a:lvl1pPr marL="365125" indent="-255588" algn="l" rtl="0" eaLnBrk="1" fontAlgn="base" hangingPunct="1">
        <a:spcBef>
          <a:spcPts val="400"/>
        </a:spcBef>
        <a:spcAft>
          <a:spcPct val="0"/>
        </a:spcAft>
        <a:buClr>
          <a:schemeClr val="accent1"/>
        </a:buClr>
        <a:buSzPct val="68000"/>
        <a:buFont typeface="Wingdings 3" panose="05040102010807070707" pitchFamily="18" charset="2"/>
        <a:buChar char=""/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0713" indent="-228600" algn="l" rtl="0" eaLnBrk="1" fontAlgn="base" hangingPunct="1">
        <a:spcBef>
          <a:spcPts val="325"/>
        </a:spcBef>
        <a:spcAft>
          <a:spcPct val="0"/>
        </a:spcAft>
        <a:buClr>
          <a:schemeClr val="accent1"/>
        </a:buClr>
        <a:buFont typeface="Verdana" panose="020B0604030504040204" pitchFamily="34" charset="0"/>
        <a:buChar char="◦"/>
        <a:defRPr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8838" indent="-228600" algn="l" rtl="0" eaLnBrk="1" fontAlgn="base" hangingPunct="1">
        <a:spcBef>
          <a:spcPts val="350"/>
        </a:spcBef>
        <a:spcAft>
          <a:spcPct val="0"/>
        </a:spcAft>
        <a:buClr>
          <a:schemeClr val="accent2"/>
        </a:buClr>
        <a:buSzPct val="100000"/>
        <a:buFont typeface="Wingdings 2" panose="05020102010507070707" pitchFamily="18" charset="2"/>
        <a:buChar char="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fontAlgn="base" hangingPunct="1">
        <a:spcBef>
          <a:spcPts val="350"/>
        </a:spcBef>
        <a:spcAft>
          <a:spcPct val="0"/>
        </a:spcAft>
        <a:buClr>
          <a:schemeClr val="accent2"/>
        </a:buClr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rtl="0" eaLnBrk="1" fontAlgn="base" hangingPunct="1">
        <a:spcBef>
          <a:spcPts val="350"/>
        </a:spcBef>
        <a:spcAft>
          <a:spcPct val="0"/>
        </a:spcAft>
        <a:buClr>
          <a:schemeClr val="accent2"/>
        </a:buClr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rgbClr val="3380E6"/>
                </a:solidFill>
                <a:latin typeface="Goudy Sans Medium"/>
              </a:rPr>
              <a:t>Pointers</a:t>
            </a:r>
          </a:p>
        </p:txBody>
      </p:sp>
      <p:sp>
        <p:nvSpPr>
          <p:cNvPr id="10243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R="0" eaLnBrk="1" hangingPunct="1"/>
            <a:r>
              <a:rPr lang="en-US" altLang="en-US" dirty="0"/>
              <a:t>Chapter 8 of C++ How to Program, 10/e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©1992-2017 by Pearson Education, Inc. All Rights Reserved.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rgbClr val="24B5A1"/>
                </a:solidFill>
                <a:latin typeface="Calibri" panose="020F0502020204030204" pitchFamily="34" charset="0"/>
              </a:rPr>
              <a:t>8.1  </a:t>
            </a:r>
            <a:r>
              <a:rPr lang="en-US" dirty="0">
                <a:solidFill>
                  <a:srgbClr val="3380E6"/>
                </a:solidFill>
                <a:latin typeface="Calibri" panose="020F0502020204030204" pitchFamily="34" charset="0"/>
              </a:rPr>
              <a:t>Introduction</a:t>
            </a:r>
          </a:p>
        </p:txBody>
      </p:sp>
      <p:sp>
        <p:nvSpPr>
          <p:cNvPr id="13315" name="Text Placeholder 2"/>
          <p:cNvSpPr>
            <a:spLocks noGrp="1"/>
          </p:cNvSpPr>
          <p:nvPr>
            <p:ph type="body" idx="1"/>
          </p:nvPr>
        </p:nvSpPr>
        <p:spPr>
          <a:xfrm>
            <a:off x="457200" y="1066800"/>
            <a:ext cx="8229600" cy="4525963"/>
          </a:xfrm>
        </p:spPr>
        <p:txBody>
          <a:bodyPr/>
          <a:lstStyle/>
          <a:p>
            <a:pPr eaLnBrk="1" hangingPunct="1"/>
            <a:r>
              <a:rPr lang="en-US" altLang="en-US" sz="2400" dirty="0">
                <a:solidFill>
                  <a:srgbClr val="000000"/>
                </a:solidFill>
                <a:latin typeface="Cambria" panose="02040503050406030204" pitchFamily="18" charset="0"/>
              </a:rPr>
              <a:t>Pointers are one of the most powerful, yet challenging to use, C++ capabilities. </a:t>
            </a:r>
          </a:p>
          <a:p>
            <a:pPr eaLnBrk="1" hangingPunct="1"/>
            <a:r>
              <a:rPr lang="en-US" altLang="en-US" sz="2400" dirty="0">
                <a:solidFill>
                  <a:srgbClr val="000000"/>
                </a:solidFill>
                <a:latin typeface="Cambria" panose="02040503050406030204" pitchFamily="18" charset="0"/>
              </a:rPr>
              <a:t>We’ll discuss when it’s appropriate to use pointers, and show how to use them </a:t>
            </a:r>
            <a:r>
              <a:rPr lang="en-US" altLang="en-US" sz="2400" i="1" dirty="0">
                <a:solidFill>
                  <a:srgbClr val="000000"/>
                </a:solidFill>
                <a:latin typeface="Cambria" panose="02040503050406030204" pitchFamily="18" charset="0"/>
              </a:rPr>
              <a:t>correctly</a:t>
            </a:r>
            <a:r>
              <a:rPr lang="en-US" altLang="en-US" sz="2400" dirty="0">
                <a:solidFill>
                  <a:srgbClr val="000000"/>
                </a:solidFill>
                <a:latin typeface="Cambria" panose="02040503050406030204" pitchFamily="18" charset="0"/>
              </a:rPr>
              <a:t> and </a:t>
            </a:r>
            <a:r>
              <a:rPr lang="en-US" altLang="en-US" sz="2400" i="1" dirty="0">
                <a:solidFill>
                  <a:srgbClr val="000000"/>
                </a:solidFill>
                <a:latin typeface="Cambria" panose="02040503050406030204" pitchFamily="18" charset="0"/>
              </a:rPr>
              <a:t>responsibly</a:t>
            </a:r>
            <a:r>
              <a:rPr lang="en-US" altLang="en-US" sz="2400" dirty="0">
                <a:solidFill>
                  <a:srgbClr val="000000"/>
                </a:solidFill>
                <a:latin typeface="Cambria" panose="02040503050406030204" pitchFamily="18" charset="0"/>
              </a:rPr>
              <a:t>. </a:t>
            </a:r>
          </a:p>
          <a:p>
            <a:pPr eaLnBrk="1" hangingPunct="1"/>
            <a:r>
              <a:rPr lang="en-US" altLang="en-US" sz="2400" dirty="0">
                <a:solidFill>
                  <a:srgbClr val="000000"/>
                </a:solidFill>
                <a:latin typeface="Cambria" panose="02040503050406030204" pitchFamily="18" charset="0"/>
              </a:rPr>
              <a:t>Pointers also enable pass-by-reference and can be used to create and manipulate pointer-based dynamic data structures.</a:t>
            </a:r>
          </a:p>
          <a:p>
            <a:pPr eaLnBrk="1" hangingPunct="1"/>
            <a:r>
              <a:rPr lang="en-US" altLang="en-US" sz="2400" dirty="0">
                <a:solidFill>
                  <a:srgbClr val="000000"/>
                </a:solidFill>
                <a:latin typeface="Cambria" panose="02040503050406030204" pitchFamily="18" charset="0"/>
              </a:rPr>
              <a:t>We also show the intimate relationship among </a:t>
            </a:r>
            <a:r>
              <a:rPr lang="en-US" altLang="en-US" sz="2400" i="1" dirty="0">
                <a:solidFill>
                  <a:srgbClr val="000000"/>
                </a:solidFill>
                <a:latin typeface="Cambria" panose="02040503050406030204" pitchFamily="18" charset="0"/>
              </a:rPr>
              <a:t>built-in arrays </a:t>
            </a:r>
            <a:r>
              <a:rPr lang="en-US" altLang="en-US" sz="2400" dirty="0">
                <a:solidFill>
                  <a:srgbClr val="000000"/>
                </a:solidFill>
                <a:latin typeface="Cambria" panose="02040503050406030204" pitchFamily="18" charset="0"/>
              </a:rPr>
              <a:t>and pointers. </a:t>
            </a:r>
          </a:p>
          <a:p>
            <a:pPr eaLnBrk="1" hangingPunct="1"/>
            <a:r>
              <a:rPr lang="en-US" altLang="en-US" sz="2400" i="1" dirty="0">
                <a:solidFill>
                  <a:srgbClr val="000000"/>
                </a:solidFill>
                <a:latin typeface="Cambria" panose="02040503050406030204" pitchFamily="18" charset="0"/>
              </a:rPr>
              <a:t>In new software development projects, you should favor </a:t>
            </a:r>
            <a:r>
              <a:rPr lang="en-US" alt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array</a:t>
            </a:r>
            <a:r>
              <a:rPr lang="en-US" altLang="en-US" sz="2400" i="1" dirty="0">
                <a:solidFill>
                  <a:srgbClr val="000000"/>
                </a:solidFill>
                <a:latin typeface="Cambria" panose="02040503050406030204" pitchFamily="18" charset="0"/>
              </a:rPr>
              <a:t> and </a:t>
            </a:r>
            <a:r>
              <a:rPr lang="en-US" alt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vector</a:t>
            </a:r>
            <a:r>
              <a:rPr lang="en-US" altLang="en-US" sz="2400" i="1" dirty="0">
                <a:solidFill>
                  <a:srgbClr val="000000"/>
                </a:solidFill>
                <a:latin typeface="Cambria" panose="02040503050406030204" pitchFamily="18" charset="0"/>
              </a:rPr>
              <a:t> objects to built-in arrays.</a:t>
            </a:r>
          </a:p>
        </p:txBody>
      </p:sp>
      <p:sp>
        <p:nvSpPr>
          <p:cNvPr id="13316" name="Footer Placeholder 3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/>
              <a:t>©1992-2017 by Pearson Education, Inc. All Rights Reserved.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8_Page_07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183607"/>
            <a:ext cx="9144000" cy="2489597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©1992-2017 by Pearson Education, Inc.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83120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rgbClr val="24B5A1"/>
                </a:solidFill>
                <a:latin typeface="Calibri" panose="020F0502020204030204" pitchFamily="34" charset="0"/>
              </a:rPr>
              <a:t>8.2  </a:t>
            </a:r>
            <a:r>
              <a:rPr lang="en-US" dirty="0">
                <a:solidFill>
                  <a:srgbClr val="3380E6"/>
                </a:solidFill>
                <a:latin typeface="Calibri" panose="020F0502020204030204" pitchFamily="34" charset="0"/>
              </a:rPr>
              <a:t>Pointer Variable Declarations and Initialization</a:t>
            </a:r>
          </a:p>
        </p:txBody>
      </p:sp>
      <p:sp>
        <p:nvSpPr>
          <p:cNvPr id="14339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>
                <a:solidFill>
                  <a:srgbClr val="000000"/>
                </a:solidFill>
                <a:latin typeface="Cambria" panose="02040503050406030204" pitchFamily="18" charset="0"/>
              </a:rPr>
              <a:t>A pointer contains the </a:t>
            </a:r>
            <a:r>
              <a:rPr lang="en-US" i="1" dirty="0">
                <a:solidFill>
                  <a:srgbClr val="000000"/>
                </a:solidFill>
                <a:latin typeface="Cambria" panose="02040503050406030204" pitchFamily="18" charset="0"/>
              </a:rPr>
              <a:t>memory address </a:t>
            </a:r>
            <a:r>
              <a:rPr lang="en-US" dirty="0">
                <a:solidFill>
                  <a:srgbClr val="000000"/>
                </a:solidFill>
                <a:latin typeface="Cambria" panose="02040503050406030204" pitchFamily="18" charset="0"/>
              </a:rPr>
              <a:t>of a variable that, in turn, contains a specific value.</a:t>
            </a:r>
          </a:p>
          <a:p>
            <a:pPr eaLnBrk="1" hangingPunct="1">
              <a:defRPr/>
            </a:pPr>
            <a:r>
              <a:rPr lang="en-US" dirty="0">
                <a:solidFill>
                  <a:srgbClr val="000000"/>
                </a:solidFill>
                <a:latin typeface="Cambria" panose="02040503050406030204" pitchFamily="18" charset="0"/>
              </a:rPr>
              <a:t>In this sense, a variable name </a:t>
            </a:r>
            <a:r>
              <a:rPr lang="en-US" dirty="0">
                <a:solidFill>
                  <a:srgbClr val="0000FF"/>
                </a:solidFill>
                <a:latin typeface="Cambria" panose="02040503050406030204" pitchFamily="18" charset="0"/>
              </a:rPr>
              <a:t>directly references a value</a:t>
            </a:r>
            <a:r>
              <a:rPr lang="en-US" dirty="0">
                <a:solidFill>
                  <a:srgbClr val="000000"/>
                </a:solidFill>
                <a:latin typeface="Cambria" panose="02040503050406030204" pitchFamily="18" charset="0"/>
              </a:rPr>
              <a:t>, and a pointer </a:t>
            </a:r>
            <a:r>
              <a:rPr lang="en-US" dirty="0">
                <a:solidFill>
                  <a:srgbClr val="0000FF"/>
                </a:solidFill>
                <a:latin typeface="Cambria" panose="02040503050406030204" pitchFamily="18" charset="0"/>
              </a:rPr>
              <a:t>indirectly references a value</a:t>
            </a:r>
            <a:r>
              <a:rPr lang="en-US" dirty="0">
                <a:solidFill>
                  <a:srgbClr val="000000"/>
                </a:solidFill>
                <a:latin typeface="Cambria" panose="02040503050406030204" pitchFamily="18" charset="0"/>
              </a:rPr>
              <a:t>.</a:t>
            </a:r>
          </a:p>
          <a:p>
            <a:pPr eaLnBrk="1" hangingPunct="1">
              <a:defRPr/>
            </a:pPr>
            <a:r>
              <a:rPr lang="en-US" dirty="0">
                <a:solidFill>
                  <a:srgbClr val="000000"/>
                </a:solidFill>
                <a:latin typeface="Cambria" panose="02040503050406030204" pitchFamily="18" charset="0"/>
              </a:rPr>
              <a:t>Referencing a value through a pointer is called </a:t>
            </a:r>
            <a:r>
              <a:rPr lang="en-US" dirty="0">
                <a:solidFill>
                  <a:srgbClr val="0000FF"/>
                </a:solidFill>
                <a:latin typeface="Cambria" panose="02040503050406030204" pitchFamily="18" charset="0"/>
              </a:rPr>
              <a:t>indirection</a:t>
            </a:r>
            <a:r>
              <a:rPr lang="en-US" dirty="0">
                <a:solidFill>
                  <a:srgbClr val="000000"/>
                </a:solidFill>
                <a:latin typeface="Cambria" panose="02040503050406030204" pitchFamily="18" charset="0"/>
              </a:rPr>
              <a:t>.</a:t>
            </a:r>
          </a:p>
          <a:p>
            <a:pPr eaLnBrk="1" hangingPunct="1">
              <a:defRPr/>
            </a:pPr>
            <a:r>
              <a:rPr lang="en-US" dirty="0">
                <a:solidFill>
                  <a:srgbClr val="000000"/>
                </a:solidFill>
                <a:latin typeface="Cambria" panose="02040503050406030204" pitchFamily="18" charset="0"/>
              </a:rPr>
              <a:t>Diagrams typically represent a pointer as an </a:t>
            </a:r>
            <a:r>
              <a:rPr lang="en-US" i="1" dirty="0">
                <a:solidFill>
                  <a:srgbClr val="000000"/>
                </a:solidFill>
                <a:latin typeface="Cambria" panose="02040503050406030204" pitchFamily="18" charset="0"/>
              </a:rPr>
              <a:t>arrow</a:t>
            </a:r>
            <a:r>
              <a:rPr lang="en-US" dirty="0">
                <a:solidFill>
                  <a:srgbClr val="000000"/>
                </a:solidFill>
                <a:latin typeface="Cambria" panose="02040503050406030204" pitchFamily="18" charset="0"/>
              </a:rPr>
              <a:t> from the </a:t>
            </a:r>
            <a:r>
              <a:rPr lang="en-US" i="1" dirty="0">
                <a:solidFill>
                  <a:srgbClr val="000000"/>
                </a:solidFill>
                <a:latin typeface="Cambria" panose="02040503050406030204" pitchFamily="18" charset="0"/>
              </a:rPr>
              <a:t>variable</a:t>
            </a:r>
            <a:r>
              <a:rPr lang="en-US" dirty="0">
                <a:solidFill>
                  <a:srgbClr val="000000"/>
                </a:solidFill>
                <a:latin typeface="Cambria" panose="02040503050406030204" pitchFamily="18" charset="0"/>
              </a:rPr>
              <a:t> </a:t>
            </a:r>
            <a:r>
              <a:rPr lang="en-US" i="1" dirty="0">
                <a:solidFill>
                  <a:srgbClr val="000000"/>
                </a:solidFill>
                <a:latin typeface="Cambria" panose="02040503050406030204" pitchFamily="18" charset="0"/>
              </a:rPr>
              <a:t>that contains an address to the variable located at that address </a:t>
            </a:r>
            <a:r>
              <a:rPr lang="en-US" dirty="0">
                <a:solidFill>
                  <a:srgbClr val="000000"/>
                </a:solidFill>
                <a:latin typeface="Cambria" panose="02040503050406030204" pitchFamily="18" charset="0"/>
              </a:rPr>
              <a:t>in memory.</a:t>
            </a:r>
          </a:p>
        </p:txBody>
      </p:sp>
      <p:sp>
        <p:nvSpPr>
          <p:cNvPr id="14340" name="Footer Placeholder 3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/>
              <a:t>©1992-2017 by Pearson Education, Inc. All Rights Reserved.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8_Page_09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59719"/>
            <a:ext cx="9144000" cy="373856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Rectangle 2"/>
          <p:cNvSpPr/>
          <p:nvPr/>
        </p:nvSpPr>
        <p:spPr>
          <a:xfrm>
            <a:off x="304800" y="4648200"/>
            <a:ext cx="304800" cy="304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©1992-2017 by Pearson Education, Inc.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30873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1143000"/>
          </a:xfrm>
        </p:spPr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rgbClr val="24B5A1"/>
                </a:solidFill>
                <a:latin typeface="Calibri" panose="020F0502020204030204" pitchFamily="34" charset="0"/>
              </a:rPr>
              <a:t>8.2.1  </a:t>
            </a:r>
            <a:r>
              <a:rPr lang="en-US" dirty="0">
                <a:solidFill>
                  <a:srgbClr val="3380E6"/>
                </a:solidFill>
                <a:latin typeface="Calibri" panose="020F0502020204030204" pitchFamily="34" charset="0"/>
              </a:rPr>
              <a:t>Memory addresses</a:t>
            </a:r>
          </a:p>
        </p:txBody>
      </p:sp>
      <p:sp>
        <p:nvSpPr>
          <p:cNvPr id="16387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95400"/>
            <a:ext cx="8229600" cy="4525963"/>
          </a:xfrm>
        </p:spPr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en-US" sz="2400" dirty="0">
                <a:solidFill>
                  <a:srgbClr val="000000"/>
                </a:solidFill>
                <a:latin typeface="Cambria" panose="02040503050406030204" pitchFamily="18" charset="0"/>
              </a:rPr>
              <a:t>Copy the following program</a:t>
            </a:r>
          </a:p>
          <a:p>
            <a:pPr marL="538798" lvl="2" indent="0">
              <a:lnSpc>
                <a:spcPts val="1660"/>
              </a:lnSpc>
              <a:spcBef>
                <a:spcPts val="0"/>
              </a:spcBef>
              <a:buNone/>
              <a:defRPr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#include &lt;iostream&gt;</a:t>
            </a:r>
          </a:p>
          <a:p>
            <a:pPr marL="538798" lvl="2" indent="0">
              <a:lnSpc>
                <a:spcPts val="1660"/>
              </a:lnSpc>
              <a:spcBef>
                <a:spcPts val="0"/>
              </a:spcBef>
              <a:buNone/>
              <a:defRPr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using namespace std;</a:t>
            </a:r>
          </a:p>
          <a:p>
            <a:pPr marL="538798" lvl="2" indent="0">
              <a:lnSpc>
                <a:spcPts val="1660"/>
              </a:lnSpc>
              <a:spcBef>
                <a:spcPts val="0"/>
              </a:spcBef>
              <a:buNone/>
              <a:defRPr/>
            </a:pPr>
            <a:endParaRPr lang="en-US" sz="1800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pPr marL="538798" lvl="2" indent="0">
              <a:lnSpc>
                <a:spcPts val="1660"/>
              </a:lnSpc>
              <a:spcBef>
                <a:spcPts val="0"/>
              </a:spcBef>
              <a:buNone/>
              <a:defRPr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int main()</a:t>
            </a:r>
          </a:p>
          <a:p>
            <a:pPr marL="538798" lvl="2" indent="0">
              <a:lnSpc>
                <a:spcPts val="1660"/>
              </a:lnSpc>
              <a:spcBef>
                <a:spcPts val="0"/>
              </a:spcBef>
              <a:buNone/>
              <a:defRPr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{</a:t>
            </a:r>
          </a:p>
          <a:p>
            <a:pPr marL="538798" lvl="2" indent="0">
              <a:lnSpc>
                <a:spcPts val="1660"/>
              </a:lnSpc>
              <a:spcBef>
                <a:spcPts val="0"/>
              </a:spcBef>
              <a:buNone/>
              <a:defRPr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  int var1{5};</a:t>
            </a:r>
          </a:p>
          <a:p>
            <a:pPr marL="538798" lvl="2" indent="0">
              <a:lnSpc>
                <a:spcPts val="1660"/>
              </a:lnSpc>
              <a:spcBef>
                <a:spcPts val="0"/>
              </a:spcBef>
              <a:buNone/>
              <a:defRPr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  char var2{'w'};</a:t>
            </a:r>
          </a:p>
          <a:p>
            <a:pPr marL="538798" lvl="2" indent="0">
              <a:lnSpc>
                <a:spcPts val="1660"/>
              </a:lnSpc>
              <a:spcBef>
                <a:spcPts val="0"/>
              </a:spcBef>
              <a:buNone/>
              <a:defRPr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  double var3{5.234};</a:t>
            </a:r>
          </a:p>
          <a:p>
            <a:pPr marL="538798" lvl="2" indent="0">
              <a:lnSpc>
                <a:spcPts val="1660"/>
              </a:lnSpc>
              <a:spcBef>
                <a:spcPts val="0"/>
              </a:spcBef>
              <a:buNone/>
              <a:defRPr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  string var4{"How are you?"};</a:t>
            </a:r>
          </a:p>
          <a:p>
            <a:pPr marL="538798" lvl="2" indent="0">
              <a:lnSpc>
                <a:spcPts val="1660"/>
              </a:lnSpc>
              <a:spcBef>
                <a:spcPts val="0"/>
              </a:spcBef>
              <a:buNone/>
              <a:defRPr/>
            </a:pPr>
            <a:endParaRPr lang="en-US" sz="1800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pPr marL="538798" lvl="2" indent="0">
              <a:lnSpc>
                <a:spcPts val="1660"/>
              </a:lnSpc>
              <a:spcBef>
                <a:spcPts val="0"/>
              </a:spcBef>
              <a:buNone/>
              <a:defRPr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  </a:t>
            </a:r>
            <a:r>
              <a:rPr lang="en-US" sz="1800" dirty="0" err="1">
                <a:solidFill>
                  <a:srgbClr val="0000FF"/>
                </a:solidFill>
                <a:latin typeface="Consolas" panose="020B0609020204030204" pitchFamily="49" charset="0"/>
              </a:rPr>
              <a:t>cout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 &lt;&lt; &amp;var1 &lt;&lt; </a:t>
            </a:r>
            <a:r>
              <a:rPr lang="en-US" sz="1800" dirty="0" err="1">
                <a:solidFill>
                  <a:srgbClr val="0000FF"/>
                </a:solidFill>
                <a:latin typeface="Consolas" panose="020B0609020204030204" pitchFamily="49" charset="0"/>
              </a:rPr>
              <a:t>endl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;</a:t>
            </a:r>
          </a:p>
          <a:p>
            <a:pPr marL="538798" lvl="2" indent="0">
              <a:lnSpc>
                <a:spcPts val="1660"/>
              </a:lnSpc>
              <a:spcBef>
                <a:spcPts val="0"/>
              </a:spcBef>
              <a:buNone/>
              <a:defRPr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  </a:t>
            </a:r>
            <a:r>
              <a:rPr lang="en-US" sz="1800" dirty="0" err="1">
                <a:solidFill>
                  <a:srgbClr val="0000FF"/>
                </a:solidFill>
                <a:latin typeface="Consolas" panose="020B0609020204030204" pitchFamily="49" charset="0"/>
              </a:rPr>
              <a:t>cout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 &lt;&lt; &amp;var2 &lt;&lt; </a:t>
            </a:r>
            <a:r>
              <a:rPr lang="en-US" sz="1800" dirty="0" err="1">
                <a:solidFill>
                  <a:srgbClr val="0000FF"/>
                </a:solidFill>
                <a:latin typeface="Consolas" panose="020B0609020204030204" pitchFamily="49" charset="0"/>
              </a:rPr>
              <a:t>endl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;</a:t>
            </a:r>
          </a:p>
          <a:p>
            <a:pPr marL="538798" lvl="2" indent="0">
              <a:lnSpc>
                <a:spcPts val="1660"/>
              </a:lnSpc>
              <a:spcBef>
                <a:spcPts val="0"/>
              </a:spcBef>
              <a:buNone/>
              <a:defRPr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  </a:t>
            </a:r>
            <a:r>
              <a:rPr lang="en-US" sz="1800" dirty="0" err="1">
                <a:solidFill>
                  <a:srgbClr val="0000FF"/>
                </a:solidFill>
                <a:latin typeface="Consolas" panose="020B0609020204030204" pitchFamily="49" charset="0"/>
              </a:rPr>
              <a:t>cout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 &lt;&lt; &amp;var3 &lt;&lt; </a:t>
            </a:r>
            <a:r>
              <a:rPr lang="en-US" sz="1800" dirty="0" err="1">
                <a:solidFill>
                  <a:srgbClr val="0000FF"/>
                </a:solidFill>
                <a:latin typeface="Consolas" panose="020B0609020204030204" pitchFamily="49" charset="0"/>
              </a:rPr>
              <a:t>endl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;</a:t>
            </a:r>
          </a:p>
          <a:p>
            <a:pPr marL="538798" lvl="2" indent="0">
              <a:lnSpc>
                <a:spcPts val="1660"/>
              </a:lnSpc>
              <a:spcBef>
                <a:spcPts val="0"/>
              </a:spcBef>
              <a:buNone/>
              <a:defRPr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  </a:t>
            </a:r>
            <a:r>
              <a:rPr lang="en-US" sz="1800" dirty="0" err="1">
                <a:solidFill>
                  <a:srgbClr val="0000FF"/>
                </a:solidFill>
                <a:latin typeface="Consolas" panose="020B0609020204030204" pitchFamily="49" charset="0"/>
              </a:rPr>
              <a:t>cout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 &lt;&lt; &amp;var4 &lt;&lt; </a:t>
            </a:r>
            <a:r>
              <a:rPr lang="en-US" sz="1800" dirty="0" err="1">
                <a:solidFill>
                  <a:srgbClr val="0000FF"/>
                </a:solidFill>
                <a:latin typeface="Consolas" panose="020B0609020204030204" pitchFamily="49" charset="0"/>
              </a:rPr>
              <a:t>endl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 &lt;&lt; </a:t>
            </a:r>
            <a:r>
              <a:rPr lang="en-US" sz="1800" dirty="0" err="1">
                <a:solidFill>
                  <a:srgbClr val="0000FF"/>
                </a:solidFill>
                <a:latin typeface="Consolas" panose="020B0609020204030204" pitchFamily="49" charset="0"/>
              </a:rPr>
              <a:t>endl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;</a:t>
            </a:r>
          </a:p>
          <a:p>
            <a:pPr marL="538798" lvl="2" indent="0">
              <a:lnSpc>
                <a:spcPts val="1660"/>
              </a:lnSpc>
              <a:spcBef>
                <a:spcPts val="0"/>
              </a:spcBef>
              <a:buNone/>
              <a:defRPr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}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90000"/>
              </a:lnSpc>
              <a:buFont typeface="Wingdings 3" panose="05040102010807070707" pitchFamily="18" charset="2"/>
              <a:buNone/>
              <a:defRPr/>
            </a:pPr>
            <a:r>
              <a:rPr lang="en-US" sz="2400" dirty="0">
                <a:solidFill>
                  <a:srgbClr val="000000"/>
                </a:solidFill>
                <a:latin typeface="Cambria" panose="02040503050406030204" pitchFamily="18" charset="0"/>
              </a:rPr>
              <a:t>	</a:t>
            </a:r>
          </a:p>
        </p:txBody>
      </p:sp>
      <p:sp>
        <p:nvSpPr>
          <p:cNvPr id="16388" name="Footer Placeholder 3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/>
              <a:t>©1992-2017 by Pearson Education, Inc.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46142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1143000"/>
          </a:xfrm>
        </p:spPr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rgbClr val="24B5A1"/>
                </a:solidFill>
                <a:latin typeface="Calibri" panose="020F0502020204030204" pitchFamily="34" charset="0"/>
              </a:rPr>
              <a:t>8.2.1  </a:t>
            </a:r>
            <a:r>
              <a:rPr lang="en-US" dirty="0">
                <a:solidFill>
                  <a:srgbClr val="3380E6"/>
                </a:solidFill>
                <a:latin typeface="Calibri" panose="020F0502020204030204" pitchFamily="34" charset="0"/>
              </a:rPr>
              <a:t>Declaring Pointers</a:t>
            </a:r>
          </a:p>
        </p:txBody>
      </p:sp>
      <p:sp>
        <p:nvSpPr>
          <p:cNvPr id="16387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95400"/>
            <a:ext cx="8229600" cy="4525963"/>
          </a:xfrm>
        </p:spPr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en-US" sz="2400" dirty="0">
                <a:solidFill>
                  <a:srgbClr val="000000"/>
                </a:solidFill>
                <a:latin typeface="Cambria" panose="02040503050406030204" pitchFamily="18" charset="0"/>
              </a:rPr>
              <a:t>The declaration </a:t>
            </a:r>
          </a:p>
          <a:p>
            <a:pPr marL="630238" lvl="2" indent="0" eaLnBrk="1" hangingPunct="1">
              <a:lnSpc>
                <a:spcPct val="90000"/>
              </a:lnSpc>
              <a:buFont typeface="Wingdings 2" panose="05020102010507070707" pitchFamily="18" charset="2"/>
              <a:buNone/>
              <a:defRPr/>
            </a:pPr>
            <a:r>
              <a:rPr lang="en-US" sz="19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900" dirty="0">
                <a:solidFill>
                  <a:srgbClr val="000000"/>
                </a:solidFill>
                <a:latin typeface="Consolas" panose="020B0609020204030204" pitchFamily="49" charset="0"/>
              </a:rPr>
              <a:t>* </a:t>
            </a:r>
            <a:r>
              <a:rPr lang="en-US" sz="1900" dirty="0" err="1">
                <a:solidFill>
                  <a:srgbClr val="000000"/>
                </a:solidFill>
                <a:latin typeface="Consolas" panose="020B0609020204030204" pitchFamily="49" charset="0"/>
              </a:rPr>
              <a:t>countPtr</a:t>
            </a:r>
            <a:r>
              <a:rPr lang="en-US" sz="1900" dirty="0">
                <a:solidFill>
                  <a:srgbClr val="000000"/>
                </a:solidFill>
                <a:latin typeface="Consolas" panose="020B0609020204030204" pitchFamily="49" charset="0"/>
              </a:rPr>
              <a:t>, count;</a:t>
            </a:r>
          </a:p>
          <a:p>
            <a:pPr eaLnBrk="1" hangingPunct="1">
              <a:lnSpc>
                <a:spcPct val="90000"/>
              </a:lnSpc>
              <a:buFont typeface="Wingdings 3" panose="05040102010807070707" pitchFamily="18" charset="2"/>
              <a:buNone/>
              <a:defRPr/>
            </a:pPr>
            <a:r>
              <a:rPr lang="en-US" sz="2400" dirty="0">
                <a:solidFill>
                  <a:srgbClr val="000000"/>
                </a:solidFill>
                <a:latin typeface="Cambria" panose="02040503050406030204" pitchFamily="18" charset="0"/>
              </a:rPr>
              <a:t>	declares the variable 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countPtr</a:t>
            </a:r>
            <a:r>
              <a:rPr lang="en-US" sz="2400" dirty="0">
                <a:solidFill>
                  <a:srgbClr val="000000"/>
                </a:solidFill>
                <a:latin typeface="Cambria" panose="02040503050406030204" pitchFamily="18" charset="0"/>
              </a:rPr>
              <a:t> to be of type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*</a:t>
            </a:r>
            <a:r>
              <a:rPr lang="en-US" sz="2400" dirty="0">
                <a:solidFill>
                  <a:srgbClr val="000000"/>
                </a:solidFill>
                <a:latin typeface="Cambria" panose="02040503050406030204" pitchFamily="18" charset="0"/>
              </a:rPr>
              <a:t> (i.e., a pointer to an 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ambria" panose="02040503050406030204" pitchFamily="18" charset="0"/>
              </a:rPr>
              <a:t> value) and is read (right to left), “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countPtr</a:t>
            </a:r>
            <a:r>
              <a:rPr lang="en-US" sz="2400" dirty="0">
                <a:solidFill>
                  <a:srgbClr val="000000"/>
                </a:solidFill>
                <a:latin typeface="Cambria" panose="02040503050406030204" pitchFamily="18" charset="0"/>
              </a:rPr>
              <a:t> is a pointer to 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ambria" panose="02040503050406030204" pitchFamily="18" charset="0"/>
              </a:rPr>
              <a:t>.”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sz="2100" dirty="0">
                <a:solidFill>
                  <a:srgbClr val="000000"/>
                </a:solidFill>
                <a:latin typeface="Cambria" panose="02040503050406030204" pitchFamily="18" charset="0"/>
              </a:rPr>
              <a:t>Variable </a:t>
            </a:r>
            <a:r>
              <a:rPr lang="en-US" sz="2100" dirty="0">
                <a:solidFill>
                  <a:srgbClr val="000000"/>
                </a:solidFill>
                <a:latin typeface="Consolas" panose="020B0609020204030204" pitchFamily="49" charset="0"/>
              </a:rPr>
              <a:t>count</a:t>
            </a:r>
            <a:r>
              <a:rPr lang="en-US" sz="2100" dirty="0">
                <a:solidFill>
                  <a:srgbClr val="000000"/>
                </a:solidFill>
                <a:latin typeface="Cambria" panose="02040503050406030204" pitchFamily="18" charset="0"/>
              </a:rPr>
              <a:t> in the preceding declaration is declared to be an </a:t>
            </a:r>
            <a:r>
              <a:rPr lang="en-US" sz="2100" dirty="0">
                <a:solidFill>
                  <a:srgbClr val="000000"/>
                </a:solidFill>
                <a:latin typeface="Consolas" panose="020B0609020204030204" pitchFamily="49" charset="0"/>
              </a:rPr>
              <a:t>int</a:t>
            </a:r>
            <a:r>
              <a:rPr lang="en-US" sz="2100" dirty="0">
                <a:solidFill>
                  <a:srgbClr val="000000"/>
                </a:solidFill>
                <a:latin typeface="Cambria" panose="02040503050406030204" pitchFamily="18" charset="0"/>
              </a:rPr>
              <a:t>, not a pointer to an </a:t>
            </a:r>
            <a:r>
              <a:rPr lang="en-US" sz="2100" dirty="0">
                <a:solidFill>
                  <a:srgbClr val="000000"/>
                </a:solidFill>
                <a:latin typeface="Consolas" panose="020B0609020204030204" pitchFamily="49" charset="0"/>
              </a:rPr>
              <a:t>int</a:t>
            </a:r>
            <a:r>
              <a:rPr lang="en-US" sz="2100" dirty="0">
                <a:solidFill>
                  <a:srgbClr val="000000"/>
                </a:solidFill>
                <a:latin typeface="Cambria" panose="02040503050406030204" pitchFamily="18" charset="0"/>
              </a:rPr>
              <a:t>.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sz="2100" dirty="0">
                <a:solidFill>
                  <a:srgbClr val="000000"/>
                </a:solidFill>
                <a:latin typeface="Cambria" panose="02040503050406030204" pitchFamily="18" charset="0"/>
              </a:rPr>
              <a:t>The </a:t>
            </a:r>
            <a:r>
              <a:rPr lang="en-US" sz="2100" dirty="0">
                <a:solidFill>
                  <a:srgbClr val="000000"/>
                </a:solidFill>
                <a:latin typeface="Consolas" panose="020B0609020204030204" pitchFamily="49" charset="0"/>
              </a:rPr>
              <a:t>*</a:t>
            </a:r>
            <a:r>
              <a:rPr lang="en-US" sz="2100" dirty="0">
                <a:solidFill>
                  <a:srgbClr val="000000"/>
                </a:solidFill>
                <a:latin typeface="Cambria" panose="02040503050406030204" pitchFamily="18" charset="0"/>
              </a:rPr>
              <a:t> in the declaration applies only to </a:t>
            </a:r>
            <a:r>
              <a:rPr lang="en-US" sz="2100" dirty="0">
                <a:solidFill>
                  <a:srgbClr val="000000"/>
                </a:solidFill>
                <a:latin typeface="Consolas" panose="020B0609020204030204" pitchFamily="49" charset="0"/>
              </a:rPr>
              <a:t>countPtr</a:t>
            </a:r>
            <a:r>
              <a:rPr lang="en-US" sz="2100" dirty="0">
                <a:solidFill>
                  <a:srgbClr val="000000"/>
                </a:solidFill>
                <a:latin typeface="Cambria" panose="02040503050406030204" pitchFamily="18" charset="0"/>
              </a:rPr>
              <a:t>.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sz="2100" dirty="0">
                <a:solidFill>
                  <a:srgbClr val="000000"/>
                </a:solidFill>
                <a:latin typeface="Cambria" panose="02040503050406030204" pitchFamily="18" charset="0"/>
              </a:rPr>
              <a:t>Each variable being declared as a pointer must be preceded by an asterisk (</a:t>
            </a:r>
            <a:r>
              <a:rPr lang="en-US" sz="2100" dirty="0">
                <a:solidFill>
                  <a:srgbClr val="000000"/>
                </a:solidFill>
                <a:latin typeface="Consolas" panose="020B0609020204030204" pitchFamily="49" charset="0"/>
              </a:rPr>
              <a:t>*</a:t>
            </a:r>
            <a:r>
              <a:rPr lang="en-US" sz="2100" dirty="0">
                <a:solidFill>
                  <a:srgbClr val="000000"/>
                </a:solidFill>
                <a:latin typeface="Cambria" panose="02040503050406030204" pitchFamily="18" charset="0"/>
              </a:rPr>
              <a:t>).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sz="2400" dirty="0">
                <a:solidFill>
                  <a:srgbClr val="000000"/>
                </a:solidFill>
                <a:latin typeface="Cambria" panose="02040503050406030204" pitchFamily="18" charset="0"/>
              </a:rPr>
              <a:t>When 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*</a:t>
            </a:r>
            <a:r>
              <a:rPr lang="en-US" sz="2400" dirty="0">
                <a:solidFill>
                  <a:srgbClr val="000000"/>
                </a:solidFill>
                <a:latin typeface="Cambria" panose="02040503050406030204" pitchFamily="18" charset="0"/>
              </a:rPr>
              <a:t> appears in a declaration, it is </a:t>
            </a:r>
            <a:r>
              <a:rPr lang="en-US" sz="2400" i="1" dirty="0">
                <a:solidFill>
                  <a:srgbClr val="000000"/>
                </a:solidFill>
                <a:latin typeface="Cambria" panose="02040503050406030204" pitchFamily="18" charset="0"/>
              </a:rPr>
              <a:t>not</a:t>
            </a:r>
            <a:r>
              <a:rPr lang="en-US" sz="2400" dirty="0">
                <a:solidFill>
                  <a:srgbClr val="000000"/>
                </a:solidFill>
                <a:latin typeface="Cambria" panose="02040503050406030204" pitchFamily="18" charset="0"/>
              </a:rPr>
              <a:t> an operator—it indicates that the variable being declared is a pointer.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sz="2400" dirty="0">
                <a:solidFill>
                  <a:srgbClr val="000000"/>
                </a:solidFill>
                <a:latin typeface="Cambria" panose="02040503050406030204" pitchFamily="18" charset="0"/>
              </a:rPr>
              <a:t>Pointers can be declared to point to objects of </a:t>
            </a:r>
            <a:r>
              <a:rPr lang="en-US" sz="2400" i="1" dirty="0">
                <a:solidFill>
                  <a:srgbClr val="000000"/>
                </a:solidFill>
                <a:latin typeface="Cambria" panose="02040503050406030204" pitchFamily="18" charset="0"/>
              </a:rPr>
              <a:t>any</a:t>
            </a:r>
            <a:r>
              <a:rPr lang="en-US" sz="2400" dirty="0">
                <a:solidFill>
                  <a:srgbClr val="000000"/>
                </a:solidFill>
                <a:latin typeface="Cambria" panose="02040503050406030204" pitchFamily="18" charset="0"/>
              </a:rPr>
              <a:t> type.</a:t>
            </a:r>
          </a:p>
        </p:txBody>
      </p:sp>
      <p:sp>
        <p:nvSpPr>
          <p:cNvPr id="16388" name="Footer Placeholder 3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/>
              <a:t>©1992-2017 by Pearson Education, Inc. All Rights Reserved.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8_Page_11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77629"/>
            <a:ext cx="9144000" cy="2902744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©1992-2017 by Pearson Education, Inc.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4721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rgbClr val="24B5A1"/>
                </a:solidFill>
                <a:latin typeface="Calibri" panose="020F0502020204030204" pitchFamily="34" charset="0"/>
              </a:rPr>
              <a:t>8.2.2  </a:t>
            </a:r>
            <a:r>
              <a:rPr lang="en-US" dirty="0">
                <a:solidFill>
                  <a:srgbClr val="3380E6"/>
                </a:solidFill>
                <a:latin typeface="Calibri" panose="020F0502020204030204" pitchFamily="34" charset="0"/>
              </a:rPr>
              <a:t>Initializing Pointers</a:t>
            </a:r>
          </a:p>
        </p:txBody>
      </p:sp>
      <p:sp>
        <p:nvSpPr>
          <p:cNvPr id="19459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>
                <a:solidFill>
                  <a:srgbClr val="000000"/>
                </a:solidFill>
                <a:latin typeface="Cambria" panose="02040503050406030204" pitchFamily="18" charset="0"/>
              </a:rPr>
              <a:t>Pointers should be initialized to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nullptr</a:t>
            </a:r>
            <a:r>
              <a:rPr lang="en-US" dirty="0">
                <a:solidFill>
                  <a:srgbClr val="000000"/>
                </a:solidFill>
                <a:latin typeface="Cambria" panose="02040503050406030204" pitchFamily="18" charset="0"/>
              </a:rPr>
              <a:t> (new in C++11) or to a memory either when they’re declared or in an assignment. </a:t>
            </a:r>
          </a:p>
          <a:p>
            <a:pPr eaLnBrk="1" hangingPunct="1">
              <a:defRPr/>
            </a:pPr>
            <a:r>
              <a:rPr lang="en-US" dirty="0">
                <a:solidFill>
                  <a:srgbClr val="000000"/>
                </a:solidFill>
                <a:latin typeface="Cambria" panose="02040503050406030204" pitchFamily="18" charset="0"/>
              </a:rPr>
              <a:t>A pointer with the value 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nullptr</a:t>
            </a:r>
            <a:r>
              <a:rPr lang="en-US" dirty="0">
                <a:solidFill>
                  <a:srgbClr val="000000"/>
                </a:solidFill>
                <a:latin typeface="Cambria" panose="02040503050406030204" pitchFamily="18" charset="0"/>
              </a:rPr>
              <a:t> “points to nothing” and is known as a </a:t>
            </a:r>
            <a:r>
              <a:rPr lang="en-US" dirty="0">
                <a:solidFill>
                  <a:srgbClr val="0000FF"/>
                </a:solidFill>
                <a:latin typeface="Cambria" panose="02040503050406030204" pitchFamily="18" charset="0"/>
              </a:rPr>
              <a:t>null pointer</a:t>
            </a:r>
            <a:r>
              <a:rPr lang="en-US" dirty="0">
                <a:solidFill>
                  <a:srgbClr val="000000"/>
                </a:solidFill>
                <a:latin typeface="Cambria" panose="02040503050406030204" pitchFamily="18" charset="0"/>
              </a:rPr>
              <a:t>. </a:t>
            </a:r>
          </a:p>
          <a:p>
            <a:pPr eaLnBrk="1" hangingPunct="1">
              <a:defRPr/>
            </a:pPr>
            <a:r>
              <a:rPr lang="en-US" dirty="0">
                <a:solidFill>
                  <a:srgbClr val="000000"/>
                </a:solidFill>
                <a:latin typeface="Cambria" panose="02040503050406030204" pitchFamily="18" charset="0"/>
              </a:rPr>
              <a:t>From this point forward, when we refer to a “null pointer” we mean a pointer with the value 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nullptr</a:t>
            </a:r>
            <a:r>
              <a:rPr lang="en-US" dirty="0">
                <a:solidFill>
                  <a:srgbClr val="000000"/>
                </a:solidFill>
                <a:latin typeface="Cambria" panose="02040503050406030204" pitchFamily="18" charset="0"/>
              </a:rPr>
              <a:t>.</a:t>
            </a:r>
          </a:p>
        </p:txBody>
      </p:sp>
      <p:sp>
        <p:nvSpPr>
          <p:cNvPr id="19460" name="Footer Placeholder 3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/>
              <a:t>©1992-2017 by Pearson Education, Inc. All Rights Reserved.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8_Page_12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391966"/>
            <a:ext cx="9144000" cy="2072878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©1992-2017 by Pearson Education, Inc.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38208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dirty="0">
                <a:solidFill>
                  <a:srgbClr val="24B5A1"/>
                </a:solidFill>
                <a:latin typeface="Calibri" panose="020F0502020204030204" pitchFamily="34" charset="0"/>
              </a:rPr>
              <a:t>8.2.3  </a:t>
            </a:r>
            <a:r>
              <a:rPr lang="en-US" dirty="0">
                <a:solidFill>
                  <a:srgbClr val="3380E6"/>
                </a:solidFill>
                <a:latin typeface="Calibri" panose="020F0502020204030204" pitchFamily="34" charset="0"/>
              </a:rPr>
              <a:t>Null Pointers Prior to C++11</a:t>
            </a:r>
          </a:p>
        </p:txBody>
      </p:sp>
      <p:sp>
        <p:nvSpPr>
          <p:cNvPr id="19459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z="2500" dirty="0">
                <a:solidFill>
                  <a:srgbClr val="000000"/>
                </a:solidFill>
                <a:latin typeface="Cambria" panose="02040503050406030204" pitchFamily="18" charset="0"/>
              </a:rPr>
              <a:t>In earlier versions of C++, the value specified for a null pointer was </a:t>
            </a:r>
            <a:r>
              <a:rPr lang="en-US" sz="2500" dirty="0">
                <a:solidFill>
                  <a:srgbClr val="000000"/>
                </a:solidFill>
                <a:latin typeface="Consolas" panose="020B0609020204030204" pitchFamily="49" charset="0"/>
              </a:rPr>
              <a:t>0</a:t>
            </a:r>
            <a:r>
              <a:rPr lang="en-US" sz="2500" dirty="0">
                <a:solidFill>
                  <a:srgbClr val="000000"/>
                </a:solidFill>
                <a:latin typeface="Cambria" panose="02040503050406030204" pitchFamily="18" charset="0"/>
              </a:rPr>
              <a:t> or </a:t>
            </a:r>
            <a:r>
              <a:rPr lang="en-US" sz="2500" dirty="0">
                <a:solidFill>
                  <a:srgbClr val="000000"/>
                </a:solidFill>
                <a:latin typeface="Consolas" panose="020B0609020204030204" pitchFamily="49" charset="0"/>
              </a:rPr>
              <a:t>NULL</a:t>
            </a:r>
            <a:r>
              <a:rPr lang="en-US" sz="2500" dirty="0">
                <a:solidFill>
                  <a:srgbClr val="000000"/>
                </a:solidFill>
                <a:latin typeface="Cambria" panose="02040503050406030204" pitchFamily="18" charset="0"/>
              </a:rPr>
              <a:t>. </a:t>
            </a:r>
          </a:p>
          <a:p>
            <a:pPr eaLnBrk="1" hangingPunct="1">
              <a:defRPr/>
            </a:pPr>
            <a:r>
              <a:rPr lang="en-US" sz="2500" dirty="0">
                <a:solidFill>
                  <a:srgbClr val="000000"/>
                </a:solidFill>
                <a:latin typeface="Consolas" panose="020B0609020204030204" pitchFamily="49" charset="0"/>
              </a:rPr>
              <a:t>NULL</a:t>
            </a:r>
            <a:r>
              <a:rPr lang="en-US" sz="2500" dirty="0">
                <a:solidFill>
                  <a:srgbClr val="000000"/>
                </a:solidFill>
                <a:latin typeface="Cambria" panose="02040503050406030204" pitchFamily="18" charset="0"/>
              </a:rPr>
              <a:t> is defined in several standard library headers to represent the value </a:t>
            </a:r>
            <a:r>
              <a:rPr lang="en-US" sz="2500" dirty="0">
                <a:solidFill>
                  <a:srgbClr val="000000"/>
                </a:solidFill>
                <a:latin typeface="Consolas" panose="020B0609020204030204" pitchFamily="49" charset="0"/>
              </a:rPr>
              <a:t>0</a:t>
            </a:r>
            <a:r>
              <a:rPr lang="en-US" sz="2500" dirty="0">
                <a:solidFill>
                  <a:srgbClr val="000000"/>
                </a:solidFill>
                <a:latin typeface="Cambria" panose="02040503050406030204" pitchFamily="18" charset="0"/>
              </a:rPr>
              <a:t>. </a:t>
            </a:r>
          </a:p>
          <a:p>
            <a:pPr eaLnBrk="1" hangingPunct="1">
              <a:defRPr/>
            </a:pPr>
            <a:r>
              <a:rPr lang="en-US" sz="2500" dirty="0">
                <a:solidFill>
                  <a:srgbClr val="000000"/>
                </a:solidFill>
                <a:latin typeface="Cambria" panose="02040503050406030204" pitchFamily="18" charset="0"/>
              </a:rPr>
              <a:t>Initializing a pointer to </a:t>
            </a:r>
            <a:r>
              <a:rPr lang="en-US" sz="2500" dirty="0">
                <a:solidFill>
                  <a:srgbClr val="000000"/>
                </a:solidFill>
                <a:latin typeface="Consolas" panose="020B0609020204030204" pitchFamily="49" charset="0"/>
              </a:rPr>
              <a:t>NULL</a:t>
            </a:r>
            <a:r>
              <a:rPr lang="en-US" sz="2500" dirty="0">
                <a:solidFill>
                  <a:srgbClr val="000000"/>
                </a:solidFill>
                <a:latin typeface="Cambria" panose="02040503050406030204" pitchFamily="18" charset="0"/>
              </a:rPr>
              <a:t> is equivalent to initializing a pointer to </a:t>
            </a:r>
            <a:r>
              <a:rPr lang="en-US" sz="2500" dirty="0">
                <a:solidFill>
                  <a:srgbClr val="000000"/>
                </a:solidFill>
                <a:latin typeface="Consolas" panose="020B0609020204030204" pitchFamily="49" charset="0"/>
              </a:rPr>
              <a:t>0</a:t>
            </a:r>
            <a:r>
              <a:rPr lang="en-US" sz="2500" dirty="0">
                <a:solidFill>
                  <a:srgbClr val="000000"/>
                </a:solidFill>
                <a:latin typeface="Cambria" panose="02040503050406030204" pitchFamily="18" charset="0"/>
              </a:rPr>
              <a:t>, but prior to C++11, </a:t>
            </a:r>
            <a:r>
              <a:rPr lang="en-US" sz="2500" dirty="0">
                <a:solidFill>
                  <a:srgbClr val="000000"/>
                </a:solidFill>
                <a:latin typeface="Consolas" panose="020B0609020204030204" pitchFamily="49" charset="0"/>
              </a:rPr>
              <a:t>0</a:t>
            </a:r>
            <a:r>
              <a:rPr lang="en-US" sz="2500" dirty="0">
                <a:solidFill>
                  <a:srgbClr val="000000"/>
                </a:solidFill>
                <a:latin typeface="Cambria" panose="02040503050406030204" pitchFamily="18" charset="0"/>
              </a:rPr>
              <a:t> was used by convention. </a:t>
            </a:r>
          </a:p>
          <a:p>
            <a:pPr eaLnBrk="1" hangingPunct="1">
              <a:defRPr/>
            </a:pPr>
            <a:r>
              <a:rPr lang="en-US" sz="2500" dirty="0">
                <a:solidFill>
                  <a:srgbClr val="000000"/>
                </a:solidFill>
                <a:latin typeface="Cambria" panose="02040503050406030204" pitchFamily="18" charset="0"/>
              </a:rPr>
              <a:t>The value </a:t>
            </a:r>
            <a:r>
              <a:rPr lang="en-US" sz="2500" dirty="0">
                <a:solidFill>
                  <a:srgbClr val="000000"/>
                </a:solidFill>
                <a:latin typeface="Consolas" panose="020B0609020204030204" pitchFamily="49" charset="0"/>
              </a:rPr>
              <a:t>0</a:t>
            </a:r>
            <a:r>
              <a:rPr lang="en-US" sz="2500" dirty="0">
                <a:solidFill>
                  <a:srgbClr val="000000"/>
                </a:solidFill>
                <a:latin typeface="Cambria" panose="02040503050406030204" pitchFamily="18" charset="0"/>
              </a:rPr>
              <a:t> is the </a:t>
            </a:r>
            <a:r>
              <a:rPr lang="en-US" sz="2500" i="1" dirty="0">
                <a:solidFill>
                  <a:srgbClr val="000000"/>
                </a:solidFill>
                <a:latin typeface="Cambria" panose="02040503050406030204" pitchFamily="18" charset="0"/>
              </a:rPr>
              <a:t>only</a:t>
            </a:r>
            <a:r>
              <a:rPr lang="en-US" sz="2500" dirty="0">
                <a:solidFill>
                  <a:srgbClr val="000000"/>
                </a:solidFill>
                <a:latin typeface="Cambria" panose="02040503050406030204" pitchFamily="18" charset="0"/>
              </a:rPr>
              <a:t> integer value that can be assigned directly to a pointer variable without first </a:t>
            </a:r>
            <a:r>
              <a:rPr lang="en-US" sz="2500" i="1" dirty="0">
                <a:solidFill>
                  <a:srgbClr val="000000"/>
                </a:solidFill>
                <a:latin typeface="Cambria" panose="02040503050406030204" pitchFamily="18" charset="0"/>
              </a:rPr>
              <a:t>casting</a:t>
            </a:r>
            <a:r>
              <a:rPr lang="en-US" sz="2500" dirty="0">
                <a:solidFill>
                  <a:srgbClr val="000000"/>
                </a:solidFill>
                <a:latin typeface="Cambria" panose="02040503050406030204" pitchFamily="18" charset="0"/>
              </a:rPr>
              <a:t> the integer to a pointer type. </a:t>
            </a:r>
          </a:p>
        </p:txBody>
      </p:sp>
      <p:sp>
        <p:nvSpPr>
          <p:cNvPr id="19460" name="Footer Placeholder 3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/>
              <a:t>©1992-2017 by Pearson Education, Inc. All Rights Reserved.</a:t>
            </a: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>
                <a:solidFill>
                  <a:srgbClr val="24B5A1"/>
                </a:solidFill>
                <a:latin typeface="Calibri" panose="020F0502020204030204" pitchFamily="34" charset="0"/>
              </a:rPr>
              <a:t>8.3.1  </a:t>
            </a:r>
            <a:r>
              <a:rPr lang="en-US" dirty="0">
                <a:solidFill>
                  <a:srgbClr val="3380E6"/>
                </a:solidFill>
                <a:latin typeface="Calibri" panose="020F0502020204030204" pitchFamily="34" charset="0"/>
              </a:rPr>
              <a:t>Address (&amp;) Operator</a:t>
            </a:r>
          </a:p>
        </p:txBody>
      </p:sp>
      <p:sp>
        <p:nvSpPr>
          <p:cNvPr id="23555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  <a:defRPr/>
            </a:pPr>
            <a:r>
              <a:rPr lang="en-GB" sz="2400" dirty="0"/>
              <a:t>The address operator (&amp;) is a unary operator that obtains the memory address of its operand.</a:t>
            </a:r>
            <a:endParaRPr lang="en-US" sz="2500" dirty="0">
              <a:solidFill>
                <a:srgbClr val="000000"/>
              </a:solidFill>
              <a:latin typeface="Cambria" panose="02040503050406030204" pitchFamily="18" charset="0"/>
            </a:endParaRPr>
          </a:p>
        </p:txBody>
      </p:sp>
      <p:sp>
        <p:nvSpPr>
          <p:cNvPr id="23556" name="Footer Placeholder 3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/>
              <a:t>©1992-2017 by Pearson Education, Inc. All Rights Reserved.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3018" y="3015456"/>
            <a:ext cx="6557963" cy="145732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8_Page_14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269332"/>
            <a:ext cx="9144000" cy="2318147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©1992-2017 by Pearson Education, Inc.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60354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>
                <a:solidFill>
                  <a:srgbClr val="24B5A1"/>
                </a:solidFill>
                <a:latin typeface="Calibri" panose="020F0502020204030204" pitchFamily="34" charset="0"/>
              </a:rPr>
              <a:t>8.3.2  </a:t>
            </a:r>
            <a:r>
              <a:rPr lang="en-US" dirty="0">
                <a:solidFill>
                  <a:srgbClr val="3380E6"/>
                </a:solidFill>
                <a:latin typeface="Calibri" panose="020F0502020204030204" pitchFamily="34" charset="0"/>
              </a:rPr>
              <a:t>Indirection (*) Operator</a:t>
            </a:r>
          </a:p>
        </p:txBody>
      </p:sp>
      <p:sp>
        <p:nvSpPr>
          <p:cNvPr id="23555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  <a:defRPr/>
            </a:pPr>
            <a:r>
              <a:rPr lang="en-US" sz="2500" dirty="0">
                <a:solidFill>
                  <a:srgbClr val="000000"/>
                </a:solidFill>
                <a:latin typeface="Cambria" panose="02040503050406030204" pitchFamily="18" charset="0"/>
              </a:rPr>
              <a:t>The</a:t>
            </a:r>
            <a:r>
              <a:rPr lang="en-US" sz="2500" dirty="0">
                <a:solidFill>
                  <a:srgbClr val="0000FF"/>
                </a:solidFill>
                <a:latin typeface="Cambria" panose="02040503050406030204" pitchFamily="18" charset="0"/>
              </a:rPr>
              <a:t> unary </a:t>
            </a:r>
            <a:r>
              <a:rPr lang="en-US" sz="2500" dirty="0">
                <a:solidFill>
                  <a:srgbClr val="0000FF"/>
                </a:solidFill>
                <a:latin typeface="Consolas" panose="020B0609020204030204" pitchFamily="49" charset="0"/>
              </a:rPr>
              <a:t>*</a:t>
            </a:r>
            <a:r>
              <a:rPr lang="en-US" sz="2500" dirty="0">
                <a:solidFill>
                  <a:srgbClr val="0000FF"/>
                </a:solidFill>
                <a:latin typeface="Cambria" panose="02040503050406030204" pitchFamily="18" charset="0"/>
              </a:rPr>
              <a:t> operator</a:t>
            </a:r>
            <a:r>
              <a:rPr lang="en-US" sz="2500" dirty="0">
                <a:solidFill>
                  <a:srgbClr val="000000"/>
                </a:solidFill>
                <a:latin typeface="Cambria" panose="02040503050406030204" pitchFamily="18" charset="0"/>
              </a:rPr>
              <a:t>—commonly referred to as the </a:t>
            </a:r>
            <a:r>
              <a:rPr lang="en-US" sz="2500" dirty="0">
                <a:solidFill>
                  <a:srgbClr val="0000FF"/>
                </a:solidFill>
                <a:latin typeface="Cambria" panose="02040503050406030204" pitchFamily="18" charset="0"/>
              </a:rPr>
              <a:t>indirection operator</a:t>
            </a:r>
            <a:r>
              <a:rPr lang="en-US" sz="2500" dirty="0">
                <a:solidFill>
                  <a:srgbClr val="000000"/>
                </a:solidFill>
                <a:latin typeface="Cambria" panose="02040503050406030204" pitchFamily="18" charset="0"/>
              </a:rPr>
              <a:t> or </a:t>
            </a:r>
            <a:r>
              <a:rPr lang="en-US" sz="2500" dirty="0">
                <a:solidFill>
                  <a:srgbClr val="0000FF"/>
                </a:solidFill>
                <a:latin typeface="Cambria" panose="02040503050406030204" pitchFamily="18" charset="0"/>
              </a:rPr>
              <a:t>dereferencing operator</a:t>
            </a:r>
            <a:r>
              <a:rPr lang="en-US" sz="2500" dirty="0">
                <a:solidFill>
                  <a:srgbClr val="000000"/>
                </a:solidFill>
                <a:latin typeface="Cambria" panose="02040503050406030204" pitchFamily="18" charset="0"/>
              </a:rPr>
              <a:t>—</a:t>
            </a:r>
            <a:r>
              <a:rPr lang="en-US" sz="2500" i="1" dirty="0">
                <a:solidFill>
                  <a:srgbClr val="000000"/>
                </a:solidFill>
                <a:latin typeface="Cambria" panose="02040503050406030204" pitchFamily="18" charset="0"/>
              </a:rPr>
              <a:t>returns an lvalue representing the object to which its pointer operand points. 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sz="2100" dirty="0">
                <a:solidFill>
                  <a:srgbClr val="000000"/>
                </a:solidFill>
                <a:latin typeface="Cambria" panose="02040503050406030204" pitchFamily="18" charset="0"/>
              </a:rPr>
              <a:t>Called </a:t>
            </a:r>
            <a:r>
              <a:rPr lang="en-US" sz="2100" dirty="0">
                <a:solidFill>
                  <a:srgbClr val="0000FF"/>
                </a:solidFill>
                <a:latin typeface="Cambria" panose="02040503050406030204" pitchFamily="18" charset="0"/>
              </a:rPr>
              <a:t>dereferencing a pointer</a:t>
            </a:r>
          </a:p>
          <a:p>
            <a:pPr eaLnBrk="1" hangingPunct="1">
              <a:lnSpc>
                <a:spcPct val="80000"/>
              </a:lnSpc>
              <a:defRPr/>
            </a:pPr>
            <a:r>
              <a:rPr lang="en-US" sz="2500" dirty="0">
                <a:solidFill>
                  <a:srgbClr val="000000"/>
                </a:solidFill>
                <a:latin typeface="Cambria" panose="02040503050406030204" pitchFamily="18" charset="0"/>
              </a:rPr>
              <a:t>A </a:t>
            </a:r>
            <a:r>
              <a:rPr lang="en-US" sz="2500" i="1" dirty="0">
                <a:solidFill>
                  <a:srgbClr val="000000"/>
                </a:solidFill>
                <a:latin typeface="Cambria" panose="02040503050406030204" pitchFamily="18" charset="0"/>
              </a:rPr>
              <a:t>dereferenced pointer </a:t>
            </a:r>
            <a:r>
              <a:rPr lang="en-US" sz="2500" dirty="0">
                <a:solidFill>
                  <a:srgbClr val="000000"/>
                </a:solidFill>
                <a:latin typeface="Cambria" panose="02040503050406030204" pitchFamily="18" charset="0"/>
              </a:rPr>
              <a:t>may also be used as an </a:t>
            </a:r>
            <a:r>
              <a:rPr lang="en-US" sz="2500" i="1" dirty="0" err="1">
                <a:solidFill>
                  <a:srgbClr val="000000"/>
                </a:solidFill>
                <a:latin typeface="Cambria" panose="02040503050406030204" pitchFamily="18" charset="0"/>
              </a:rPr>
              <a:t>lvalue</a:t>
            </a:r>
            <a:r>
              <a:rPr lang="en-US" sz="2500" dirty="0">
                <a:solidFill>
                  <a:srgbClr val="000000"/>
                </a:solidFill>
                <a:latin typeface="Cambria" panose="02040503050406030204" pitchFamily="18" charset="0"/>
              </a:rPr>
              <a:t> on the </a:t>
            </a:r>
            <a:r>
              <a:rPr lang="en-US" sz="2500" i="1" dirty="0">
                <a:solidFill>
                  <a:srgbClr val="000000"/>
                </a:solidFill>
                <a:latin typeface="Cambria" panose="02040503050406030204" pitchFamily="18" charset="0"/>
              </a:rPr>
              <a:t>left</a:t>
            </a:r>
            <a:r>
              <a:rPr lang="en-US" sz="2500" dirty="0">
                <a:solidFill>
                  <a:srgbClr val="000000"/>
                </a:solidFill>
                <a:latin typeface="Cambria" panose="02040503050406030204" pitchFamily="18" charset="0"/>
              </a:rPr>
              <a:t> side of an assignment.</a:t>
            </a:r>
          </a:p>
        </p:txBody>
      </p:sp>
      <p:sp>
        <p:nvSpPr>
          <p:cNvPr id="23556" name="Footer Placeholder 3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/>
              <a:t>©1992-2017 by Pearson Education, Inc.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2329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>
                <a:solidFill>
                  <a:srgbClr val="24B5A1"/>
                </a:solidFill>
                <a:latin typeface="Calibri" panose="020F0502020204030204" pitchFamily="34" charset="0"/>
              </a:rPr>
              <a:t>8.3.2  </a:t>
            </a:r>
            <a:r>
              <a:rPr lang="en-US" dirty="0">
                <a:solidFill>
                  <a:srgbClr val="3380E6"/>
                </a:solidFill>
                <a:latin typeface="Calibri" panose="020F0502020204030204" pitchFamily="34" charset="0"/>
              </a:rPr>
              <a:t>Indirection (*) Operator</a:t>
            </a:r>
          </a:p>
        </p:txBody>
      </p:sp>
      <p:sp>
        <p:nvSpPr>
          <p:cNvPr id="23556" name="Footer Placeholder 3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/>
              <a:t>©1992-2017 by Pearson Education, Inc. All Rights Reserved.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00" y="1524000"/>
            <a:ext cx="5562600" cy="4583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64509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8_Page_15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82366"/>
            <a:ext cx="9144000" cy="3293269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©1992-2017 by Pearson Education, Inc.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75547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8_Page_16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190750"/>
            <a:ext cx="9144000" cy="247531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©1992-2017 by Pearson Education, Inc.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92576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©1992-2017 by Pearson Education, Inc. All Rights Reserved.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324" y="381000"/>
            <a:ext cx="8800541" cy="533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63081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dirty="0">
                <a:solidFill>
                  <a:srgbClr val="24B5A1"/>
                </a:solidFill>
                <a:latin typeface="Calibri" panose="020F0502020204030204" pitchFamily="34" charset="0"/>
              </a:rPr>
              <a:t>8.3.3  </a:t>
            </a:r>
            <a:r>
              <a:rPr lang="en-US" dirty="0">
                <a:solidFill>
                  <a:srgbClr val="3380E6"/>
                </a:solidFill>
                <a:latin typeface="Calibri" panose="020F0502020204030204" pitchFamily="34" charset="0"/>
              </a:rPr>
              <a:t>Exercise</a:t>
            </a:r>
          </a:p>
        </p:txBody>
      </p:sp>
      <p:sp>
        <p:nvSpPr>
          <p:cNvPr id="3072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>
                <a:solidFill>
                  <a:srgbClr val="000000"/>
                </a:solidFill>
                <a:latin typeface="Cambria" panose="02040503050406030204" pitchFamily="18" charset="0"/>
              </a:rPr>
              <a:t>Define a double variable var. Initialize it  to 6.57.</a:t>
            </a:r>
          </a:p>
          <a:p>
            <a:pPr eaLnBrk="1" hangingPunct="1">
              <a:defRPr/>
            </a:pPr>
            <a:r>
              <a:rPr lang="en-US" dirty="0">
                <a:solidFill>
                  <a:srgbClr val="000000"/>
                </a:solidFill>
                <a:latin typeface="Cambria" panose="02040503050406030204" pitchFamily="18" charset="0"/>
              </a:rPr>
              <a:t>Print the value of var.</a:t>
            </a:r>
          </a:p>
          <a:p>
            <a:pPr eaLnBrk="1" hangingPunct="1">
              <a:defRPr/>
            </a:pPr>
            <a:r>
              <a:rPr lang="en-US" dirty="0">
                <a:solidFill>
                  <a:srgbClr val="000000"/>
                </a:solidFill>
                <a:latin typeface="Cambria" panose="02040503050406030204" pitchFamily="18" charset="0"/>
              </a:rPr>
              <a:t>Print the address of that variable.</a:t>
            </a:r>
          </a:p>
          <a:p>
            <a:pPr eaLnBrk="1" hangingPunct="1">
              <a:defRPr/>
            </a:pPr>
            <a:r>
              <a:rPr lang="en-US" dirty="0">
                <a:solidFill>
                  <a:srgbClr val="000000"/>
                </a:solidFill>
                <a:latin typeface="Cambria" panose="02040503050406030204" pitchFamily="18" charset="0"/>
              </a:rPr>
              <a:t>Define a pointer </a:t>
            </a:r>
            <a:r>
              <a:rPr lang="en-US" dirty="0" err="1">
                <a:solidFill>
                  <a:srgbClr val="000000"/>
                </a:solidFill>
                <a:latin typeface="Cambria" panose="02040503050406030204" pitchFamily="18" charset="0"/>
              </a:rPr>
              <a:t>varPtr</a:t>
            </a:r>
            <a:r>
              <a:rPr lang="en-US" dirty="0">
                <a:solidFill>
                  <a:srgbClr val="000000"/>
                </a:solidFill>
                <a:latin typeface="Cambria" panose="02040503050406030204" pitchFamily="18" charset="0"/>
              </a:rPr>
              <a:t> pointing to var.</a:t>
            </a:r>
          </a:p>
          <a:p>
            <a:pPr eaLnBrk="1" hangingPunct="1">
              <a:defRPr/>
            </a:pPr>
            <a:r>
              <a:rPr lang="en-US" dirty="0">
                <a:solidFill>
                  <a:srgbClr val="000000"/>
                </a:solidFill>
                <a:latin typeface="Cambria" panose="02040503050406030204" pitchFamily="18" charset="0"/>
              </a:rPr>
              <a:t>Print the value of </a:t>
            </a:r>
            <a:r>
              <a:rPr lang="en-US" dirty="0" err="1">
                <a:solidFill>
                  <a:srgbClr val="000000"/>
                </a:solidFill>
                <a:latin typeface="Cambria" panose="02040503050406030204" pitchFamily="18" charset="0"/>
              </a:rPr>
              <a:t>varPtr</a:t>
            </a:r>
            <a:r>
              <a:rPr lang="en-US" dirty="0">
                <a:solidFill>
                  <a:srgbClr val="000000"/>
                </a:solidFill>
                <a:latin typeface="Cambria" panose="02040503050406030204" pitchFamily="18" charset="0"/>
              </a:rPr>
              <a:t> (that is, </a:t>
            </a:r>
            <a:r>
              <a:rPr lang="en-US" dirty="0" err="1">
                <a:solidFill>
                  <a:srgbClr val="000000"/>
                </a:solidFill>
                <a:latin typeface="Cambria" panose="02040503050406030204" pitchFamily="18" charset="0"/>
              </a:rPr>
              <a:t>cout</a:t>
            </a:r>
            <a:r>
              <a:rPr lang="en-US" dirty="0">
                <a:solidFill>
                  <a:srgbClr val="000000"/>
                </a:solidFill>
                <a:latin typeface="Cambria" panose="02040503050406030204" pitchFamily="18" charset="0"/>
              </a:rPr>
              <a:t> &lt;&lt; </a:t>
            </a:r>
            <a:r>
              <a:rPr lang="en-US" dirty="0" err="1">
                <a:solidFill>
                  <a:srgbClr val="000000"/>
                </a:solidFill>
                <a:latin typeface="Cambria" panose="02040503050406030204" pitchFamily="18" charset="0"/>
              </a:rPr>
              <a:t>varPtr</a:t>
            </a:r>
            <a:r>
              <a:rPr lang="en-US" dirty="0">
                <a:solidFill>
                  <a:srgbClr val="000000"/>
                </a:solidFill>
                <a:latin typeface="Cambria" panose="02040503050406030204" pitchFamily="18" charset="0"/>
              </a:rPr>
              <a:t>;).</a:t>
            </a:r>
          </a:p>
          <a:p>
            <a:pPr eaLnBrk="1" hangingPunct="1">
              <a:defRPr/>
            </a:pPr>
            <a:r>
              <a:rPr lang="en-US" dirty="0">
                <a:solidFill>
                  <a:srgbClr val="000000"/>
                </a:solidFill>
                <a:latin typeface="Cambria" panose="02040503050406030204" pitchFamily="18" charset="0"/>
              </a:rPr>
              <a:t>Print the dereferenced value of </a:t>
            </a:r>
            <a:r>
              <a:rPr lang="en-US" dirty="0" err="1">
                <a:solidFill>
                  <a:srgbClr val="000000"/>
                </a:solidFill>
                <a:latin typeface="Cambria" panose="02040503050406030204" pitchFamily="18" charset="0"/>
              </a:rPr>
              <a:t>varPtr</a:t>
            </a:r>
            <a:r>
              <a:rPr lang="en-US" dirty="0">
                <a:solidFill>
                  <a:srgbClr val="000000"/>
                </a:solidFill>
                <a:latin typeface="Cambria" panose="02040503050406030204" pitchFamily="18" charset="0"/>
              </a:rPr>
              <a:t> (using *).</a:t>
            </a:r>
          </a:p>
          <a:p>
            <a:pPr eaLnBrk="1" hangingPunct="1">
              <a:defRPr/>
            </a:pPr>
            <a:r>
              <a:rPr lang="en-US" dirty="0">
                <a:solidFill>
                  <a:srgbClr val="000000"/>
                </a:solidFill>
                <a:latin typeface="Cambria" panose="02040503050406030204" pitchFamily="18" charset="0"/>
              </a:rPr>
              <a:t>Print the address of </a:t>
            </a:r>
            <a:r>
              <a:rPr lang="en-US" dirty="0" err="1">
                <a:solidFill>
                  <a:srgbClr val="000000"/>
                </a:solidFill>
                <a:latin typeface="Cambria" panose="02040503050406030204" pitchFamily="18" charset="0"/>
              </a:rPr>
              <a:t>varPtr</a:t>
            </a:r>
            <a:r>
              <a:rPr lang="en-US" dirty="0">
                <a:solidFill>
                  <a:srgbClr val="000000"/>
                </a:solidFill>
                <a:latin typeface="Cambria" panose="02040503050406030204" pitchFamily="18" charset="0"/>
              </a:rPr>
              <a:t>.</a:t>
            </a:r>
          </a:p>
          <a:p>
            <a:pPr eaLnBrk="1" hangingPunct="1">
              <a:defRPr/>
            </a:pPr>
            <a:r>
              <a:rPr lang="en-US" dirty="0">
                <a:solidFill>
                  <a:srgbClr val="000000"/>
                </a:solidFill>
                <a:latin typeface="Cambria" panose="02040503050406030204" pitchFamily="18" charset="0"/>
              </a:rPr>
              <a:t>Write </a:t>
            </a:r>
            <a:r>
              <a:rPr lang="en-US" dirty="0" err="1">
                <a:solidFill>
                  <a:srgbClr val="000000"/>
                </a:solidFill>
                <a:latin typeface="Cambria" panose="02040503050406030204" pitchFamily="18" charset="0"/>
              </a:rPr>
              <a:t>cout</a:t>
            </a:r>
            <a:r>
              <a:rPr lang="en-US" dirty="0">
                <a:solidFill>
                  <a:srgbClr val="000000"/>
                </a:solidFill>
                <a:latin typeface="Cambria" panose="02040503050406030204" pitchFamily="18" charset="0"/>
              </a:rPr>
              <a:t> &lt;&lt; *&amp;var; what do you get?</a:t>
            </a:r>
          </a:p>
          <a:p>
            <a:pPr eaLnBrk="1" hangingPunct="1">
              <a:defRPr/>
            </a:pPr>
            <a:r>
              <a:rPr lang="en-US" dirty="0">
                <a:solidFill>
                  <a:srgbClr val="000000"/>
                </a:solidFill>
                <a:latin typeface="Cambria" panose="02040503050406030204" pitchFamily="18" charset="0"/>
              </a:rPr>
              <a:t>Write </a:t>
            </a:r>
            <a:r>
              <a:rPr lang="en-US" dirty="0" err="1">
                <a:solidFill>
                  <a:srgbClr val="000000"/>
                </a:solidFill>
                <a:latin typeface="Cambria" panose="02040503050406030204" pitchFamily="18" charset="0"/>
              </a:rPr>
              <a:t>cout</a:t>
            </a:r>
            <a:r>
              <a:rPr lang="en-US" dirty="0">
                <a:solidFill>
                  <a:srgbClr val="000000"/>
                </a:solidFill>
                <a:latin typeface="Cambria" panose="02040503050406030204" pitchFamily="18" charset="0"/>
              </a:rPr>
              <a:t> &lt;&lt; &amp;*</a:t>
            </a:r>
            <a:r>
              <a:rPr lang="en-US" dirty="0" err="1">
                <a:solidFill>
                  <a:srgbClr val="000000"/>
                </a:solidFill>
                <a:latin typeface="Cambria" panose="02040503050406030204" pitchFamily="18" charset="0"/>
              </a:rPr>
              <a:t>varPtr</a:t>
            </a:r>
            <a:r>
              <a:rPr lang="en-US" dirty="0">
                <a:solidFill>
                  <a:srgbClr val="000000"/>
                </a:solidFill>
                <a:latin typeface="Cambria" panose="02040503050406030204" pitchFamily="18" charset="0"/>
              </a:rPr>
              <a:t>; what do you get?</a:t>
            </a:r>
          </a:p>
        </p:txBody>
      </p:sp>
      <p:sp>
        <p:nvSpPr>
          <p:cNvPr id="31748" name="Footer Placeholder 3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/>
              <a:t>©1992-2017 by Pearson Education, Inc. All Rights Reserved.</a:t>
            </a:r>
            <a:endParaRPr 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rgbClr val="24B5A1"/>
                </a:solidFill>
                <a:latin typeface="Calibri" panose="020F0502020204030204" pitchFamily="34" charset="0"/>
              </a:rPr>
              <a:t>8.4  </a:t>
            </a:r>
            <a:r>
              <a:rPr lang="en-US" dirty="0">
                <a:solidFill>
                  <a:srgbClr val="3380E6"/>
                </a:solidFill>
                <a:latin typeface="Calibri" panose="020F0502020204030204" pitchFamily="34" charset="0"/>
              </a:rPr>
              <a:t>Pass-by-Reference with Pointers</a:t>
            </a:r>
          </a:p>
        </p:txBody>
      </p:sp>
      <p:sp>
        <p:nvSpPr>
          <p:cNvPr id="34819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525963"/>
          </a:xfrm>
        </p:spPr>
        <p:txBody>
          <a:bodyPr/>
          <a:lstStyle/>
          <a:p>
            <a:pPr eaLnBrk="1" hangingPunct="1"/>
            <a:r>
              <a:rPr lang="en-US" altLang="en-US" sz="2500" dirty="0">
                <a:solidFill>
                  <a:srgbClr val="000000"/>
                </a:solidFill>
                <a:latin typeface="Cambria" panose="02040503050406030204" pitchFamily="18" charset="0"/>
              </a:rPr>
              <a:t>There are three ways in C++ to pass arguments to a function</a:t>
            </a:r>
          </a:p>
          <a:p>
            <a:pPr lvl="1"/>
            <a:r>
              <a:rPr lang="en-US" altLang="en-US" sz="2100" dirty="0">
                <a:solidFill>
                  <a:srgbClr val="000000"/>
                </a:solidFill>
                <a:latin typeface="Cambria" panose="02040503050406030204" pitchFamily="18" charset="0"/>
              </a:rPr>
              <a:t>pass-by-value</a:t>
            </a:r>
          </a:p>
          <a:p>
            <a:pPr lvl="1"/>
            <a:r>
              <a:rPr lang="en-US" altLang="en-US" sz="2100" dirty="0">
                <a:latin typeface="Cambria" panose="02040503050406030204" pitchFamily="18" charset="0"/>
              </a:rPr>
              <a:t>pass-by-reference with reference arguments </a:t>
            </a:r>
            <a:endParaRPr lang="en-US" altLang="en-US" sz="2100" dirty="0">
              <a:solidFill>
                <a:srgbClr val="000000"/>
              </a:solidFill>
              <a:latin typeface="Cambria" panose="02040503050406030204" pitchFamily="18" charset="0"/>
            </a:endParaRPr>
          </a:p>
          <a:p>
            <a:pPr lvl="1"/>
            <a:r>
              <a:rPr lang="en-US" altLang="en-US" sz="2100" dirty="0">
                <a:solidFill>
                  <a:srgbClr val="0000FF"/>
                </a:solidFill>
                <a:latin typeface="Cambria" panose="02040503050406030204" pitchFamily="18" charset="0"/>
              </a:rPr>
              <a:t>pass-by-reference with pointer arguments</a:t>
            </a:r>
            <a:r>
              <a:rPr lang="en-US" altLang="en-US" sz="2100" dirty="0">
                <a:solidFill>
                  <a:srgbClr val="000000"/>
                </a:solidFill>
                <a:latin typeface="Cambria" panose="02040503050406030204" pitchFamily="18" charset="0"/>
              </a:rPr>
              <a:t>.</a:t>
            </a:r>
          </a:p>
          <a:p>
            <a:pPr eaLnBrk="1" hangingPunct="1"/>
            <a:r>
              <a:rPr lang="en-US" altLang="en-US" sz="2500" dirty="0">
                <a:solidFill>
                  <a:srgbClr val="000000"/>
                </a:solidFill>
                <a:latin typeface="Cambria" panose="02040503050406030204" pitchFamily="18" charset="0"/>
              </a:rPr>
              <a:t>Here, we explain pass-by-reference with pointer arguments.</a:t>
            </a:r>
          </a:p>
          <a:p>
            <a:pPr eaLnBrk="1" hangingPunct="1"/>
            <a:endParaRPr lang="en-US" altLang="en-US" sz="2400" dirty="0">
              <a:solidFill>
                <a:srgbClr val="000000"/>
              </a:solidFill>
              <a:latin typeface="Cambria" panose="02040503050406030204" pitchFamily="18" charset="0"/>
            </a:endParaRPr>
          </a:p>
          <a:p>
            <a:pPr eaLnBrk="1" hangingPunct="1"/>
            <a:endParaRPr lang="en-US" altLang="en-US" sz="2500" dirty="0">
              <a:solidFill>
                <a:srgbClr val="000000"/>
              </a:solidFill>
              <a:latin typeface="Cambria" panose="02040503050406030204" pitchFamily="18" charset="0"/>
            </a:endParaRPr>
          </a:p>
        </p:txBody>
      </p:sp>
      <p:sp>
        <p:nvSpPr>
          <p:cNvPr id="33796" name="Footer Placeholder 3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/>
              <a:t>©1992-2017 by Pearson Education, Inc. All Rights Reserved.</a:t>
            </a:r>
            <a:endParaRPr 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rgbClr val="24B5A1"/>
                </a:solidFill>
                <a:latin typeface="Calibri" panose="020F0502020204030204" pitchFamily="34" charset="0"/>
              </a:rPr>
              <a:t>8.4  </a:t>
            </a:r>
            <a:r>
              <a:rPr lang="en-US" dirty="0">
                <a:solidFill>
                  <a:srgbClr val="3380E6"/>
                </a:solidFill>
                <a:latin typeface="Calibri" panose="020F0502020204030204" pitchFamily="34" charset="0"/>
              </a:rPr>
              <a:t>Exercises</a:t>
            </a:r>
          </a:p>
        </p:txBody>
      </p:sp>
      <p:sp>
        <p:nvSpPr>
          <p:cNvPr id="34819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525963"/>
          </a:xfrm>
        </p:spPr>
        <p:txBody>
          <a:bodyPr/>
          <a:lstStyle/>
          <a:p>
            <a:pPr marL="109537" indent="0">
              <a:buNone/>
            </a:pPr>
            <a:r>
              <a:rPr lang="en-US" sz="1800" dirty="0"/>
              <a:t>For each of the following, write a single statement that performs the specified task. Assume that long variables value1 and value2 have been declared and value1 has been initialized to 200000.</a:t>
            </a:r>
          </a:p>
          <a:p>
            <a:pPr marL="452437" indent="-342900">
              <a:buFont typeface="+mj-lt"/>
              <a:buAutoNum type="alphaLcParenR"/>
            </a:pPr>
            <a:r>
              <a:rPr lang="en-US" sz="1800" dirty="0"/>
              <a:t>Declare the variable </a:t>
            </a:r>
            <a:r>
              <a:rPr lang="en-US" sz="1800" dirty="0" err="1"/>
              <a:t>longPtr</a:t>
            </a:r>
            <a:r>
              <a:rPr lang="en-US" sz="1800" dirty="0"/>
              <a:t> to be a pointer to an object of type long.</a:t>
            </a:r>
          </a:p>
          <a:p>
            <a:pPr marL="452437" indent="-342900">
              <a:buFont typeface="+mj-lt"/>
              <a:buAutoNum type="alphaLcParenR"/>
            </a:pPr>
            <a:r>
              <a:rPr lang="en-US" sz="1800" dirty="0"/>
              <a:t>Assign the address of variable value1 to pointer variable </a:t>
            </a:r>
            <a:r>
              <a:rPr lang="en-US" sz="1800" dirty="0" err="1"/>
              <a:t>longPtr</a:t>
            </a:r>
            <a:r>
              <a:rPr lang="en-US" sz="1800" dirty="0"/>
              <a:t>.</a:t>
            </a:r>
          </a:p>
          <a:p>
            <a:pPr marL="452437" indent="-342900">
              <a:buFont typeface="+mj-lt"/>
              <a:buAutoNum type="alphaLcParenR"/>
            </a:pPr>
            <a:r>
              <a:rPr lang="en-US" sz="1800" dirty="0"/>
              <a:t>Print the value of the object pointed to by </a:t>
            </a:r>
            <a:r>
              <a:rPr lang="en-US" sz="1800" dirty="0" err="1"/>
              <a:t>longPtr</a:t>
            </a:r>
            <a:r>
              <a:rPr lang="en-US" sz="1800" dirty="0"/>
              <a:t>.</a:t>
            </a:r>
          </a:p>
          <a:p>
            <a:pPr marL="452437" indent="-342900">
              <a:buFont typeface="+mj-lt"/>
              <a:buAutoNum type="alphaLcParenR"/>
            </a:pPr>
            <a:r>
              <a:rPr lang="en-US" sz="1800" dirty="0"/>
              <a:t>Assign the value of the object pointed to by </a:t>
            </a:r>
            <a:r>
              <a:rPr lang="en-US" sz="1800" dirty="0" err="1"/>
              <a:t>longPtr</a:t>
            </a:r>
            <a:r>
              <a:rPr lang="en-US" sz="1800" dirty="0"/>
              <a:t> to variable value2.</a:t>
            </a:r>
          </a:p>
          <a:p>
            <a:pPr marL="452437" indent="-342900">
              <a:buFont typeface="+mj-lt"/>
              <a:buAutoNum type="alphaLcParenR"/>
            </a:pPr>
            <a:r>
              <a:rPr lang="en-US" sz="1800" dirty="0"/>
              <a:t>Print the value of value2.</a:t>
            </a:r>
          </a:p>
          <a:p>
            <a:pPr marL="452437" indent="-342900">
              <a:buFont typeface="+mj-lt"/>
              <a:buAutoNum type="alphaLcParenR"/>
            </a:pPr>
            <a:r>
              <a:rPr lang="en-US" sz="1800" dirty="0"/>
              <a:t>Print the address of value1.</a:t>
            </a:r>
          </a:p>
          <a:p>
            <a:pPr marL="452437" indent="-342900">
              <a:buFont typeface="+mj-lt"/>
              <a:buAutoNum type="alphaLcParenR"/>
            </a:pPr>
            <a:r>
              <a:rPr lang="en-US" sz="1800" dirty="0"/>
              <a:t>Print the address stored in </a:t>
            </a:r>
            <a:r>
              <a:rPr lang="en-US" sz="1800" dirty="0" err="1"/>
              <a:t>longPtr</a:t>
            </a:r>
            <a:r>
              <a:rPr lang="en-US" sz="1800" dirty="0"/>
              <a:t>. Is the value printed the same as value1’s address?</a:t>
            </a:r>
          </a:p>
          <a:p>
            <a:pPr marL="392113" lvl="1" indent="0">
              <a:buNone/>
            </a:pPr>
            <a:endParaRPr lang="en-US" altLang="en-US" sz="2500" dirty="0">
              <a:solidFill>
                <a:srgbClr val="000000"/>
              </a:solidFill>
              <a:latin typeface="Cambria" panose="02040503050406030204" pitchFamily="18" charset="0"/>
            </a:endParaRPr>
          </a:p>
          <a:p>
            <a:pPr eaLnBrk="1" hangingPunct="1"/>
            <a:endParaRPr lang="en-US" altLang="en-US" sz="2400" dirty="0">
              <a:solidFill>
                <a:srgbClr val="000000"/>
              </a:solidFill>
              <a:latin typeface="Cambria" panose="02040503050406030204" pitchFamily="18" charset="0"/>
            </a:endParaRPr>
          </a:p>
          <a:p>
            <a:pPr eaLnBrk="1" hangingPunct="1"/>
            <a:endParaRPr lang="en-US" altLang="en-US" sz="2500" dirty="0">
              <a:solidFill>
                <a:srgbClr val="000000"/>
              </a:solidFill>
              <a:latin typeface="Cambria" panose="02040503050406030204" pitchFamily="18" charset="0"/>
            </a:endParaRPr>
          </a:p>
        </p:txBody>
      </p:sp>
      <p:sp>
        <p:nvSpPr>
          <p:cNvPr id="33796" name="Footer Placeholder 3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/>
              <a:t>©1992-2017 by Pearson Education, Inc.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321268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rgbClr val="24B5A1"/>
                </a:solidFill>
                <a:latin typeface="Calibri" panose="020F0502020204030204" pitchFamily="34" charset="0"/>
              </a:rPr>
              <a:t>8.4  </a:t>
            </a:r>
            <a:r>
              <a:rPr lang="en-US" dirty="0">
                <a:solidFill>
                  <a:srgbClr val="3380E6"/>
                </a:solidFill>
                <a:latin typeface="Calibri" panose="020F0502020204030204" pitchFamily="34" charset="0"/>
              </a:rPr>
              <a:t>Pass-by-Reference with Pointers</a:t>
            </a:r>
          </a:p>
        </p:txBody>
      </p:sp>
      <p:sp>
        <p:nvSpPr>
          <p:cNvPr id="34819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525963"/>
          </a:xfrm>
        </p:spPr>
        <p:txBody>
          <a:bodyPr/>
          <a:lstStyle/>
          <a:p>
            <a:pPr eaLnBrk="1" hangingPunct="1"/>
            <a:r>
              <a:rPr lang="en-US" altLang="en-US" sz="2500" dirty="0">
                <a:solidFill>
                  <a:srgbClr val="000000"/>
                </a:solidFill>
                <a:latin typeface="Cambria" panose="02040503050406030204" pitchFamily="18" charset="0"/>
              </a:rPr>
              <a:t>Pointers can be used to modify one or more variables in the caller or to pass pointers to large data objects to avoid the overhead of copying the objects.</a:t>
            </a:r>
          </a:p>
          <a:p>
            <a:pPr eaLnBrk="1" hangingPunct="1"/>
            <a:r>
              <a:rPr lang="en-US" altLang="en-US" sz="2500" dirty="0">
                <a:solidFill>
                  <a:srgbClr val="000000"/>
                </a:solidFill>
                <a:latin typeface="Cambria" panose="02040503050406030204" pitchFamily="18" charset="0"/>
              </a:rPr>
              <a:t>You can use pointers and the indirection operator (</a:t>
            </a:r>
            <a:r>
              <a:rPr lang="en-US" altLang="en-US" sz="2500" dirty="0">
                <a:solidFill>
                  <a:srgbClr val="000000"/>
                </a:solidFill>
                <a:latin typeface="Consolas" panose="020B0609020204030204" pitchFamily="49" charset="0"/>
              </a:rPr>
              <a:t>*</a:t>
            </a:r>
            <a:r>
              <a:rPr lang="en-US" altLang="en-US" sz="2500" dirty="0">
                <a:solidFill>
                  <a:srgbClr val="000000"/>
                </a:solidFill>
                <a:latin typeface="Cambria" panose="02040503050406030204" pitchFamily="18" charset="0"/>
              </a:rPr>
              <a:t>) to accomplish pass-by-reference.</a:t>
            </a:r>
          </a:p>
          <a:p>
            <a:pPr eaLnBrk="1" hangingPunct="1"/>
            <a:r>
              <a:rPr lang="en-US" altLang="en-US" sz="2400" dirty="0">
                <a:solidFill>
                  <a:srgbClr val="000000"/>
                </a:solidFill>
                <a:latin typeface="Cambria" panose="02040503050406030204" pitchFamily="18" charset="0"/>
              </a:rPr>
              <a:t>When calling a function with an argument that should be modified, the </a:t>
            </a:r>
            <a:r>
              <a:rPr lang="en-US" altLang="en-US" sz="2400" i="1" dirty="0">
                <a:solidFill>
                  <a:srgbClr val="000000"/>
                </a:solidFill>
                <a:latin typeface="Cambria" panose="02040503050406030204" pitchFamily="18" charset="0"/>
              </a:rPr>
              <a:t>address</a:t>
            </a:r>
            <a:r>
              <a:rPr lang="en-US" altLang="en-US" sz="2400" dirty="0">
                <a:solidFill>
                  <a:srgbClr val="000000"/>
                </a:solidFill>
                <a:latin typeface="Cambria" panose="02040503050406030204" pitchFamily="18" charset="0"/>
              </a:rPr>
              <a:t> of the argument is passed.</a:t>
            </a:r>
          </a:p>
          <a:p>
            <a:pPr eaLnBrk="1" hangingPunct="1"/>
            <a:endParaRPr lang="en-US" altLang="en-US" sz="2500" dirty="0">
              <a:solidFill>
                <a:srgbClr val="000000"/>
              </a:solidFill>
              <a:latin typeface="Cambria" panose="02040503050406030204" pitchFamily="18" charset="0"/>
            </a:endParaRPr>
          </a:p>
        </p:txBody>
      </p:sp>
      <p:sp>
        <p:nvSpPr>
          <p:cNvPr id="33796" name="Footer Placeholder 3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/>
              <a:t>©1992-2017 by Pearson Education, Inc.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690409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rgbClr val="24B5A1"/>
                </a:solidFill>
                <a:latin typeface="Calibri" panose="020F0502020204030204" pitchFamily="34" charset="0"/>
              </a:rPr>
              <a:t>8.4  </a:t>
            </a:r>
            <a:r>
              <a:rPr lang="en-US" dirty="0">
                <a:solidFill>
                  <a:srgbClr val="3380E6"/>
                </a:solidFill>
                <a:latin typeface="Calibri" panose="020F0502020204030204" pitchFamily="34" charset="0"/>
              </a:rPr>
              <a:t>Pass-by-Reference with Pointers (cont.)</a:t>
            </a:r>
          </a:p>
        </p:txBody>
      </p:sp>
      <p:sp>
        <p:nvSpPr>
          <p:cNvPr id="33795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09537" indent="0" eaLnBrk="1" hangingPunct="1">
              <a:buFont typeface="Wingdings 3" panose="05040102010807070707" pitchFamily="18" charset="2"/>
              <a:buNone/>
              <a:defRPr/>
            </a:pPr>
            <a:r>
              <a:rPr lang="en-US" b="1" i="1" dirty="0">
                <a:solidFill>
                  <a:srgbClr val="000000"/>
                </a:solidFill>
                <a:latin typeface="Cambria" panose="02040503050406030204" pitchFamily="18" charset="0"/>
              </a:rPr>
              <a:t>An Example of Pass-By-Value</a:t>
            </a:r>
          </a:p>
          <a:p>
            <a:pPr>
              <a:defRPr/>
            </a:pPr>
            <a:r>
              <a:rPr lang="en-US" dirty="0">
                <a:solidFill>
                  <a:srgbClr val="000000"/>
                </a:solidFill>
                <a:latin typeface="Cambria" panose="02040503050406030204" pitchFamily="18" charset="0"/>
              </a:rPr>
              <a:t>Figure 8.6 passes variable number by value to function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cubeByValue</a:t>
            </a:r>
            <a:r>
              <a:rPr lang="en-US" dirty="0">
                <a:solidFill>
                  <a:srgbClr val="000000"/>
                </a:solidFill>
                <a:latin typeface="Cambria" panose="02040503050406030204" pitchFamily="18" charset="0"/>
              </a:rPr>
              <a:t>, which cubes its argument and passes the new value result back to 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main</a:t>
            </a:r>
            <a:r>
              <a:rPr lang="en-US" dirty="0">
                <a:solidFill>
                  <a:srgbClr val="000000"/>
                </a:solidFill>
                <a:latin typeface="Cambria" panose="02040503050406030204" pitchFamily="18" charset="0"/>
              </a:rPr>
              <a:t> using a 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return</a:t>
            </a:r>
            <a:r>
              <a:rPr lang="en-US" dirty="0">
                <a:solidFill>
                  <a:srgbClr val="000000"/>
                </a:solidFill>
                <a:latin typeface="Cambria" panose="02040503050406030204" pitchFamily="18" charset="0"/>
              </a:rPr>
              <a:t> statement. </a:t>
            </a:r>
          </a:p>
          <a:p>
            <a:pPr>
              <a:defRPr/>
            </a:pPr>
            <a:r>
              <a:rPr lang="en-US" dirty="0">
                <a:solidFill>
                  <a:srgbClr val="000000"/>
                </a:solidFill>
                <a:latin typeface="Cambria" panose="02040503050406030204" pitchFamily="18" charset="0"/>
              </a:rPr>
              <a:t>The calling function has the opportunity to examine the function call’s result before modifying any variable’s values. </a:t>
            </a:r>
          </a:p>
        </p:txBody>
      </p:sp>
      <p:sp>
        <p:nvSpPr>
          <p:cNvPr id="34820" name="Footer Placeholder 3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/>
              <a:t>©1992-2017 by Pearson Education, Inc. All Rights Reserved.</a:t>
            </a:r>
            <a:endParaRPr 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8_Page_20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48380"/>
            <a:ext cx="9144000" cy="6362068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©1992-2017 by Pearson Education, Inc.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057232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rgbClr val="24B5A1"/>
                </a:solidFill>
                <a:latin typeface="Calibri" panose="020F0502020204030204" pitchFamily="34" charset="0"/>
              </a:rPr>
              <a:t>8.4  </a:t>
            </a:r>
            <a:r>
              <a:rPr lang="en-US" dirty="0">
                <a:solidFill>
                  <a:srgbClr val="3380E6"/>
                </a:solidFill>
                <a:latin typeface="Calibri" panose="020F0502020204030204" pitchFamily="34" charset="0"/>
              </a:rPr>
              <a:t>Pass-by-Reference with Pointers (cont.)</a:t>
            </a:r>
          </a:p>
        </p:txBody>
      </p:sp>
      <p:sp>
        <p:nvSpPr>
          <p:cNvPr id="36867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09537" indent="0" eaLnBrk="1" hangingPunct="1">
              <a:buFont typeface="Wingdings 3" panose="05040102010807070707" pitchFamily="18" charset="2"/>
              <a:buNone/>
              <a:defRPr/>
            </a:pPr>
            <a:r>
              <a:rPr lang="en-US" b="1" i="1" dirty="0">
                <a:solidFill>
                  <a:srgbClr val="000000"/>
                </a:solidFill>
                <a:latin typeface="Cambria" panose="02040503050406030204" pitchFamily="18" charset="0"/>
              </a:rPr>
              <a:t>An Example of Pass-By-Reference with Pointers</a:t>
            </a:r>
          </a:p>
          <a:p>
            <a:pPr eaLnBrk="1" hangingPunct="1">
              <a:defRPr/>
            </a:pPr>
            <a:r>
              <a:rPr lang="en-US" dirty="0">
                <a:solidFill>
                  <a:srgbClr val="000000"/>
                </a:solidFill>
                <a:latin typeface="Cambria" panose="02040503050406030204" pitchFamily="18" charset="0"/>
              </a:rPr>
              <a:t>Figure 8.7 passes the variable 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number</a:t>
            </a:r>
            <a:r>
              <a:rPr lang="en-US" dirty="0">
                <a:solidFill>
                  <a:srgbClr val="000000"/>
                </a:solidFill>
                <a:latin typeface="Cambria" panose="02040503050406030204" pitchFamily="18" charset="0"/>
              </a:rPr>
              <a:t> to function 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cubeByReference</a:t>
            </a:r>
            <a:r>
              <a:rPr lang="en-US" dirty="0">
                <a:solidFill>
                  <a:srgbClr val="000000"/>
                </a:solidFill>
                <a:latin typeface="Cambria" panose="02040503050406030204" pitchFamily="18" charset="0"/>
              </a:rPr>
              <a:t> using pass-by-reference with a pointer argument—the address of 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number</a:t>
            </a:r>
            <a:r>
              <a:rPr lang="en-US" dirty="0">
                <a:solidFill>
                  <a:srgbClr val="000000"/>
                </a:solidFill>
                <a:latin typeface="Cambria" panose="02040503050406030204" pitchFamily="18" charset="0"/>
              </a:rPr>
              <a:t> is passed to the function.</a:t>
            </a:r>
          </a:p>
          <a:p>
            <a:pPr eaLnBrk="1" hangingPunct="1">
              <a:defRPr/>
            </a:pPr>
            <a:r>
              <a:rPr lang="en-US" dirty="0">
                <a:solidFill>
                  <a:srgbClr val="000000"/>
                </a:solidFill>
                <a:latin typeface="Cambria" panose="02040503050406030204" pitchFamily="18" charset="0"/>
              </a:rPr>
              <a:t>The function uses the dereferenced pointer to cube the value to which 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nPtr</a:t>
            </a:r>
            <a:r>
              <a:rPr lang="en-US" dirty="0">
                <a:solidFill>
                  <a:srgbClr val="000000"/>
                </a:solidFill>
                <a:latin typeface="Cambria" panose="02040503050406030204" pitchFamily="18" charset="0"/>
              </a:rPr>
              <a:t> points.</a:t>
            </a:r>
          </a:p>
          <a:p>
            <a:pPr>
              <a:defRPr/>
            </a:pPr>
            <a:r>
              <a:rPr lang="en-US" dirty="0">
                <a:solidFill>
                  <a:srgbClr val="000000"/>
                </a:solidFill>
                <a:latin typeface="Cambria" panose="02040503050406030204" pitchFamily="18" charset="0"/>
              </a:rPr>
              <a:t>This </a:t>
            </a:r>
            <a:r>
              <a:rPr lang="en-US" i="1" dirty="0">
                <a:solidFill>
                  <a:srgbClr val="000000"/>
                </a:solidFill>
                <a:latin typeface="Cambria" panose="02040503050406030204" pitchFamily="18" charset="0"/>
              </a:rPr>
              <a:t>directly</a:t>
            </a:r>
            <a:r>
              <a:rPr lang="en-US" dirty="0">
                <a:solidFill>
                  <a:srgbClr val="000000"/>
                </a:solidFill>
                <a:latin typeface="Cambria" panose="02040503050406030204" pitchFamily="18" charset="0"/>
              </a:rPr>
              <a:t> changes the value of 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number</a:t>
            </a:r>
            <a:r>
              <a:rPr lang="en-US" dirty="0">
                <a:solidFill>
                  <a:srgbClr val="000000"/>
                </a:solidFill>
                <a:latin typeface="Cambria" panose="02040503050406030204" pitchFamily="18" charset="0"/>
              </a:rPr>
              <a:t> in 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main</a:t>
            </a:r>
            <a:r>
              <a:rPr lang="en-US" dirty="0">
                <a:solidFill>
                  <a:srgbClr val="000000"/>
                </a:solidFill>
                <a:latin typeface="Cambria" panose="02040503050406030204" pitchFamily="18" charset="0"/>
              </a:rPr>
              <a:t>.</a:t>
            </a:r>
          </a:p>
        </p:txBody>
      </p:sp>
      <p:sp>
        <p:nvSpPr>
          <p:cNvPr id="37892" name="Footer Placeholder 3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/>
              <a:t>©1992-2017 by Pearson Education, Inc. All Rights Reserved.</a:t>
            </a:r>
            <a:endParaRPr lang="en-US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8_Page_21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0447"/>
            <a:ext cx="9144000" cy="657710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©1992-2017 by Pearson Education, Inc.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267794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rgbClr val="24B5A1"/>
                </a:solidFill>
                <a:latin typeface="Calibri" panose="020F0502020204030204" pitchFamily="34" charset="0"/>
              </a:rPr>
              <a:t>8.4  </a:t>
            </a:r>
            <a:r>
              <a:rPr lang="en-US" dirty="0">
                <a:solidFill>
                  <a:srgbClr val="3380E6"/>
                </a:solidFill>
                <a:latin typeface="Calibri" panose="020F0502020204030204" pitchFamily="34" charset="0"/>
              </a:rPr>
              <a:t>Pass-by-Reference with Pointers (cont.)</a:t>
            </a:r>
          </a:p>
        </p:txBody>
      </p:sp>
      <p:sp>
        <p:nvSpPr>
          <p:cNvPr id="36867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09537" indent="0" eaLnBrk="1" hangingPunct="1">
              <a:buFont typeface="Wingdings 3" panose="05040102010807070707" pitchFamily="18" charset="2"/>
              <a:buNone/>
              <a:defRPr/>
            </a:pPr>
            <a:r>
              <a:rPr lang="en-US" b="1" i="1" dirty="0">
                <a:solidFill>
                  <a:srgbClr val="000000"/>
                </a:solidFill>
                <a:latin typeface="Cambria" panose="02040503050406030204" pitchFamily="18" charset="0"/>
              </a:rPr>
              <a:t>Insight: All Arguments Are Passed By Value</a:t>
            </a:r>
          </a:p>
          <a:p>
            <a:pPr eaLnBrk="1" hangingPunct="1">
              <a:defRPr/>
            </a:pPr>
            <a:r>
              <a:rPr lang="en-US" dirty="0">
                <a:solidFill>
                  <a:srgbClr val="000000"/>
                </a:solidFill>
                <a:latin typeface="Cambria" panose="02040503050406030204" pitchFamily="18" charset="0"/>
              </a:rPr>
              <a:t>Passing a variable by reference with a pointer </a:t>
            </a:r>
            <a:r>
              <a:rPr lang="en-US" i="1" dirty="0">
                <a:solidFill>
                  <a:srgbClr val="000000"/>
                </a:solidFill>
                <a:latin typeface="Cambria" panose="02040503050406030204" pitchFamily="18" charset="0"/>
              </a:rPr>
              <a:t>does not actually pass anything by reference</a:t>
            </a:r>
            <a:r>
              <a:rPr lang="en-US" dirty="0">
                <a:solidFill>
                  <a:srgbClr val="000000"/>
                </a:solidFill>
                <a:latin typeface="Cambria" panose="02040503050406030204" pitchFamily="18" charset="0"/>
              </a:rPr>
              <a:t>—a pointer to that variable is </a:t>
            </a:r>
            <a:r>
              <a:rPr lang="en-US" i="1" dirty="0">
                <a:solidFill>
                  <a:srgbClr val="000000"/>
                </a:solidFill>
                <a:latin typeface="Cambria" panose="02040503050406030204" pitchFamily="18" charset="0"/>
              </a:rPr>
              <a:t>passed by value </a:t>
            </a:r>
            <a:r>
              <a:rPr lang="en-US" dirty="0">
                <a:solidFill>
                  <a:srgbClr val="000000"/>
                </a:solidFill>
                <a:latin typeface="Cambria" panose="02040503050406030204" pitchFamily="18" charset="0"/>
              </a:rPr>
              <a:t>and is </a:t>
            </a:r>
            <a:r>
              <a:rPr lang="en-US" i="1" dirty="0">
                <a:solidFill>
                  <a:srgbClr val="000000"/>
                </a:solidFill>
                <a:latin typeface="Cambria" panose="02040503050406030204" pitchFamily="18" charset="0"/>
              </a:rPr>
              <a:t>copied</a:t>
            </a:r>
            <a:r>
              <a:rPr lang="en-US" dirty="0">
                <a:solidFill>
                  <a:srgbClr val="000000"/>
                </a:solidFill>
                <a:latin typeface="Cambria" panose="02040503050406030204" pitchFamily="18" charset="0"/>
              </a:rPr>
              <a:t> into the function’s corresponding pointer parameter. </a:t>
            </a:r>
          </a:p>
          <a:p>
            <a:pPr eaLnBrk="1" hangingPunct="1">
              <a:defRPr/>
            </a:pPr>
            <a:r>
              <a:rPr lang="en-US" dirty="0">
                <a:solidFill>
                  <a:srgbClr val="000000"/>
                </a:solidFill>
                <a:latin typeface="Cambria" panose="02040503050406030204" pitchFamily="18" charset="0"/>
              </a:rPr>
              <a:t>The called function can then access that variable in the caller simply by dereferencing the pointer, thus accomplishing </a:t>
            </a:r>
            <a:r>
              <a:rPr lang="en-US" i="1" dirty="0">
                <a:solidFill>
                  <a:srgbClr val="000000"/>
                </a:solidFill>
                <a:latin typeface="Cambria" panose="02040503050406030204" pitchFamily="18" charset="0"/>
              </a:rPr>
              <a:t>pass-by-reference</a:t>
            </a:r>
            <a:r>
              <a:rPr lang="en-US" dirty="0">
                <a:solidFill>
                  <a:srgbClr val="000000"/>
                </a:solidFill>
                <a:latin typeface="Cambria" panose="02040503050406030204" pitchFamily="18" charset="0"/>
              </a:rPr>
              <a:t>.</a:t>
            </a:r>
          </a:p>
        </p:txBody>
      </p:sp>
      <p:sp>
        <p:nvSpPr>
          <p:cNvPr id="37892" name="Footer Placeholder 3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/>
              <a:t>©1992-2017 by Pearson Education, Inc. All Rights Reserved.</a:t>
            </a:r>
            <a:endParaRPr lang="en-US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rgbClr val="24B5A1"/>
                </a:solidFill>
                <a:latin typeface="Calibri" panose="020F0502020204030204" pitchFamily="34" charset="0"/>
              </a:rPr>
              <a:t>8.4  </a:t>
            </a:r>
            <a:r>
              <a:rPr lang="en-US" dirty="0">
                <a:solidFill>
                  <a:srgbClr val="3380E6"/>
                </a:solidFill>
                <a:latin typeface="Calibri" panose="020F0502020204030204" pitchFamily="34" charset="0"/>
              </a:rPr>
              <a:t>Pass-by-Reference with Pointers (cont.)</a:t>
            </a:r>
          </a:p>
        </p:txBody>
      </p:sp>
      <p:sp>
        <p:nvSpPr>
          <p:cNvPr id="36867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09537" indent="0" eaLnBrk="1" hangingPunct="1">
              <a:buFont typeface="Wingdings 3" panose="05040102010807070707" pitchFamily="18" charset="2"/>
              <a:buNone/>
              <a:defRPr/>
            </a:pPr>
            <a:r>
              <a:rPr lang="en-US" sz="2400" b="1" i="1" dirty="0">
                <a:solidFill>
                  <a:srgbClr val="000000"/>
                </a:solidFill>
                <a:latin typeface="Cambria" panose="02040503050406030204" pitchFamily="18" charset="0"/>
              </a:rPr>
              <a:t>Graphical Analysis of Pass-By-Value and Pass-By-Reference</a:t>
            </a:r>
            <a:endParaRPr lang="en-US" b="1" i="1" dirty="0">
              <a:solidFill>
                <a:srgbClr val="000000"/>
              </a:solidFill>
              <a:latin typeface="Cambria" panose="02040503050406030204" pitchFamily="18" charset="0"/>
            </a:endParaRPr>
          </a:p>
          <a:p>
            <a:pPr eaLnBrk="1" hangingPunct="1">
              <a:defRPr/>
            </a:pPr>
            <a:r>
              <a:rPr lang="en-US" dirty="0">
                <a:solidFill>
                  <a:srgbClr val="000000"/>
                </a:solidFill>
                <a:latin typeface="Cambria" panose="02040503050406030204" pitchFamily="18" charset="0"/>
              </a:rPr>
              <a:t>Figures 8.8–8.9 analyze graphically the execution of the programs in Fig. 8.6 and Fig. 8.7, respectively.</a:t>
            </a:r>
          </a:p>
          <a:p>
            <a:pPr eaLnBrk="1" hangingPunct="1">
              <a:defRPr/>
            </a:pPr>
            <a:r>
              <a:rPr lang="en-US" dirty="0">
                <a:solidFill>
                  <a:srgbClr val="000000"/>
                </a:solidFill>
                <a:latin typeface="Cambria" panose="02040503050406030204" pitchFamily="18" charset="0"/>
              </a:rPr>
              <a:t>In the diagrams, the values in blue rectangles above a given expression or variable represent the value of that expression or variable. </a:t>
            </a:r>
          </a:p>
          <a:p>
            <a:pPr eaLnBrk="1" hangingPunct="1">
              <a:defRPr/>
            </a:pPr>
            <a:r>
              <a:rPr lang="en-US" dirty="0">
                <a:solidFill>
                  <a:srgbClr val="000000"/>
                </a:solidFill>
                <a:latin typeface="Cambria" panose="02040503050406030204" pitchFamily="18" charset="0"/>
              </a:rPr>
              <a:t>Each diagram’s right column shows functions 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cubeByValue</a:t>
            </a:r>
            <a:r>
              <a:rPr lang="en-US" dirty="0">
                <a:solidFill>
                  <a:srgbClr val="000000"/>
                </a:solidFill>
                <a:latin typeface="Cambria" panose="02040503050406030204" pitchFamily="18" charset="0"/>
              </a:rPr>
              <a:t> (Fig. 8.6) and 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cubeByReference</a:t>
            </a:r>
            <a:r>
              <a:rPr lang="en-US" dirty="0">
                <a:solidFill>
                  <a:srgbClr val="000000"/>
                </a:solidFill>
                <a:latin typeface="Cambria" panose="02040503050406030204" pitchFamily="18" charset="0"/>
              </a:rPr>
              <a:t> (Fig. 8.7) </a:t>
            </a:r>
            <a:r>
              <a:rPr lang="en-US" i="1" dirty="0">
                <a:solidFill>
                  <a:srgbClr val="000000"/>
                </a:solidFill>
                <a:latin typeface="Cambria" panose="02040503050406030204" pitchFamily="18" charset="0"/>
              </a:rPr>
              <a:t>only</a:t>
            </a:r>
            <a:r>
              <a:rPr lang="en-US" dirty="0">
                <a:solidFill>
                  <a:srgbClr val="000000"/>
                </a:solidFill>
                <a:latin typeface="Cambria" panose="02040503050406030204" pitchFamily="18" charset="0"/>
              </a:rPr>
              <a:t> when they’re executing. </a:t>
            </a:r>
          </a:p>
        </p:txBody>
      </p:sp>
      <p:sp>
        <p:nvSpPr>
          <p:cNvPr id="37892" name="Footer Placeholder 3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/>
              <a:t>©1992-2017 by Pearson Education, Inc. All Rights Reserved.</a:t>
            </a:r>
            <a:endParaRPr lang="en-US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8_Page_22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5496"/>
            <a:ext cx="9144000" cy="6007008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©1992-2017 by Pearson Education, Inc.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917110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8_Page_23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1771"/>
            <a:ext cx="9144000" cy="601524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©1992-2017 by Pearson Education, Inc.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148972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8_Page_24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90675"/>
            <a:ext cx="9144000" cy="367665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©1992-2017 by Pearson Education, Inc.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804418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8_Page_25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98699"/>
            <a:ext cx="9144000" cy="606139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©1992-2017 by Pearson Education, Inc.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335828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8_Page_26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46298"/>
            <a:ext cx="9144000" cy="596618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©1992-2017 by Pearson Education, Inc.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712008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8_Page_27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24013"/>
            <a:ext cx="9144000" cy="360997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©1992-2017 by Pearson Education, Inc.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34316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rgbClr val="24B5A1"/>
                </a:solidFill>
                <a:latin typeface="Calibri" panose="020F0502020204030204" pitchFamily="34" charset="0"/>
              </a:rPr>
              <a:t>8.4  </a:t>
            </a:r>
            <a:r>
              <a:rPr lang="en-US" dirty="0">
                <a:solidFill>
                  <a:srgbClr val="3380E6"/>
                </a:solidFill>
                <a:latin typeface="Calibri" panose="020F0502020204030204" pitchFamily="34" charset="0"/>
              </a:rPr>
              <a:t>Exercises</a:t>
            </a:r>
          </a:p>
        </p:txBody>
      </p:sp>
      <p:sp>
        <p:nvSpPr>
          <p:cNvPr id="34819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525963"/>
          </a:xfrm>
        </p:spPr>
        <p:txBody>
          <a:bodyPr/>
          <a:lstStyle/>
          <a:p>
            <a:pPr marL="109537" indent="0">
              <a:buNone/>
            </a:pPr>
            <a:r>
              <a:rPr lang="en-US" sz="1800" dirty="0"/>
              <a:t>Write functions </a:t>
            </a:r>
            <a:r>
              <a:rPr lang="en-US" sz="1800" dirty="0" err="1"/>
              <a:t>squareByValue</a:t>
            </a:r>
            <a:r>
              <a:rPr lang="en-US" sz="1800" dirty="0"/>
              <a:t>, </a:t>
            </a:r>
            <a:r>
              <a:rPr lang="en-US" sz="1800" dirty="0" err="1"/>
              <a:t>squareByRef</a:t>
            </a:r>
            <a:r>
              <a:rPr lang="en-US" sz="1800" dirty="0"/>
              <a:t>, </a:t>
            </a:r>
            <a:r>
              <a:rPr lang="en-US" sz="1800" dirty="0" err="1"/>
              <a:t>squareByPointer</a:t>
            </a:r>
            <a:r>
              <a:rPr lang="en-US" sz="1800" dirty="0"/>
              <a:t> that find the square of an integer, in three different ways: </a:t>
            </a:r>
          </a:p>
          <a:p>
            <a:pPr marL="452437" indent="-342900">
              <a:buFont typeface="+mj-lt"/>
              <a:buAutoNum type="alphaLcParenR"/>
            </a:pPr>
            <a:r>
              <a:rPr lang="en-US" sz="1800" dirty="0" err="1"/>
              <a:t>squareByValue</a:t>
            </a:r>
            <a:r>
              <a:rPr lang="en-US" sz="1800" dirty="0"/>
              <a:t> should return the square of the number, passing the argument by value.</a:t>
            </a:r>
          </a:p>
          <a:p>
            <a:pPr marL="452437" indent="-342900">
              <a:buFont typeface="+mj-lt"/>
              <a:buAutoNum type="alphaLcParenR"/>
            </a:pPr>
            <a:r>
              <a:rPr lang="en-US" sz="1800" dirty="0" err="1"/>
              <a:t>squareByRef</a:t>
            </a:r>
            <a:r>
              <a:rPr lang="en-US" sz="1800" dirty="0"/>
              <a:t> should modify the variable in the input to its square, passing by reference.</a:t>
            </a:r>
          </a:p>
          <a:p>
            <a:pPr marL="452437" indent="-342900">
              <a:buFont typeface="+mj-lt"/>
              <a:buAutoNum type="alphaLcParenR"/>
            </a:pPr>
            <a:r>
              <a:rPr lang="en-US" sz="1800" dirty="0" err="1"/>
              <a:t>squareByPointer</a:t>
            </a:r>
            <a:r>
              <a:rPr lang="en-US" sz="1800" dirty="0"/>
              <a:t> should also modify the variable in the input to its square, but passing the argument by pointer.</a:t>
            </a:r>
          </a:p>
          <a:p>
            <a:pPr marL="392113" lvl="1" indent="0">
              <a:buNone/>
            </a:pPr>
            <a:endParaRPr lang="en-US" altLang="en-US" sz="2500" dirty="0">
              <a:solidFill>
                <a:srgbClr val="000000"/>
              </a:solidFill>
              <a:latin typeface="Cambria" panose="02040503050406030204" pitchFamily="18" charset="0"/>
            </a:endParaRPr>
          </a:p>
          <a:p>
            <a:pPr eaLnBrk="1" hangingPunct="1"/>
            <a:endParaRPr lang="en-US" altLang="en-US" sz="2400" dirty="0">
              <a:solidFill>
                <a:srgbClr val="000000"/>
              </a:solidFill>
              <a:latin typeface="Cambria" panose="02040503050406030204" pitchFamily="18" charset="0"/>
            </a:endParaRPr>
          </a:p>
          <a:p>
            <a:pPr eaLnBrk="1" hangingPunct="1"/>
            <a:endParaRPr lang="en-US" altLang="en-US" sz="2500" dirty="0">
              <a:solidFill>
                <a:srgbClr val="000000"/>
              </a:solidFill>
              <a:latin typeface="Cambria" panose="02040503050406030204" pitchFamily="18" charset="0"/>
            </a:endParaRPr>
          </a:p>
        </p:txBody>
      </p:sp>
      <p:sp>
        <p:nvSpPr>
          <p:cNvPr id="33796" name="Footer Placeholder 3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/>
              <a:t>©1992-2017 by Pearson Education, Inc.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715506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337068-BF93-C200-E0EE-7A2AD35C59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Text Placeholder 2">
            <a:extLst>
              <a:ext uri="{FF2B5EF4-FFF2-40B4-BE49-F238E27FC236}">
                <a16:creationId xmlns:a16="http://schemas.microsoft.com/office/drawing/2014/main" id="{19CD8766-7F39-09EA-1192-38B4744F7D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525963"/>
          </a:xfrm>
        </p:spPr>
        <p:txBody>
          <a:bodyPr/>
          <a:lstStyle/>
          <a:p>
            <a:pPr marL="392113" lvl="1" indent="0">
              <a:buNone/>
            </a:pPr>
            <a:endParaRPr lang="en-US" altLang="en-US" sz="2500" dirty="0">
              <a:solidFill>
                <a:srgbClr val="000000"/>
              </a:solidFill>
              <a:latin typeface="Cambria" panose="02040503050406030204" pitchFamily="18" charset="0"/>
            </a:endParaRPr>
          </a:p>
          <a:p>
            <a:pPr eaLnBrk="1" hangingPunct="1"/>
            <a:endParaRPr lang="en-US" altLang="en-US" sz="2400" dirty="0">
              <a:solidFill>
                <a:srgbClr val="000000"/>
              </a:solidFill>
              <a:latin typeface="Cambria" panose="02040503050406030204" pitchFamily="18" charset="0"/>
            </a:endParaRPr>
          </a:p>
          <a:p>
            <a:pPr eaLnBrk="1" hangingPunct="1"/>
            <a:endParaRPr lang="en-US" altLang="en-US" sz="2500" dirty="0">
              <a:solidFill>
                <a:srgbClr val="000000"/>
              </a:solidFill>
              <a:latin typeface="Cambria" panose="02040503050406030204" pitchFamily="18" charset="0"/>
            </a:endParaRPr>
          </a:p>
        </p:txBody>
      </p:sp>
      <p:sp>
        <p:nvSpPr>
          <p:cNvPr id="33796" name="Footer Placeholder 3">
            <a:extLst>
              <a:ext uri="{FF2B5EF4-FFF2-40B4-BE49-F238E27FC236}">
                <a16:creationId xmlns:a16="http://schemas.microsoft.com/office/drawing/2014/main" id="{6EDEF1A1-23A2-8B0C-DE38-C3A5AF4973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/>
              <a:t>©1992-2017 by Pearson Education, Inc. All Rights Reserved.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F5C2502-1EE5-DB45-68E5-148AE77CAF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593003"/>
            <a:ext cx="7391400" cy="5614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704634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40DB22-15A2-B0ED-A540-E2B3BAEFC3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Text Placeholder 2">
            <a:extLst>
              <a:ext uri="{FF2B5EF4-FFF2-40B4-BE49-F238E27FC236}">
                <a16:creationId xmlns:a16="http://schemas.microsoft.com/office/drawing/2014/main" id="{8AEC5344-CE9B-7559-73DE-0A2CC4A6ED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525963"/>
          </a:xfrm>
        </p:spPr>
        <p:txBody>
          <a:bodyPr/>
          <a:lstStyle/>
          <a:p>
            <a:pPr marL="392113" lvl="1" indent="0">
              <a:buNone/>
            </a:pPr>
            <a:endParaRPr lang="en-US" altLang="en-US" sz="2500" dirty="0">
              <a:solidFill>
                <a:srgbClr val="000000"/>
              </a:solidFill>
              <a:latin typeface="Cambria" panose="02040503050406030204" pitchFamily="18" charset="0"/>
            </a:endParaRPr>
          </a:p>
          <a:p>
            <a:pPr eaLnBrk="1" hangingPunct="1"/>
            <a:endParaRPr lang="en-US" altLang="en-US" sz="2400" dirty="0">
              <a:solidFill>
                <a:srgbClr val="000000"/>
              </a:solidFill>
              <a:latin typeface="Cambria" panose="02040503050406030204" pitchFamily="18" charset="0"/>
            </a:endParaRPr>
          </a:p>
          <a:p>
            <a:pPr eaLnBrk="1" hangingPunct="1"/>
            <a:endParaRPr lang="en-US" altLang="en-US" sz="2500" dirty="0">
              <a:solidFill>
                <a:srgbClr val="000000"/>
              </a:solidFill>
              <a:latin typeface="Cambria" panose="02040503050406030204" pitchFamily="18" charset="0"/>
            </a:endParaRPr>
          </a:p>
        </p:txBody>
      </p:sp>
      <p:sp>
        <p:nvSpPr>
          <p:cNvPr id="33796" name="Footer Placeholder 3">
            <a:extLst>
              <a:ext uri="{FF2B5EF4-FFF2-40B4-BE49-F238E27FC236}">
                <a16:creationId xmlns:a16="http://schemas.microsoft.com/office/drawing/2014/main" id="{2BC9D40E-75C3-C8EF-F218-71A2AF4988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/>
              <a:t>©1992-2017 by Pearson Education, Inc. All Rights Reserved.</a:t>
            </a:r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801D595-EC91-4ACD-49D9-D4DA3DC794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0200" y="1112837"/>
            <a:ext cx="7086600" cy="3908762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0004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x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666666"/>
                </a:solidFill>
                <a:effectLst/>
                <a:latin typeface="Arial" panose="020B0604020202020204" pitchFamily="34" charset="0"/>
              </a:rPr>
              <a:t>=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666666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0004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666666"/>
                </a:solidFill>
                <a:effectLst/>
                <a:latin typeface="Arial" panose="020B0604020202020204" pitchFamily="34" charset="0"/>
              </a:rPr>
              <a:t>=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666666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0004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666666"/>
                </a:solidFill>
                <a:effectLst/>
                <a:latin typeface="Arial" panose="020B0604020202020204" pitchFamily="34" charset="0"/>
              </a:rPr>
              <a:t>*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666666"/>
                </a:solidFill>
                <a:effectLst/>
                <a:latin typeface="Arial" panose="020B0604020202020204" pitchFamily="34" charset="0"/>
              </a:rPr>
              <a:t>=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666666"/>
                </a:solidFill>
                <a:effectLst/>
                <a:latin typeface="Arial" panose="020B0604020202020204" pitchFamily="34" charset="0"/>
              </a:rPr>
              <a:t>&amp;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x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666666"/>
                </a:solidFill>
                <a:effectLst/>
                <a:latin typeface="Arial" panose="020B0604020202020204" pitchFamily="34" charset="0"/>
              </a:rPr>
              <a:t>=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666666"/>
                </a:solidFill>
                <a:effectLst/>
                <a:latin typeface="Arial" panose="020B0604020202020204" pitchFamily="34" charset="0"/>
              </a:rPr>
              <a:t>&amp;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rgbClr val="3D7B7B"/>
                </a:solidFill>
                <a:effectLst/>
                <a:latin typeface="Consolas" panose="020B0609020204030204" pitchFamily="49" charset="0"/>
              </a:rPr>
              <a:t>// 1. Pointer reinitialization allowed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0004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666666"/>
                </a:solidFill>
                <a:effectLst/>
                <a:latin typeface="Arial" panose="020B0604020202020204" pitchFamily="34" charset="0"/>
              </a:rPr>
              <a:t>&amp;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666666"/>
                </a:solidFill>
                <a:effectLst/>
                <a:latin typeface="Arial" panose="020B0604020202020204" pitchFamily="34" charset="0"/>
              </a:rPr>
              <a:t>=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x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rgbClr val="3D7B7B"/>
                </a:solidFill>
                <a:effectLst/>
                <a:latin typeface="Consolas" panose="020B0609020204030204" pitchFamily="49" charset="0"/>
              </a:rPr>
              <a:t>// &amp;r = y; // 1. Compile Error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088712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</p:spPr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rgbClr val="24B5A1"/>
                </a:solidFill>
                <a:latin typeface="Calibri" panose="020F0502020204030204" pitchFamily="34" charset="0"/>
              </a:rPr>
              <a:t>8.5  </a:t>
            </a:r>
            <a:r>
              <a:rPr lang="en-US" dirty="0">
                <a:solidFill>
                  <a:srgbClr val="3380E6"/>
                </a:solidFill>
                <a:latin typeface="Calibri" panose="020F0502020204030204" pitchFamily="34" charset="0"/>
              </a:rPr>
              <a:t>Built-In Arrays</a:t>
            </a:r>
          </a:p>
        </p:txBody>
      </p:sp>
      <p:sp>
        <p:nvSpPr>
          <p:cNvPr id="4608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066800"/>
            <a:ext cx="8229600" cy="4525963"/>
          </a:xfrm>
        </p:spPr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en-US" sz="2400" dirty="0">
                <a:solidFill>
                  <a:srgbClr val="000000"/>
                </a:solidFill>
                <a:latin typeface="Cambria" panose="02040503050406030204" pitchFamily="18" charset="0"/>
              </a:rPr>
              <a:t>Here we present </a:t>
            </a:r>
            <a:r>
              <a:rPr lang="en-US" sz="2400" i="1" dirty="0">
                <a:solidFill>
                  <a:srgbClr val="000000"/>
                </a:solidFill>
                <a:latin typeface="Cambria" panose="02040503050406030204" pitchFamily="18" charset="0"/>
              </a:rPr>
              <a:t>built-in arrays</a:t>
            </a:r>
            <a:r>
              <a:rPr lang="en-US" sz="2400" dirty="0">
                <a:solidFill>
                  <a:srgbClr val="000000"/>
                </a:solidFill>
                <a:latin typeface="Cambria" panose="02040503050406030204" pitchFamily="18" charset="0"/>
              </a:rPr>
              <a:t>, which are also </a:t>
            </a:r>
            <a:r>
              <a:rPr lang="en-US" sz="2400" i="1" dirty="0">
                <a:solidFill>
                  <a:srgbClr val="000000"/>
                </a:solidFill>
                <a:latin typeface="Cambria" panose="02040503050406030204" pitchFamily="18" charset="0"/>
              </a:rPr>
              <a:t>fixed-size</a:t>
            </a:r>
            <a:r>
              <a:rPr lang="en-US" sz="2400" dirty="0">
                <a:solidFill>
                  <a:srgbClr val="000000"/>
                </a:solidFill>
                <a:latin typeface="Cambria" panose="02040503050406030204" pitchFamily="18" charset="0"/>
              </a:rPr>
              <a:t> data structures. </a:t>
            </a:r>
          </a:p>
          <a:p>
            <a:pPr>
              <a:lnSpc>
                <a:spcPct val="90000"/>
              </a:lnSpc>
              <a:defRPr/>
            </a:pPr>
            <a:r>
              <a:rPr lang="en-US" sz="2400" dirty="0">
                <a:solidFill>
                  <a:srgbClr val="000000"/>
                </a:solidFill>
                <a:latin typeface="Cambria" panose="02040503050406030204" pitchFamily="18" charset="0"/>
              </a:rPr>
              <a:t>To specify the type of the elements and the number of elements required by a built-in array, </a:t>
            </a:r>
            <a:r>
              <a:rPr lang="en-US" sz="1800" i="1" dirty="0">
                <a:solidFill>
                  <a:srgbClr val="000000"/>
                </a:solidFill>
                <a:latin typeface="Cambria" panose="02040503050406030204" pitchFamily="18" charset="0"/>
              </a:rPr>
              <a:t>type </a:t>
            </a:r>
            <a:r>
              <a:rPr lang="en-US" sz="1800" i="1" dirty="0" err="1">
                <a:solidFill>
                  <a:srgbClr val="000000"/>
                </a:solidFill>
                <a:latin typeface="Cambria" panose="02040503050406030204" pitchFamily="18" charset="0"/>
              </a:rPr>
              <a:t>arrayName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800" i="1" dirty="0" err="1">
                <a:solidFill>
                  <a:srgbClr val="000000"/>
                </a:solidFill>
                <a:latin typeface="Cambria" panose="02040503050406030204" pitchFamily="18" charset="0"/>
              </a:rPr>
              <a:t>arraySize</a:t>
            </a:r>
            <a:r>
              <a:rPr lang="en-US" sz="1800" i="1" dirty="0">
                <a:solidFill>
                  <a:srgbClr val="000000"/>
                </a:solidFill>
                <a:latin typeface="Cambria" panose="02040503050406030204" pitchFamily="18" charset="0"/>
              </a:rPr>
              <a:t>]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90000"/>
              </a:lnSpc>
              <a:defRPr/>
            </a:pPr>
            <a:r>
              <a:rPr lang="en-US" sz="2400" dirty="0">
                <a:solidFill>
                  <a:srgbClr val="000000"/>
                </a:solidFill>
                <a:latin typeface="Cambria" panose="02040503050406030204" pitchFamily="18" charset="0"/>
              </a:rPr>
              <a:t>The compiler reserves the appropriate amount of memory. </a:t>
            </a:r>
          </a:p>
          <a:p>
            <a:pPr>
              <a:lnSpc>
                <a:spcPct val="90000"/>
              </a:lnSpc>
              <a:defRPr/>
            </a:pPr>
            <a:r>
              <a:rPr lang="en-US" sz="2400" i="1" dirty="0" err="1">
                <a:solidFill>
                  <a:srgbClr val="000000"/>
                </a:solidFill>
                <a:latin typeface="Cambria" panose="02040503050406030204" pitchFamily="18" charset="0"/>
              </a:rPr>
              <a:t>arraySize</a:t>
            </a:r>
            <a:r>
              <a:rPr lang="en-US" sz="2400" dirty="0">
                <a:solidFill>
                  <a:srgbClr val="000000"/>
                </a:solidFill>
                <a:latin typeface="Cambria" panose="02040503050406030204" pitchFamily="18" charset="0"/>
              </a:rPr>
              <a:t> must be an integer constant greater than zero. </a:t>
            </a:r>
          </a:p>
          <a:p>
            <a:pPr>
              <a:lnSpc>
                <a:spcPct val="90000"/>
              </a:lnSpc>
              <a:defRPr/>
            </a:pPr>
            <a:r>
              <a:rPr lang="en-US" sz="2400" dirty="0">
                <a:solidFill>
                  <a:srgbClr val="000000"/>
                </a:solidFill>
                <a:latin typeface="Cambria" panose="02040503050406030204" pitchFamily="18" charset="0"/>
              </a:rPr>
              <a:t>To reserve 12 elements for built-in array of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 err="1">
                <a:solidFill>
                  <a:srgbClr val="000000"/>
                </a:solidFill>
                <a:latin typeface="Cambria" panose="02040503050406030204" pitchFamily="18" charset="0"/>
              </a:rPr>
              <a:t>s</a:t>
            </a:r>
            <a:r>
              <a:rPr lang="en-US" sz="2400" dirty="0">
                <a:solidFill>
                  <a:srgbClr val="000000"/>
                </a:solidFill>
                <a:latin typeface="Cambria" panose="02040503050406030204" pitchFamily="18" charset="0"/>
              </a:rPr>
              <a:t> named 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c</a:t>
            </a:r>
            <a:r>
              <a:rPr lang="en-US" sz="2400" dirty="0">
                <a:solidFill>
                  <a:srgbClr val="000000"/>
                </a:solidFill>
                <a:latin typeface="Cambria" panose="02040503050406030204" pitchFamily="18" charset="0"/>
              </a:rPr>
              <a:t>, use the declaration </a:t>
            </a:r>
          </a:p>
          <a:p>
            <a:pPr lvl="1">
              <a:lnSpc>
                <a:spcPct val="90000"/>
              </a:lnSpc>
              <a:defRPr/>
            </a:pP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c[</a:t>
            </a:r>
            <a:r>
              <a:rPr lang="en-US" sz="2000" dirty="0">
                <a:solidFill>
                  <a:srgbClr val="00B0F0"/>
                </a:solidFill>
                <a:latin typeface="Consolas" panose="020B0609020204030204" pitchFamily="49" charset="0"/>
              </a:rPr>
              <a:t>12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]; 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  <a:defRPr/>
            </a:pPr>
            <a:r>
              <a:rPr lang="en-US" sz="2400" dirty="0">
                <a:solidFill>
                  <a:srgbClr val="000000"/>
                </a:solidFill>
                <a:latin typeface="Cambria" panose="02040503050406030204" pitchFamily="18" charset="0"/>
              </a:rPr>
              <a:t>As with array objects, you use the subscript (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[]</a:t>
            </a:r>
            <a:r>
              <a:rPr lang="en-US" sz="2400" dirty="0">
                <a:solidFill>
                  <a:srgbClr val="000000"/>
                </a:solidFill>
                <a:latin typeface="Cambria" panose="02040503050406030204" pitchFamily="18" charset="0"/>
              </a:rPr>
              <a:t>) operator to access the individual elements of a built-in array.</a:t>
            </a:r>
          </a:p>
          <a:p>
            <a:pPr eaLnBrk="1" hangingPunct="1">
              <a:lnSpc>
                <a:spcPct val="90000"/>
              </a:lnSpc>
              <a:defRPr/>
            </a:pPr>
            <a:endParaRPr lang="en-US" sz="2400" dirty="0">
              <a:solidFill>
                <a:srgbClr val="000000"/>
              </a:solidFill>
              <a:latin typeface="Cambria" panose="02040503050406030204" pitchFamily="18" charset="0"/>
            </a:endParaRPr>
          </a:p>
          <a:p>
            <a:pPr marL="109537" indent="0" eaLnBrk="1" hangingPunct="1">
              <a:lnSpc>
                <a:spcPct val="90000"/>
              </a:lnSpc>
              <a:buNone/>
              <a:defRPr/>
            </a:pPr>
            <a:endParaRPr lang="en-US" sz="2100" dirty="0">
              <a:solidFill>
                <a:srgbClr val="000000"/>
              </a:solidFill>
              <a:latin typeface="Cambria" panose="02040503050406030204" pitchFamily="18" charset="0"/>
            </a:endParaRPr>
          </a:p>
        </p:txBody>
      </p:sp>
      <p:sp>
        <p:nvSpPr>
          <p:cNvPr id="48132" name="Footer Placeholder 3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/>
              <a:t>©1992-2017 by Pearson Education, Inc. All Rights Reserved.</a:t>
            </a:r>
            <a:endParaRPr lang="en-US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>
                <a:solidFill>
                  <a:srgbClr val="24B5A1"/>
                </a:solidFill>
                <a:latin typeface="Calibri" panose="020F0502020204030204" pitchFamily="34" charset="0"/>
              </a:rPr>
              <a:t>8.5.2  </a:t>
            </a:r>
            <a:r>
              <a:rPr lang="en-US" dirty="0">
                <a:solidFill>
                  <a:srgbClr val="3380E6"/>
                </a:solidFill>
                <a:latin typeface="Calibri" panose="020F0502020204030204" pitchFamily="34" charset="0"/>
              </a:rPr>
              <a:t>Initializing Built-In Arrays</a:t>
            </a:r>
          </a:p>
        </p:txBody>
      </p:sp>
      <p:sp>
        <p:nvSpPr>
          <p:cNvPr id="4608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417638"/>
            <a:ext cx="8229600" cy="4525962"/>
          </a:xfrm>
        </p:spPr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en-US" sz="2400" dirty="0">
                <a:solidFill>
                  <a:srgbClr val="000000"/>
                </a:solidFill>
                <a:latin typeface="Cambria" panose="02040503050406030204" pitchFamily="18" charset="0"/>
              </a:rPr>
              <a:t>You can initialize the elements of a built-in array using an initializer list as in </a:t>
            </a:r>
          </a:p>
          <a:p>
            <a:pPr marL="603250" lvl="2" indent="0" eaLnBrk="1" hangingPunct="1">
              <a:lnSpc>
                <a:spcPct val="90000"/>
              </a:lnSpc>
              <a:buFont typeface="Wingdings 2" panose="05020102010507070707" pitchFamily="18" charset="2"/>
              <a:buNone/>
              <a:defRPr/>
            </a:pPr>
            <a:r>
              <a:rPr lang="en-US" sz="20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n[</a:t>
            </a:r>
            <a:r>
              <a:rPr lang="en-US" sz="2000" dirty="0">
                <a:solidFill>
                  <a:srgbClr val="00B0F0"/>
                </a:solidFill>
                <a:latin typeface="Consolas" panose="020B0609020204030204" pitchFamily="49" charset="0"/>
              </a:rPr>
              <a:t>5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]{</a:t>
            </a:r>
            <a:r>
              <a:rPr lang="en-US" sz="2000" dirty="0">
                <a:solidFill>
                  <a:srgbClr val="00B0F0"/>
                </a:solidFill>
                <a:latin typeface="Consolas" panose="020B0609020204030204" pitchFamily="49" charset="0"/>
              </a:rPr>
              <a:t>50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2000" dirty="0">
                <a:solidFill>
                  <a:srgbClr val="00B0F0"/>
                </a:solidFill>
                <a:latin typeface="Consolas" panose="020B0609020204030204" pitchFamily="49" charset="0"/>
              </a:rPr>
              <a:t>20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2000" dirty="0">
                <a:solidFill>
                  <a:srgbClr val="00B0F0"/>
                </a:solidFill>
                <a:latin typeface="Consolas" panose="020B0609020204030204" pitchFamily="49" charset="0"/>
              </a:rPr>
              <a:t>30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2000" dirty="0">
                <a:solidFill>
                  <a:srgbClr val="00B0F0"/>
                </a:solidFill>
                <a:latin typeface="Consolas" panose="020B0609020204030204" pitchFamily="49" charset="0"/>
              </a:rPr>
              <a:t>10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2000" dirty="0">
                <a:solidFill>
                  <a:srgbClr val="00B0F0"/>
                </a:solidFill>
                <a:latin typeface="Consolas" panose="020B0609020204030204" pitchFamily="49" charset="0"/>
              </a:rPr>
              <a:t>40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</a:p>
          <a:p>
            <a:pPr lvl="1">
              <a:lnSpc>
                <a:spcPct val="90000"/>
              </a:lnSpc>
              <a:defRPr/>
            </a:pPr>
            <a:r>
              <a:rPr lang="en-US" sz="2000" dirty="0">
                <a:solidFill>
                  <a:srgbClr val="000000"/>
                </a:solidFill>
                <a:latin typeface="Cambria" panose="02040503050406030204" pitchFamily="18" charset="0"/>
              </a:rPr>
              <a:t>creates a built-in array of five 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int</a:t>
            </a:r>
            <a:r>
              <a:rPr lang="en-US" sz="2000" dirty="0">
                <a:solidFill>
                  <a:srgbClr val="000000"/>
                </a:solidFill>
                <a:latin typeface="Cambria" panose="02040503050406030204" pitchFamily="18" charset="0"/>
              </a:rPr>
              <a:t>s and initializes them to the values in the initializer list. 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sz="2400" dirty="0">
                <a:solidFill>
                  <a:srgbClr val="000000"/>
                </a:solidFill>
                <a:latin typeface="Cambria" panose="02040503050406030204" pitchFamily="18" charset="0"/>
              </a:rPr>
              <a:t>If you provide fewer initializers 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sz="2000" dirty="0">
                <a:solidFill>
                  <a:srgbClr val="000000"/>
                </a:solidFill>
                <a:latin typeface="Cambria" panose="02040503050406030204" pitchFamily="18" charset="0"/>
              </a:rPr>
              <a:t>the number of elements, the remaining elements are value initialized—fundamental numeric types are set to 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0</a:t>
            </a:r>
            <a:r>
              <a:rPr lang="en-US" sz="2000" dirty="0">
                <a:solidFill>
                  <a:srgbClr val="000000"/>
                </a:solidFill>
                <a:latin typeface="Cambria" panose="02040503050406030204" pitchFamily="18" charset="0"/>
              </a:rPr>
              <a:t>, 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bool</a:t>
            </a:r>
            <a:r>
              <a:rPr lang="en-US" sz="2000" dirty="0">
                <a:solidFill>
                  <a:srgbClr val="000000"/>
                </a:solidFill>
                <a:latin typeface="Cambria" panose="02040503050406030204" pitchFamily="18" charset="0"/>
              </a:rPr>
              <a:t>s are set to false, pointers are set to 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nullptr</a:t>
            </a:r>
            <a:r>
              <a:rPr lang="en-US" sz="2000" dirty="0">
                <a:solidFill>
                  <a:srgbClr val="000000"/>
                </a:solidFill>
                <a:latin typeface="Cambria" panose="02040503050406030204" pitchFamily="18" charset="0"/>
              </a:rPr>
              <a:t> and class objects are initialized by their default constructors. 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sz="2400" dirty="0">
                <a:solidFill>
                  <a:srgbClr val="000000"/>
                </a:solidFill>
                <a:latin typeface="Cambria" panose="02040503050406030204" pitchFamily="18" charset="0"/>
              </a:rPr>
              <a:t>If you provide too many initializers a compilation error occurs. </a:t>
            </a:r>
          </a:p>
        </p:txBody>
      </p:sp>
      <p:sp>
        <p:nvSpPr>
          <p:cNvPr id="48132" name="Footer Placeholder 3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/>
              <a:t>©1992-2017 by Pearson Education, Inc. All Rights Reserved.</a:t>
            </a:r>
            <a:endParaRPr lang="en-US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>
                <a:solidFill>
                  <a:srgbClr val="24B5A1"/>
                </a:solidFill>
                <a:latin typeface="Calibri" panose="020F0502020204030204" pitchFamily="34" charset="0"/>
              </a:rPr>
              <a:t>8.5.2  </a:t>
            </a:r>
            <a:r>
              <a:rPr lang="en-US" dirty="0">
                <a:solidFill>
                  <a:srgbClr val="3380E6"/>
                </a:solidFill>
                <a:latin typeface="Calibri" panose="020F0502020204030204" pitchFamily="34" charset="0"/>
              </a:rPr>
              <a:t>Initializing Built-In Arrays</a:t>
            </a:r>
          </a:p>
        </p:txBody>
      </p:sp>
      <p:sp>
        <p:nvSpPr>
          <p:cNvPr id="53251" name="Text Placeholder 2"/>
          <p:cNvSpPr>
            <a:spLocks noGrp="1"/>
          </p:cNvSpPr>
          <p:nvPr>
            <p:ph type="body" idx="1"/>
          </p:nvPr>
        </p:nvSpPr>
        <p:spPr>
          <a:xfrm>
            <a:off x="457200" y="1417638"/>
            <a:ext cx="8229600" cy="4525962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400" dirty="0">
                <a:solidFill>
                  <a:srgbClr val="000000"/>
                </a:solidFill>
                <a:latin typeface="Cambria" panose="02040503050406030204" pitchFamily="18" charset="0"/>
              </a:rPr>
              <a:t>If a built-in array’s size is </a:t>
            </a:r>
            <a:r>
              <a:rPr lang="en-US" altLang="en-US" sz="2400" i="1" dirty="0">
                <a:solidFill>
                  <a:srgbClr val="000000"/>
                </a:solidFill>
                <a:latin typeface="Cambria" panose="02040503050406030204" pitchFamily="18" charset="0"/>
              </a:rPr>
              <a:t>omitted</a:t>
            </a:r>
            <a:r>
              <a:rPr lang="en-US" altLang="en-US" sz="2400" dirty="0">
                <a:solidFill>
                  <a:srgbClr val="000000"/>
                </a:solidFill>
                <a:latin typeface="Cambria" panose="02040503050406030204" pitchFamily="18" charset="0"/>
              </a:rPr>
              <a:t> from a declaration with an initializer list, the compiler sizes the built-in array to the number of elements in the initializer list.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dirty="0">
                <a:solidFill>
                  <a:srgbClr val="000000"/>
                </a:solidFill>
                <a:latin typeface="Cambria" panose="02040503050406030204" pitchFamily="18" charset="0"/>
              </a:rPr>
              <a:t>For example, </a:t>
            </a:r>
          </a:p>
          <a:p>
            <a:pPr marL="603250" lvl="2" indent="0" eaLnBrk="1" hangingPunct="1">
              <a:lnSpc>
                <a:spcPct val="90000"/>
              </a:lnSpc>
              <a:buFont typeface="Wingdings 2" panose="05020102010507070707" pitchFamily="18" charset="2"/>
              <a:buNone/>
            </a:pPr>
            <a:r>
              <a:rPr lang="en-US" alt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int</a:t>
            </a:r>
            <a:r>
              <a:rPr lang="en-US" alt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n[]{</a:t>
            </a:r>
            <a:r>
              <a:rPr lang="en-US" altLang="en-US" sz="2000" dirty="0">
                <a:solidFill>
                  <a:srgbClr val="00B0F0"/>
                </a:solidFill>
                <a:latin typeface="Consolas" panose="020B0609020204030204" pitchFamily="49" charset="0"/>
              </a:rPr>
              <a:t>50</a:t>
            </a:r>
            <a:r>
              <a:rPr lang="en-US" alt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en-US" sz="2000" dirty="0">
                <a:solidFill>
                  <a:srgbClr val="00B0F0"/>
                </a:solidFill>
                <a:latin typeface="Consolas" panose="020B0609020204030204" pitchFamily="49" charset="0"/>
              </a:rPr>
              <a:t>20</a:t>
            </a:r>
            <a:r>
              <a:rPr lang="en-US" alt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en-US" sz="2000" dirty="0">
                <a:solidFill>
                  <a:srgbClr val="00B0F0"/>
                </a:solidFill>
                <a:latin typeface="Consolas" panose="020B0609020204030204" pitchFamily="49" charset="0"/>
              </a:rPr>
              <a:t>30</a:t>
            </a:r>
            <a:r>
              <a:rPr lang="en-US" alt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en-US" sz="2000" dirty="0">
                <a:solidFill>
                  <a:srgbClr val="00B0F0"/>
                </a:solidFill>
                <a:latin typeface="Consolas" panose="020B0609020204030204" pitchFamily="49" charset="0"/>
              </a:rPr>
              <a:t>10</a:t>
            </a:r>
            <a:r>
              <a:rPr lang="en-US" alt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en-US" sz="2000" dirty="0">
                <a:solidFill>
                  <a:srgbClr val="00B0F0"/>
                </a:solidFill>
                <a:latin typeface="Consolas" panose="020B0609020204030204" pitchFamily="49" charset="0"/>
              </a:rPr>
              <a:t>40</a:t>
            </a:r>
            <a:r>
              <a:rPr lang="en-US" alt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dirty="0">
                <a:solidFill>
                  <a:srgbClr val="000000"/>
                </a:solidFill>
                <a:latin typeface="Cambria" panose="02040503050406030204" pitchFamily="18" charset="0"/>
              </a:rPr>
              <a:t>creates a five-element array. </a:t>
            </a:r>
          </a:p>
        </p:txBody>
      </p:sp>
      <p:sp>
        <p:nvSpPr>
          <p:cNvPr id="48132" name="Footer Placeholder 3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/>
              <a:t>©1992-2017 by Pearson Education, Inc. All Rights Reserved.</a:t>
            </a:r>
            <a:endParaRPr lang="en-US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8_Page_28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81200"/>
            <a:ext cx="9144000" cy="289441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©1992-2017 by Pearson Education, Inc.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381568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>
                <a:solidFill>
                  <a:srgbClr val="24B5A1"/>
                </a:solidFill>
                <a:latin typeface="Calibri" panose="020F0502020204030204" pitchFamily="34" charset="0"/>
              </a:rPr>
              <a:t>8.5.3  </a:t>
            </a:r>
            <a:r>
              <a:rPr lang="en-US" dirty="0">
                <a:solidFill>
                  <a:srgbClr val="3380E6"/>
                </a:solidFill>
                <a:latin typeface="Calibri" panose="020F0502020204030204" pitchFamily="34" charset="0"/>
              </a:rPr>
              <a:t>Passing Built-In Arrays to functions</a:t>
            </a:r>
          </a:p>
        </p:txBody>
      </p:sp>
      <p:sp>
        <p:nvSpPr>
          <p:cNvPr id="53251" name="Text Placeholder 2"/>
          <p:cNvSpPr>
            <a:spLocks noGrp="1"/>
          </p:cNvSpPr>
          <p:nvPr>
            <p:ph type="body" idx="1"/>
          </p:nvPr>
        </p:nvSpPr>
        <p:spPr>
          <a:xfrm>
            <a:off x="457200" y="1417638"/>
            <a:ext cx="8229600" cy="4525962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GB" sz="2400" dirty="0">
                <a:latin typeface="Cambria" panose="02040503050406030204" pitchFamily="18" charset="0"/>
                <a:ea typeface="Cambria" panose="02040503050406030204" pitchFamily="18" charset="0"/>
              </a:rPr>
              <a:t>The value of a built-in array’s name is implicitly convertible to the address of the built-in array’s first element. So </a:t>
            </a:r>
            <a:r>
              <a:rPr lang="en-GB" sz="2400" dirty="0" err="1">
                <a:latin typeface="Cambria" panose="02040503050406030204" pitchFamily="18" charset="0"/>
                <a:ea typeface="Cambria" panose="02040503050406030204" pitchFamily="18" charset="0"/>
              </a:rPr>
              <a:t>arrayName</a:t>
            </a:r>
            <a:r>
              <a:rPr lang="en-GB" sz="2400" dirty="0">
                <a:latin typeface="Cambria" panose="02040503050406030204" pitchFamily="18" charset="0"/>
                <a:ea typeface="Cambria" panose="02040503050406030204" pitchFamily="18" charset="0"/>
              </a:rPr>
              <a:t> is implicitly convertible to &amp;</a:t>
            </a:r>
            <a:r>
              <a:rPr lang="en-GB" sz="2400" dirty="0" err="1">
                <a:latin typeface="Cambria" panose="02040503050406030204" pitchFamily="18" charset="0"/>
                <a:ea typeface="Cambria" panose="02040503050406030204" pitchFamily="18" charset="0"/>
              </a:rPr>
              <a:t>arrayName</a:t>
            </a:r>
            <a:r>
              <a:rPr lang="en-GB" sz="2400" dirty="0">
                <a:latin typeface="Cambria" panose="02040503050406030204" pitchFamily="18" charset="0"/>
                <a:ea typeface="Cambria" panose="02040503050406030204" pitchFamily="18" charset="0"/>
              </a:rPr>
              <a:t>[0]. For this reason, you don’t need to take the address (&amp;) of a built-in array to pass it to a function—you </a:t>
            </a:r>
            <a:r>
              <a:rPr lang="en-GB" sz="2400" dirty="0" err="1">
                <a:latin typeface="Cambria" panose="02040503050406030204" pitchFamily="18" charset="0"/>
                <a:ea typeface="Cambria" panose="02040503050406030204" pitchFamily="18" charset="0"/>
              </a:rPr>
              <a:t>simply</a:t>
            </a:r>
            <a:r>
              <a:rPr lang="en-GB" sz="2400" dirty="0">
                <a:latin typeface="Cambria" panose="02040503050406030204" pitchFamily="18" charset="0"/>
                <a:ea typeface="Cambria" panose="02040503050406030204" pitchFamily="18" charset="0"/>
              </a:rPr>
              <a:t> pass the built-in array’s name.</a:t>
            </a:r>
            <a:endParaRPr lang="en-US" altLang="en-US" sz="2400" dirty="0">
              <a:solidFill>
                <a:srgbClr val="0000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8132" name="Footer Placeholder 3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/>
              <a:t>©1992-2017 by Pearson Education, Inc.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912795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dirty="0">
                <a:solidFill>
                  <a:srgbClr val="24B5A1"/>
                </a:solidFill>
                <a:latin typeface="Calibri" panose="020F0502020204030204" pitchFamily="34" charset="0"/>
              </a:rPr>
              <a:t>8.5.4  </a:t>
            </a:r>
            <a:r>
              <a:rPr lang="en-US" dirty="0">
                <a:solidFill>
                  <a:srgbClr val="3380E6"/>
                </a:solidFill>
                <a:latin typeface="Calibri" panose="020F0502020204030204" pitchFamily="34" charset="0"/>
              </a:rPr>
              <a:t>Declaring Built-In Arrays Parameters</a:t>
            </a:r>
          </a:p>
        </p:txBody>
      </p:sp>
      <p:sp>
        <p:nvSpPr>
          <p:cNvPr id="48132" name="Footer Placeholder 3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/>
              <a:t>©1992-2017 by Pearson Education, Inc. All Rights Reserved.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736" y="2743200"/>
            <a:ext cx="8163064" cy="905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576803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dirty="0">
                <a:solidFill>
                  <a:srgbClr val="24B5A1"/>
                </a:solidFill>
                <a:latin typeface="Calibri" panose="020F0502020204030204" pitchFamily="34" charset="0"/>
              </a:rPr>
              <a:t>8.5.5  </a:t>
            </a:r>
            <a:r>
              <a:rPr lang="en-US" dirty="0">
                <a:solidFill>
                  <a:srgbClr val="3380E6"/>
                </a:solidFill>
                <a:latin typeface="Calibri" panose="020F0502020204030204" pitchFamily="34" charset="0"/>
              </a:rPr>
              <a:t>C++11: Standard Library Functions </a:t>
            </a:r>
            <a:r>
              <a:rPr lang="en-US" dirty="0">
                <a:solidFill>
                  <a:srgbClr val="3380E6"/>
                </a:solidFill>
                <a:latin typeface="Consolas" panose="020B0609020204030204" pitchFamily="49" charset="0"/>
              </a:rPr>
              <a:t>begin</a:t>
            </a:r>
            <a:r>
              <a:rPr lang="en-US" dirty="0">
                <a:solidFill>
                  <a:srgbClr val="3380E6"/>
                </a:solidFill>
                <a:latin typeface="Calibri" panose="020F0502020204030204" pitchFamily="34" charset="0"/>
              </a:rPr>
              <a:t> and </a:t>
            </a:r>
            <a:r>
              <a:rPr lang="en-US" dirty="0">
                <a:solidFill>
                  <a:srgbClr val="3380E6"/>
                </a:solidFill>
                <a:latin typeface="Consolas" panose="020B0609020204030204" pitchFamily="49" charset="0"/>
              </a:rPr>
              <a:t>end</a:t>
            </a:r>
            <a:endParaRPr lang="en-US" dirty="0">
              <a:solidFill>
                <a:srgbClr val="3380E6"/>
              </a:solidFill>
              <a:latin typeface="Calibri" panose="020F0502020204030204" pitchFamily="34" charset="0"/>
            </a:endParaRPr>
          </a:p>
        </p:txBody>
      </p:sp>
      <p:sp>
        <p:nvSpPr>
          <p:cNvPr id="4608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en-US" sz="2500" dirty="0">
                <a:solidFill>
                  <a:srgbClr val="000000"/>
                </a:solidFill>
                <a:latin typeface="Cambria" panose="02040503050406030204" pitchFamily="18" charset="0"/>
              </a:rPr>
              <a:t>Function </a:t>
            </a:r>
            <a:r>
              <a:rPr lang="en-US" sz="2500" dirty="0">
                <a:solidFill>
                  <a:srgbClr val="000000"/>
                </a:solidFill>
                <a:latin typeface="Consolas" panose="020B0609020204030204" pitchFamily="49" charset="0"/>
              </a:rPr>
              <a:t>sort</a:t>
            </a:r>
            <a:r>
              <a:rPr lang="en-US" sz="2500" dirty="0">
                <a:solidFill>
                  <a:srgbClr val="000000"/>
                </a:solidFill>
                <a:latin typeface="Cambria" panose="02040503050406030204" pitchFamily="18" charset="0"/>
              </a:rPr>
              <a:t> (and many other C++ Standard Library functions) can also be applied to built-in arrays. 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sz="2500" dirty="0">
                <a:solidFill>
                  <a:srgbClr val="000000"/>
                </a:solidFill>
                <a:latin typeface="Cambria" panose="02040503050406030204" pitchFamily="18" charset="0"/>
              </a:rPr>
              <a:t>For example, to sort the built-in array </a:t>
            </a:r>
            <a:r>
              <a:rPr lang="en-US" sz="2500" dirty="0">
                <a:solidFill>
                  <a:srgbClr val="000000"/>
                </a:solidFill>
                <a:latin typeface="Consolas" panose="020B0609020204030204" pitchFamily="49" charset="0"/>
              </a:rPr>
              <a:t>n</a:t>
            </a:r>
            <a:r>
              <a:rPr lang="en-US" sz="2500" dirty="0">
                <a:solidFill>
                  <a:srgbClr val="000000"/>
                </a:solidFill>
                <a:latin typeface="Cambria" panose="02040503050406030204" pitchFamily="18" charset="0"/>
              </a:rPr>
              <a:t> shown earlier in this section, you can write:</a:t>
            </a:r>
          </a:p>
          <a:p>
            <a:pPr marL="603250" lvl="2" indent="0" eaLnBrk="1" hangingPunct="1">
              <a:lnSpc>
                <a:spcPct val="90000"/>
              </a:lnSpc>
              <a:buFont typeface="Wingdings 2" panose="05020102010507070707" pitchFamily="18" charset="2"/>
              <a:buNone/>
              <a:defRPr/>
            </a:pPr>
            <a:r>
              <a:rPr lang="en-US" sz="19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// sort contents of built-in array n </a:t>
            </a:r>
          </a:p>
          <a:p>
            <a:pPr marL="603250" lvl="2" indent="0" eaLnBrk="1" hangingPunct="1">
              <a:lnSpc>
                <a:spcPct val="90000"/>
              </a:lnSpc>
              <a:buFont typeface="Wingdings 2" panose="05020102010507070707" pitchFamily="18" charset="2"/>
              <a:buNone/>
              <a:defRPr/>
            </a:pPr>
            <a:r>
              <a:rPr lang="en-US" sz="1900" dirty="0">
                <a:solidFill>
                  <a:srgbClr val="000000"/>
                </a:solidFill>
                <a:latin typeface="Consolas" panose="020B0609020204030204" pitchFamily="49" charset="0"/>
              </a:rPr>
              <a:t>sort(begin(n), end(n)); </a:t>
            </a:r>
          </a:p>
          <a:p>
            <a:pPr marL="109537" indent="0" eaLnBrk="1" hangingPunct="1">
              <a:lnSpc>
                <a:spcPct val="90000"/>
              </a:lnSpc>
              <a:buNone/>
              <a:defRPr/>
            </a:pPr>
            <a:endParaRPr lang="en-US" sz="2500" dirty="0">
              <a:solidFill>
                <a:srgbClr val="000000"/>
              </a:solidFill>
              <a:latin typeface="Cambria" panose="02040503050406030204" pitchFamily="18" charset="0"/>
            </a:endParaRPr>
          </a:p>
        </p:txBody>
      </p:sp>
      <p:sp>
        <p:nvSpPr>
          <p:cNvPr id="48132" name="Footer Placeholder 3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/>
              <a:t>©1992-2017 by Pearson Education, Inc. All Rights Reserved.</a:t>
            </a:r>
            <a:endParaRPr lang="en-US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rgbClr val="24B5A1"/>
                </a:solidFill>
                <a:latin typeface="Calibri" panose="020F0502020204030204" pitchFamily="34" charset="0"/>
              </a:rPr>
              <a:t>8.5.6  </a:t>
            </a:r>
            <a:r>
              <a:rPr lang="en-US" dirty="0">
                <a:solidFill>
                  <a:srgbClr val="3380E6"/>
                </a:solidFill>
                <a:latin typeface="Calibri" panose="020F0502020204030204" pitchFamily="34" charset="0"/>
              </a:rPr>
              <a:t>Built-In Array Limitations</a:t>
            </a:r>
          </a:p>
        </p:txBody>
      </p:sp>
      <p:sp>
        <p:nvSpPr>
          <p:cNvPr id="4608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525963"/>
          </a:xfrm>
        </p:spPr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en-US" sz="2800" dirty="0">
                <a:solidFill>
                  <a:srgbClr val="000000"/>
                </a:solidFill>
                <a:latin typeface="Cambria" panose="02040503050406030204" pitchFamily="18" charset="0"/>
              </a:rPr>
              <a:t>Built-in arrays have several limitations: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sz="2400" dirty="0">
                <a:solidFill>
                  <a:srgbClr val="000000"/>
                </a:solidFill>
                <a:latin typeface="Cambria" panose="02040503050406030204" pitchFamily="18" charset="0"/>
              </a:rPr>
              <a:t>They </a:t>
            </a:r>
            <a:r>
              <a:rPr lang="en-US" sz="2400" i="1" dirty="0">
                <a:solidFill>
                  <a:srgbClr val="000000"/>
                </a:solidFill>
                <a:latin typeface="Cambria" panose="02040503050406030204" pitchFamily="18" charset="0"/>
              </a:rPr>
              <a:t>cannot be compared </a:t>
            </a:r>
            <a:r>
              <a:rPr lang="en-US" sz="2400" dirty="0">
                <a:solidFill>
                  <a:srgbClr val="000000"/>
                </a:solidFill>
                <a:latin typeface="Cambria" panose="02040503050406030204" pitchFamily="18" charset="0"/>
              </a:rPr>
              <a:t>using the relational and equality operators—you must use a loop to compare two built-in arrays element by element.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sz="2400" dirty="0">
                <a:solidFill>
                  <a:srgbClr val="000000"/>
                </a:solidFill>
                <a:latin typeface="Cambria" panose="02040503050406030204" pitchFamily="18" charset="0"/>
              </a:rPr>
              <a:t>They </a:t>
            </a:r>
            <a:r>
              <a:rPr lang="en-US" sz="2400" i="1" dirty="0">
                <a:solidFill>
                  <a:srgbClr val="000000"/>
                </a:solidFill>
                <a:latin typeface="Cambria" panose="02040503050406030204" pitchFamily="18" charset="0"/>
              </a:rPr>
              <a:t>cannot be assigned </a:t>
            </a:r>
            <a:r>
              <a:rPr lang="en-US" sz="2400" dirty="0">
                <a:solidFill>
                  <a:srgbClr val="000000"/>
                </a:solidFill>
                <a:latin typeface="Cambria" panose="02040503050406030204" pitchFamily="18" charset="0"/>
              </a:rPr>
              <a:t>to one another. 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sz="2400" dirty="0">
                <a:solidFill>
                  <a:srgbClr val="000000"/>
                </a:solidFill>
                <a:latin typeface="Cambria" panose="02040503050406030204" pitchFamily="18" charset="0"/>
              </a:rPr>
              <a:t>They </a:t>
            </a:r>
            <a:r>
              <a:rPr lang="en-US" sz="2400" i="1" dirty="0">
                <a:solidFill>
                  <a:srgbClr val="000000"/>
                </a:solidFill>
                <a:latin typeface="Cambria" panose="02040503050406030204" pitchFamily="18" charset="0"/>
              </a:rPr>
              <a:t>don’t know their own size</a:t>
            </a:r>
            <a:r>
              <a:rPr lang="en-US" sz="2400" dirty="0">
                <a:solidFill>
                  <a:srgbClr val="000000"/>
                </a:solidFill>
                <a:latin typeface="Cambria" panose="02040503050406030204" pitchFamily="18" charset="0"/>
              </a:rPr>
              <a:t>—a function that processes a built-in array typically receives </a:t>
            </a:r>
            <a:r>
              <a:rPr lang="en-US" sz="2400" i="1" dirty="0">
                <a:solidFill>
                  <a:srgbClr val="000000"/>
                </a:solidFill>
                <a:latin typeface="Cambria" panose="02040503050406030204" pitchFamily="18" charset="0"/>
              </a:rPr>
              <a:t>both</a:t>
            </a:r>
            <a:r>
              <a:rPr lang="en-US" sz="2400" dirty="0">
                <a:solidFill>
                  <a:srgbClr val="000000"/>
                </a:solidFill>
                <a:latin typeface="Cambria" panose="02040503050406030204" pitchFamily="18" charset="0"/>
              </a:rPr>
              <a:t> the built-in array’s </a:t>
            </a:r>
            <a:r>
              <a:rPr lang="en-US" sz="2400" i="1" dirty="0">
                <a:solidFill>
                  <a:srgbClr val="000000"/>
                </a:solidFill>
                <a:latin typeface="Cambria" panose="02040503050406030204" pitchFamily="18" charset="0"/>
              </a:rPr>
              <a:t>name</a:t>
            </a:r>
            <a:r>
              <a:rPr lang="en-US" sz="2400" dirty="0">
                <a:solidFill>
                  <a:srgbClr val="000000"/>
                </a:solidFill>
                <a:latin typeface="Cambria" panose="02040503050406030204" pitchFamily="18" charset="0"/>
              </a:rPr>
              <a:t> and its </a:t>
            </a:r>
            <a:r>
              <a:rPr lang="en-US" sz="2400" i="1" dirty="0">
                <a:solidFill>
                  <a:srgbClr val="000000"/>
                </a:solidFill>
                <a:latin typeface="Cambria" panose="02040503050406030204" pitchFamily="18" charset="0"/>
              </a:rPr>
              <a:t>size</a:t>
            </a:r>
            <a:r>
              <a:rPr lang="en-US" sz="2400" dirty="0">
                <a:solidFill>
                  <a:srgbClr val="000000"/>
                </a:solidFill>
                <a:latin typeface="Cambria" panose="02040503050406030204" pitchFamily="18" charset="0"/>
              </a:rPr>
              <a:t> as arguments.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sz="2400" dirty="0">
                <a:solidFill>
                  <a:srgbClr val="000000"/>
                </a:solidFill>
                <a:latin typeface="Cambria" panose="02040503050406030204" pitchFamily="18" charset="0"/>
              </a:rPr>
              <a:t>They </a:t>
            </a:r>
            <a:r>
              <a:rPr lang="en-US" sz="2400" i="1" dirty="0">
                <a:solidFill>
                  <a:srgbClr val="000000"/>
                </a:solidFill>
                <a:latin typeface="Cambria" panose="02040503050406030204" pitchFamily="18" charset="0"/>
              </a:rPr>
              <a:t>don’t provide automatic bounds checking</a:t>
            </a:r>
            <a:r>
              <a:rPr lang="en-US" sz="2400" dirty="0">
                <a:solidFill>
                  <a:srgbClr val="000000"/>
                </a:solidFill>
                <a:latin typeface="Cambria" panose="02040503050406030204" pitchFamily="18" charset="0"/>
              </a:rPr>
              <a:t>—you must ensure that array-access expressions use subscripts that are within the built-in array’s bounds.</a:t>
            </a:r>
          </a:p>
        </p:txBody>
      </p:sp>
      <p:sp>
        <p:nvSpPr>
          <p:cNvPr id="48132" name="Footer Placeholder 3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/>
              <a:t>©1992-2017 by Pearson Education, Inc. All Rights Reserved.</a:t>
            </a:r>
            <a:endParaRPr lang="en-US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</p:spPr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rgbClr val="24B5A1"/>
                </a:solidFill>
                <a:latin typeface="Calibri" panose="020F0502020204030204" pitchFamily="34" charset="0"/>
              </a:rPr>
              <a:t>8.5.7  </a:t>
            </a:r>
            <a:r>
              <a:rPr lang="en-US" dirty="0">
                <a:solidFill>
                  <a:srgbClr val="3380E6"/>
                </a:solidFill>
                <a:latin typeface="Calibri" panose="020F0502020204030204" pitchFamily="34" charset="0"/>
              </a:rPr>
              <a:t>Built-In Arrays Sometimes Are Required</a:t>
            </a:r>
          </a:p>
        </p:txBody>
      </p:sp>
      <p:sp>
        <p:nvSpPr>
          <p:cNvPr id="4608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3000"/>
            <a:ext cx="8229600" cy="4525963"/>
          </a:xfrm>
        </p:spPr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en-US" dirty="0">
                <a:solidFill>
                  <a:srgbClr val="000000"/>
                </a:solidFill>
                <a:latin typeface="Cambria" panose="02040503050406030204" pitchFamily="18" charset="0"/>
              </a:rPr>
              <a:t>There are cases in which built-in arrays </a:t>
            </a:r>
            <a:r>
              <a:rPr lang="en-US" i="1" dirty="0">
                <a:solidFill>
                  <a:srgbClr val="000000"/>
                </a:solidFill>
                <a:latin typeface="Cambria" panose="02040503050406030204" pitchFamily="18" charset="0"/>
              </a:rPr>
              <a:t>must</a:t>
            </a:r>
            <a:r>
              <a:rPr lang="en-US" dirty="0">
                <a:solidFill>
                  <a:srgbClr val="000000"/>
                </a:solidFill>
                <a:latin typeface="Cambria" panose="02040503050406030204" pitchFamily="18" charset="0"/>
              </a:rPr>
              <a:t> be used, such as processing a program’s </a:t>
            </a:r>
            <a:r>
              <a:rPr lang="en-US" b="1" dirty="0">
                <a:solidFill>
                  <a:srgbClr val="000000"/>
                </a:solidFill>
                <a:latin typeface="Cambria" panose="02040503050406030204" pitchFamily="18" charset="0"/>
              </a:rPr>
              <a:t>command-line arguments</a:t>
            </a:r>
            <a:r>
              <a:rPr lang="en-US" dirty="0">
                <a:solidFill>
                  <a:srgbClr val="000000"/>
                </a:solidFill>
                <a:latin typeface="Cambria" panose="02040503050406030204" pitchFamily="18" charset="0"/>
              </a:rPr>
              <a:t>. 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dirty="0">
                <a:solidFill>
                  <a:srgbClr val="000000"/>
                </a:solidFill>
                <a:latin typeface="Cambria" panose="02040503050406030204" pitchFamily="18" charset="0"/>
              </a:rPr>
              <a:t>You supply command-line arguments to a program by placing them after the program’s name when executing it from the command line. Such arguments typically pass options to a program. 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dirty="0">
                <a:solidFill>
                  <a:srgbClr val="000000"/>
                </a:solidFill>
                <a:latin typeface="Cambria" panose="02040503050406030204" pitchFamily="18" charset="0"/>
              </a:rPr>
              <a:t>Also, a limitation of C++ is that </a:t>
            </a:r>
            <a:r>
              <a:rPr lang="en-US" b="1" dirty="0">
                <a:solidFill>
                  <a:srgbClr val="000000"/>
                </a:solidFill>
                <a:latin typeface="Cambria" panose="02040503050406030204" pitchFamily="18" charset="0"/>
              </a:rPr>
              <a:t>a function cannot have an array</a:t>
            </a:r>
            <a:r>
              <a:rPr lang="en-US" dirty="0">
                <a:solidFill>
                  <a:srgbClr val="000000"/>
                </a:solidFill>
                <a:latin typeface="Cambria" panose="02040503050406030204" pitchFamily="18" charset="0"/>
              </a:rPr>
              <a:t> as output. However, pointers can be the output of a function, and essentially an array is a pointer to its first element. For example: </a:t>
            </a:r>
            <a:r>
              <a:rPr lang="en-US" sz="2000" dirty="0">
                <a:solidFill>
                  <a:srgbClr val="000000"/>
                </a:solidFill>
                <a:latin typeface="Cambria" panose="02040503050406030204" pitchFamily="18" charset="0"/>
              </a:rPr>
              <a:t>(pointers07)</a:t>
            </a:r>
          </a:p>
          <a:p>
            <a:pPr eaLnBrk="1" hangingPunct="1">
              <a:lnSpc>
                <a:spcPct val="90000"/>
              </a:lnSpc>
              <a:defRPr/>
            </a:pPr>
            <a:endParaRPr lang="en-US" sz="2500" dirty="0">
              <a:solidFill>
                <a:srgbClr val="000000"/>
              </a:solidFill>
              <a:latin typeface="Cambria" panose="02040503050406030204" pitchFamily="18" charset="0"/>
            </a:endParaRPr>
          </a:p>
        </p:txBody>
      </p:sp>
      <p:sp>
        <p:nvSpPr>
          <p:cNvPr id="48132" name="Footer Placeholder 3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/>
              <a:t>©1992-2017 by Pearson Education, Inc. All Rights Reserved.</a:t>
            </a:r>
            <a:endParaRPr lang="en-US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</p:spPr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rgbClr val="24B5A1"/>
                </a:solidFill>
                <a:latin typeface="Calibri" panose="020F0502020204030204" pitchFamily="34" charset="0"/>
              </a:rPr>
              <a:t>8.5.7 Returning an array using pointers </a:t>
            </a:r>
            <a:endParaRPr lang="en-US" dirty="0">
              <a:solidFill>
                <a:srgbClr val="3380E6"/>
              </a:solidFill>
              <a:latin typeface="Calibri" panose="020F0502020204030204" pitchFamily="34" charset="0"/>
            </a:endParaRPr>
          </a:p>
        </p:txBody>
      </p:sp>
      <p:sp>
        <p:nvSpPr>
          <p:cNvPr id="48132" name="Footer Placeholder 3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/>
              <a:t>©1992-2017 by Pearson Education, Inc. All Rights Reserved.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914400" y="914400"/>
            <a:ext cx="6629400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 err="1"/>
              <a:t>int</a:t>
            </a:r>
            <a:r>
              <a:rPr lang="en-GB" dirty="0"/>
              <a:t>* demo() //return type- address of integer array</a:t>
            </a:r>
          </a:p>
          <a:p>
            <a:r>
              <a:rPr lang="en-GB" dirty="0"/>
              <a:t>{</a:t>
            </a:r>
          </a:p>
          <a:p>
            <a:r>
              <a:rPr lang="en-GB" dirty="0"/>
              <a:t>	static </a:t>
            </a:r>
            <a:r>
              <a:rPr lang="en-GB" dirty="0" err="1"/>
              <a:t>int</a:t>
            </a:r>
            <a:r>
              <a:rPr lang="en-GB" dirty="0"/>
              <a:t> a[5]; //array declared as static</a:t>
            </a:r>
          </a:p>
          <a:p>
            <a:r>
              <a:rPr lang="en-GB" dirty="0"/>
              <a:t>	for(</a:t>
            </a:r>
            <a:r>
              <a:rPr lang="en-GB" dirty="0" err="1"/>
              <a:t>int</a:t>
            </a:r>
            <a:r>
              <a:rPr lang="en-GB" dirty="0"/>
              <a:t> </a:t>
            </a:r>
            <a:r>
              <a:rPr lang="en-GB" dirty="0" err="1"/>
              <a:t>i</a:t>
            </a:r>
            <a:r>
              <a:rPr lang="en-GB" dirty="0"/>
              <a:t> = 0; </a:t>
            </a:r>
            <a:r>
              <a:rPr lang="en-GB" dirty="0" err="1"/>
              <a:t>i</a:t>
            </a:r>
            <a:r>
              <a:rPr lang="en-GB" dirty="0"/>
              <a:t>&lt;5; </a:t>
            </a:r>
            <a:r>
              <a:rPr lang="en-GB" dirty="0" err="1"/>
              <a:t>i</a:t>
            </a:r>
            <a:r>
              <a:rPr lang="en-GB" dirty="0"/>
              <a:t>++)</a:t>
            </a:r>
          </a:p>
          <a:p>
            <a:r>
              <a:rPr lang="en-GB" dirty="0"/>
              <a:t>	{</a:t>
            </a:r>
          </a:p>
          <a:p>
            <a:r>
              <a:rPr lang="en-GB" dirty="0"/>
              <a:t>		a[</a:t>
            </a:r>
            <a:r>
              <a:rPr lang="en-GB" dirty="0" err="1"/>
              <a:t>i</a:t>
            </a:r>
            <a:r>
              <a:rPr lang="en-GB" dirty="0"/>
              <a:t>] = </a:t>
            </a:r>
            <a:r>
              <a:rPr lang="en-GB" dirty="0" err="1"/>
              <a:t>i</a:t>
            </a:r>
            <a:r>
              <a:rPr lang="en-GB" dirty="0"/>
              <a:t>; //array initialisation</a:t>
            </a:r>
          </a:p>
          <a:p>
            <a:r>
              <a:rPr lang="en-GB" dirty="0"/>
              <a:t>	}</a:t>
            </a:r>
          </a:p>
          <a:p>
            <a:r>
              <a:rPr lang="en-GB" dirty="0"/>
              <a:t>	return a; //address of a returned</a:t>
            </a:r>
          </a:p>
          <a:p>
            <a:r>
              <a:rPr lang="en-GB" dirty="0"/>
              <a:t>}</a:t>
            </a:r>
          </a:p>
          <a:p>
            <a:r>
              <a:rPr lang="en-GB" dirty="0" err="1"/>
              <a:t>int</a:t>
            </a:r>
            <a:r>
              <a:rPr lang="en-GB" dirty="0"/>
              <a:t> main()</a:t>
            </a:r>
          </a:p>
          <a:p>
            <a:r>
              <a:rPr lang="en-GB" dirty="0"/>
              <a:t>{</a:t>
            </a:r>
          </a:p>
          <a:p>
            <a:r>
              <a:rPr lang="en-GB" dirty="0"/>
              <a:t>	</a:t>
            </a:r>
            <a:r>
              <a:rPr lang="en-GB" dirty="0" err="1"/>
              <a:t>int</a:t>
            </a:r>
            <a:r>
              <a:rPr lang="en-GB" dirty="0"/>
              <a:t>* </a:t>
            </a:r>
            <a:r>
              <a:rPr lang="en-GB" dirty="0" err="1"/>
              <a:t>ptr</a:t>
            </a:r>
            <a:r>
              <a:rPr lang="en-GB" dirty="0"/>
              <a:t>; //pointer to hold address</a:t>
            </a:r>
          </a:p>
          <a:p>
            <a:r>
              <a:rPr lang="en-GB" dirty="0"/>
              <a:t>	</a:t>
            </a:r>
            <a:r>
              <a:rPr lang="en-GB" dirty="0" err="1"/>
              <a:t>int</a:t>
            </a:r>
            <a:r>
              <a:rPr lang="en-GB" dirty="0"/>
              <a:t> </a:t>
            </a:r>
            <a:r>
              <a:rPr lang="en-GB" dirty="0" err="1"/>
              <a:t>i</a:t>
            </a:r>
            <a:r>
              <a:rPr lang="en-GB" dirty="0"/>
              <a:t>;</a:t>
            </a:r>
          </a:p>
          <a:p>
            <a:r>
              <a:rPr lang="en-GB" dirty="0"/>
              <a:t>	</a:t>
            </a:r>
            <a:r>
              <a:rPr lang="en-GB" dirty="0" err="1"/>
              <a:t>ptr</a:t>
            </a:r>
            <a:r>
              <a:rPr lang="en-GB" dirty="0"/>
              <a:t> = demo(); //address of a</a:t>
            </a:r>
          </a:p>
          <a:p>
            <a:r>
              <a:rPr lang="en-GB" dirty="0"/>
              <a:t>	</a:t>
            </a:r>
            <a:r>
              <a:rPr lang="en-GB" dirty="0" err="1"/>
              <a:t>cout</a:t>
            </a:r>
            <a:r>
              <a:rPr lang="en-GB" dirty="0"/>
              <a:t>&lt;&lt;"Array is: ";</a:t>
            </a:r>
          </a:p>
          <a:p>
            <a:r>
              <a:rPr lang="en-GB" dirty="0"/>
              <a:t>	for(</a:t>
            </a:r>
            <a:r>
              <a:rPr lang="en-GB" dirty="0" err="1"/>
              <a:t>i</a:t>
            </a:r>
            <a:r>
              <a:rPr lang="en-GB" dirty="0"/>
              <a:t>=0 ; </a:t>
            </a:r>
            <a:r>
              <a:rPr lang="en-GB" dirty="0" err="1"/>
              <a:t>i</a:t>
            </a:r>
            <a:r>
              <a:rPr lang="en-GB" dirty="0"/>
              <a:t>&lt;5; </a:t>
            </a:r>
            <a:r>
              <a:rPr lang="en-GB" dirty="0" err="1"/>
              <a:t>i</a:t>
            </a:r>
            <a:r>
              <a:rPr lang="en-GB" dirty="0"/>
              <a:t>++)</a:t>
            </a:r>
          </a:p>
          <a:p>
            <a:r>
              <a:rPr lang="en-GB" dirty="0"/>
              <a:t>	</a:t>
            </a:r>
            <a:r>
              <a:rPr lang="en-GB" dirty="0" err="1"/>
              <a:t>cout</a:t>
            </a:r>
            <a:r>
              <a:rPr lang="en-GB" dirty="0"/>
              <a:t>&lt;&lt;</a:t>
            </a:r>
            <a:r>
              <a:rPr lang="en-GB" dirty="0" err="1"/>
              <a:t>ptr</a:t>
            </a:r>
            <a:r>
              <a:rPr lang="en-GB" dirty="0"/>
              <a:t>[</a:t>
            </a:r>
            <a:r>
              <a:rPr lang="en-GB" dirty="0" err="1"/>
              <a:t>i</a:t>
            </a:r>
            <a:r>
              <a:rPr lang="en-GB" dirty="0"/>
              <a:t>]&lt;&lt;"\t"; //</a:t>
            </a:r>
            <a:r>
              <a:rPr lang="en-GB" dirty="0" err="1"/>
              <a:t>ptr</a:t>
            </a:r>
            <a:r>
              <a:rPr lang="en-GB" dirty="0"/>
              <a:t>[</a:t>
            </a:r>
            <a:r>
              <a:rPr lang="en-GB" dirty="0" err="1"/>
              <a:t>i</a:t>
            </a:r>
            <a:r>
              <a:rPr lang="en-GB" dirty="0"/>
              <a:t>] is equivalent to *(</a:t>
            </a:r>
            <a:r>
              <a:rPr lang="en-GB" dirty="0" err="1"/>
              <a:t>ptr+i</a:t>
            </a:r>
            <a:r>
              <a:rPr lang="en-GB" dirty="0"/>
              <a:t>)</a:t>
            </a:r>
          </a:p>
          <a:p>
            <a:r>
              <a:rPr lang="en-GB" dirty="0"/>
              <a:t>		</a:t>
            </a:r>
          </a:p>
          <a:p>
            <a:r>
              <a:rPr lang="en-GB" dirty="0"/>
              <a:t>	return 0;</a:t>
            </a:r>
          </a:p>
          <a:p>
            <a:r>
              <a:rPr lang="en-GB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66569133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</p:spPr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rgbClr val="24B5A1"/>
                </a:solidFill>
                <a:latin typeface="Calibri" panose="020F0502020204030204" pitchFamily="34" charset="0"/>
              </a:rPr>
              <a:t>8.5.7 Returning an array using </a:t>
            </a:r>
            <a:r>
              <a:rPr lang="en-US" dirty="0" err="1">
                <a:solidFill>
                  <a:srgbClr val="24B5A1"/>
                </a:solidFill>
                <a:latin typeface="Calibri" panose="020F0502020204030204" pitchFamily="34" charset="0"/>
              </a:rPr>
              <a:t>std</a:t>
            </a:r>
            <a:r>
              <a:rPr lang="en-US" dirty="0">
                <a:solidFill>
                  <a:srgbClr val="24B5A1"/>
                </a:solidFill>
                <a:latin typeface="Calibri" panose="020F0502020204030204" pitchFamily="34" charset="0"/>
              </a:rPr>
              <a:t>::array </a:t>
            </a:r>
            <a:endParaRPr lang="en-US" dirty="0">
              <a:solidFill>
                <a:srgbClr val="3380E6"/>
              </a:solidFill>
              <a:latin typeface="Calibri" panose="020F0502020204030204" pitchFamily="34" charset="0"/>
            </a:endParaRPr>
          </a:p>
        </p:txBody>
      </p:sp>
      <p:sp>
        <p:nvSpPr>
          <p:cNvPr id="48132" name="Footer Placeholder 3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/>
              <a:t>©1992-2017 by Pearson Education, Inc. All Rights Reserved.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914400" y="914400"/>
            <a:ext cx="6629400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 err="1"/>
              <a:t>std</a:t>
            </a:r>
            <a:r>
              <a:rPr lang="en-GB" dirty="0"/>
              <a:t>::array&lt;int,5&gt; </a:t>
            </a:r>
            <a:r>
              <a:rPr lang="en-GB" dirty="0" err="1"/>
              <a:t>func</a:t>
            </a:r>
            <a:r>
              <a:rPr lang="en-GB" dirty="0"/>
              <a:t>() //function with return type </a:t>
            </a:r>
            <a:r>
              <a:rPr lang="en-GB" dirty="0" err="1"/>
              <a:t>std</a:t>
            </a:r>
            <a:r>
              <a:rPr lang="en-GB" dirty="0"/>
              <a:t>::array</a:t>
            </a:r>
          </a:p>
          <a:p>
            <a:r>
              <a:rPr lang="en-GB" dirty="0"/>
              <a:t>{</a:t>
            </a:r>
          </a:p>
          <a:p>
            <a:r>
              <a:rPr lang="en-GB" dirty="0"/>
              <a:t>    </a:t>
            </a:r>
            <a:r>
              <a:rPr lang="en-GB" dirty="0" err="1"/>
              <a:t>std</a:t>
            </a:r>
            <a:r>
              <a:rPr lang="en-GB" dirty="0"/>
              <a:t>::array&lt;int,5&gt; </a:t>
            </a:r>
            <a:r>
              <a:rPr lang="en-GB" dirty="0" err="1"/>
              <a:t>f_array</a:t>
            </a:r>
            <a:r>
              <a:rPr lang="en-GB" dirty="0"/>
              <a:t>; //array declared</a:t>
            </a:r>
          </a:p>
          <a:p>
            <a:r>
              <a:rPr lang="en-GB" dirty="0"/>
              <a:t>    	for(</a:t>
            </a:r>
            <a:r>
              <a:rPr lang="en-GB" dirty="0" err="1"/>
              <a:t>int</a:t>
            </a:r>
            <a:r>
              <a:rPr lang="en-GB" dirty="0"/>
              <a:t> </a:t>
            </a:r>
            <a:r>
              <a:rPr lang="en-GB" dirty="0" err="1"/>
              <a:t>i</a:t>
            </a:r>
            <a:r>
              <a:rPr lang="en-GB" dirty="0"/>
              <a:t>=0;i&lt;5;i++)</a:t>
            </a:r>
          </a:p>
          <a:p>
            <a:r>
              <a:rPr lang="en-GB" dirty="0"/>
              <a:t>	{</a:t>
            </a:r>
          </a:p>
          <a:p>
            <a:r>
              <a:rPr lang="en-GB" dirty="0"/>
              <a:t>		</a:t>
            </a:r>
            <a:r>
              <a:rPr lang="en-GB" dirty="0" err="1"/>
              <a:t>f_array</a:t>
            </a:r>
            <a:r>
              <a:rPr lang="en-GB" dirty="0"/>
              <a:t>[</a:t>
            </a:r>
            <a:r>
              <a:rPr lang="en-GB" dirty="0" err="1"/>
              <a:t>i</a:t>
            </a:r>
            <a:r>
              <a:rPr lang="en-GB" dirty="0"/>
              <a:t>] = </a:t>
            </a:r>
            <a:r>
              <a:rPr lang="en-GB" dirty="0" err="1"/>
              <a:t>i</a:t>
            </a:r>
            <a:r>
              <a:rPr lang="en-GB" dirty="0"/>
              <a:t>;</a:t>
            </a:r>
          </a:p>
          <a:p>
            <a:r>
              <a:rPr lang="en-GB" dirty="0"/>
              <a:t>	}</a:t>
            </a:r>
          </a:p>
          <a:p>
            <a:r>
              <a:rPr lang="en-GB" dirty="0"/>
              <a:t>    return </a:t>
            </a:r>
            <a:r>
              <a:rPr lang="en-GB" dirty="0" err="1"/>
              <a:t>f_array</a:t>
            </a:r>
            <a:r>
              <a:rPr lang="en-GB" dirty="0"/>
              <a:t>; //array returned</a:t>
            </a:r>
          </a:p>
          <a:p>
            <a:r>
              <a:rPr lang="en-GB" dirty="0"/>
              <a:t>}</a:t>
            </a:r>
          </a:p>
          <a:p>
            <a:r>
              <a:rPr lang="en-GB" dirty="0" err="1"/>
              <a:t>int</a:t>
            </a:r>
            <a:r>
              <a:rPr lang="en-GB" dirty="0"/>
              <a:t> main() </a:t>
            </a:r>
          </a:p>
          <a:p>
            <a:r>
              <a:rPr lang="en-GB" dirty="0"/>
              <a:t>{</a:t>
            </a:r>
          </a:p>
          <a:p>
            <a:r>
              <a:rPr lang="en-GB" dirty="0"/>
              <a:t>	</a:t>
            </a:r>
            <a:r>
              <a:rPr lang="en-GB" dirty="0" err="1"/>
              <a:t>std</a:t>
            </a:r>
            <a:r>
              <a:rPr lang="en-GB" dirty="0"/>
              <a:t>::array&lt;int,5&gt; </a:t>
            </a:r>
            <a:r>
              <a:rPr lang="en-GB" dirty="0" err="1"/>
              <a:t>arr</a:t>
            </a:r>
            <a:r>
              <a:rPr lang="en-GB" dirty="0"/>
              <a:t>; //array with length 5</a:t>
            </a:r>
          </a:p>
          <a:p>
            <a:r>
              <a:rPr lang="en-GB" dirty="0"/>
              <a:t>	</a:t>
            </a:r>
            <a:r>
              <a:rPr lang="en-GB" dirty="0" err="1"/>
              <a:t>arr</a:t>
            </a:r>
            <a:r>
              <a:rPr lang="en-GB" dirty="0"/>
              <a:t>=</a:t>
            </a:r>
            <a:r>
              <a:rPr lang="en-GB" dirty="0" err="1"/>
              <a:t>func</a:t>
            </a:r>
            <a:r>
              <a:rPr lang="en-GB" dirty="0"/>
              <a:t>(); //function call</a:t>
            </a:r>
          </a:p>
          <a:p>
            <a:r>
              <a:rPr lang="en-GB" dirty="0"/>
              <a:t>	</a:t>
            </a:r>
            <a:r>
              <a:rPr lang="en-GB" dirty="0" err="1"/>
              <a:t>cout</a:t>
            </a:r>
            <a:r>
              <a:rPr lang="en-GB" dirty="0"/>
              <a:t>&lt;&lt;"The Array is : ";</a:t>
            </a:r>
          </a:p>
          <a:p>
            <a:r>
              <a:rPr lang="en-GB" dirty="0"/>
              <a:t>	for(</a:t>
            </a:r>
            <a:r>
              <a:rPr lang="en-GB" dirty="0" err="1"/>
              <a:t>int</a:t>
            </a:r>
            <a:r>
              <a:rPr lang="en-GB" dirty="0"/>
              <a:t> </a:t>
            </a:r>
            <a:r>
              <a:rPr lang="en-GB" dirty="0" err="1"/>
              <a:t>i</a:t>
            </a:r>
            <a:r>
              <a:rPr lang="en-GB" dirty="0"/>
              <a:t>=0;i&lt;5;i++)</a:t>
            </a:r>
          </a:p>
          <a:p>
            <a:r>
              <a:rPr lang="en-GB" dirty="0"/>
              <a:t>	{</a:t>
            </a:r>
          </a:p>
          <a:p>
            <a:r>
              <a:rPr lang="en-GB" dirty="0"/>
              <a:t>		</a:t>
            </a:r>
            <a:r>
              <a:rPr lang="en-GB" dirty="0" err="1"/>
              <a:t>cout</a:t>
            </a:r>
            <a:r>
              <a:rPr lang="en-GB" dirty="0"/>
              <a:t>&lt;&lt;</a:t>
            </a:r>
            <a:r>
              <a:rPr lang="en-GB" dirty="0" err="1"/>
              <a:t>arr</a:t>
            </a:r>
            <a:r>
              <a:rPr lang="en-GB" dirty="0"/>
              <a:t>[</a:t>
            </a:r>
            <a:r>
              <a:rPr lang="en-GB" dirty="0" err="1"/>
              <a:t>i</a:t>
            </a:r>
            <a:r>
              <a:rPr lang="en-GB" dirty="0"/>
              <a:t>]&lt;&lt;"\t";</a:t>
            </a:r>
          </a:p>
          <a:p>
            <a:r>
              <a:rPr lang="en-GB" dirty="0"/>
              <a:t>	}</a:t>
            </a:r>
          </a:p>
          <a:p>
            <a:r>
              <a:rPr lang="en-GB" dirty="0"/>
              <a:t>	return 0;</a:t>
            </a:r>
          </a:p>
          <a:p>
            <a:r>
              <a:rPr lang="en-GB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49772383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rgbClr val="24B5A1"/>
                </a:solidFill>
                <a:latin typeface="Calibri" panose="020F0502020204030204" pitchFamily="34" charset="0"/>
              </a:rPr>
              <a:t>8.6  </a:t>
            </a:r>
            <a:r>
              <a:rPr lang="en-US" dirty="0">
                <a:solidFill>
                  <a:srgbClr val="3380E6"/>
                </a:solidFill>
                <a:latin typeface="Calibri" panose="020F0502020204030204" pitchFamily="34" charset="0"/>
              </a:rPr>
              <a:t>Using </a:t>
            </a:r>
            <a:r>
              <a:rPr lang="en-US" dirty="0">
                <a:solidFill>
                  <a:srgbClr val="3380E6"/>
                </a:solidFill>
                <a:latin typeface="Consolas" panose="020B0609020204030204" pitchFamily="49" charset="0"/>
              </a:rPr>
              <a:t>const</a:t>
            </a:r>
            <a:r>
              <a:rPr lang="en-US" dirty="0">
                <a:solidFill>
                  <a:srgbClr val="3380E6"/>
                </a:solidFill>
                <a:latin typeface="Calibri" panose="020F0502020204030204" pitchFamily="34" charset="0"/>
              </a:rPr>
              <a:t> with Pointers</a:t>
            </a:r>
          </a:p>
        </p:txBody>
      </p:sp>
      <p:sp>
        <p:nvSpPr>
          <p:cNvPr id="64515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Many possibilities exist for using (or not using) </a:t>
            </a:r>
            <a:r>
              <a:rPr lang="en-US" alt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const</a:t>
            </a: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 with function parameters.</a:t>
            </a:r>
          </a:p>
          <a:p>
            <a:pPr eaLnBrk="1" hangingPunct="1"/>
            <a:r>
              <a:rPr lang="en-US" altLang="en-US" i="1" dirty="0">
                <a:solidFill>
                  <a:srgbClr val="000000"/>
                </a:solidFill>
                <a:latin typeface="Cambria" panose="02040503050406030204" pitchFamily="18" charset="0"/>
              </a:rPr>
              <a:t>Principle of least privilege </a:t>
            </a:r>
          </a:p>
          <a:p>
            <a:pPr lvl="1" eaLnBrk="1" hangingPunct="1"/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Always give a function </a:t>
            </a:r>
            <a:r>
              <a:rPr lang="en-US" altLang="en-US" i="1" dirty="0">
                <a:solidFill>
                  <a:srgbClr val="000000"/>
                </a:solidFill>
                <a:latin typeface="Cambria" panose="02040503050406030204" pitchFamily="18" charset="0"/>
              </a:rPr>
              <a:t>enough</a:t>
            </a: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 access to the data in its parameters to accomplish its specified task, </a:t>
            </a:r>
            <a:r>
              <a:rPr lang="en-US" altLang="en-US" i="1" dirty="0">
                <a:solidFill>
                  <a:srgbClr val="000000"/>
                </a:solidFill>
                <a:latin typeface="Cambria" panose="02040503050406030204" pitchFamily="18" charset="0"/>
              </a:rPr>
              <a:t>but no more</a:t>
            </a: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.</a:t>
            </a:r>
          </a:p>
        </p:txBody>
      </p:sp>
      <p:sp>
        <p:nvSpPr>
          <p:cNvPr id="49156" name="Footer Placeholder 3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/>
              <a:t>©1992-2017 by Pearson Education, Inc. All Rights Reserved.</a:t>
            </a:r>
            <a:endParaRPr lang="en-US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8_Page_31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2657" y="762000"/>
            <a:ext cx="9144000" cy="236815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©1992-2017 by Pearson Education, Inc. All Rights Reserved.</a:t>
            </a:r>
            <a:endParaRPr lang="en-US" dirty="0"/>
          </a:p>
        </p:txBody>
      </p:sp>
      <p:pic>
        <p:nvPicPr>
          <p:cNvPr id="4" name="Picture 3" descr="cpphtp10_08_Page_32">
            <a:extLst>
              <a:ext uri="{FF2B5EF4-FFF2-40B4-BE49-F238E27FC236}">
                <a16:creationId xmlns:a16="http://schemas.microsoft.com/office/drawing/2014/main" id="{E3E62D25-6732-8E4B-A569-3D1AB7A61F51}"/>
              </a:ext>
            </a:extLst>
          </p:cNvPr>
          <p:cNvPicPr>
            <a:picLocks noGrp="1" noChangeAspect="1"/>
          </p:cNvPicPr>
          <p:nvPr isPhoto="1"/>
        </p:nvPicPr>
        <p:blipFill>
          <a:blip r:embed="rId3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57" y="2895600"/>
            <a:ext cx="9144000" cy="249078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5401050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rgbClr val="24B5A1"/>
                </a:solidFill>
                <a:latin typeface="Calibri" panose="020F0502020204030204" pitchFamily="34" charset="0"/>
              </a:rPr>
              <a:t>8.6  </a:t>
            </a:r>
            <a:r>
              <a:rPr lang="en-US" dirty="0">
                <a:solidFill>
                  <a:srgbClr val="3380E6"/>
                </a:solidFill>
                <a:latin typeface="Calibri" panose="020F0502020204030204" pitchFamily="34" charset="0"/>
              </a:rPr>
              <a:t>Using </a:t>
            </a:r>
            <a:r>
              <a:rPr lang="en-US" dirty="0">
                <a:solidFill>
                  <a:srgbClr val="3380E6"/>
                </a:solidFill>
                <a:latin typeface="Consolas" panose="020B0609020204030204" pitchFamily="49" charset="0"/>
              </a:rPr>
              <a:t>const</a:t>
            </a:r>
            <a:r>
              <a:rPr lang="en-US" dirty="0">
                <a:solidFill>
                  <a:srgbClr val="3380E6"/>
                </a:solidFill>
                <a:latin typeface="Calibri" panose="020F0502020204030204" pitchFamily="34" charset="0"/>
              </a:rPr>
              <a:t> with Pointers (cont.)</a:t>
            </a:r>
          </a:p>
        </p:txBody>
      </p:sp>
      <p:sp>
        <p:nvSpPr>
          <p:cNvPr id="67587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There are four ways to pass a pointer to a function</a:t>
            </a:r>
          </a:p>
          <a:p>
            <a:pPr lvl="1" eaLnBrk="1" hangingPunct="1"/>
            <a:r>
              <a:rPr lang="fr-FR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a </a:t>
            </a:r>
            <a:r>
              <a:rPr lang="fr-FR" altLang="en-US" dirty="0" err="1">
                <a:solidFill>
                  <a:srgbClr val="000000"/>
                </a:solidFill>
                <a:latin typeface="Cambria" panose="02040503050406030204" pitchFamily="18" charset="0"/>
              </a:rPr>
              <a:t>nonconstant</a:t>
            </a:r>
            <a:r>
              <a:rPr lang="fr-FR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 pointer to </a:t>
            </a:r>
            <a:r>
              <a:rPr lang="fr-FR" altLang="en-US" dirty="0" err="1">
                <a:solidFill>
                  <a:srgbClr val="000000"/>
                </a:solidFill>
                <a:latin typeface="Cambria" panose="02040503050406030204" pitchFamily="18" charset="0"/>
              </a:rPr>
              <a:t>nonconstant</a:t>
            </a:r>
            <a:r>
              <a:rPr lang="fr-FR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 data </a:t>
            </a:r>
          </a:p>
          <a:p>
            <a:pPr lvl="1" eaLnBrk="1" hangingPunct="1"/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a </a:t>
            </a:r>
            <a:r>
              <a:rPr lang="en-US" altLang="en-US" dirty="0" err="1">
                <a:solidFill>
                  <a:srgbClr val="000000"/>
                </a:solidFill>
                <a:latin typeface="Cambria" panose="02040503050406030204" pitchFamily="18" charset="0"/>
              </a:rPr>
              <a:t>nonconstant</a:t>
            </a: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 pointer to constant data (Fig. 8.10)</a:t>
            </a:r>
          </a:p>
          <a:p>
            <a:pPr lvl="1" eaLnBrk="1" hangingPunct="1"/>
            <a:r>
              <a:rPr lang="fr-FR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a constant pointer to </a:t>
            </a:r>
            <a:r>
              <a:rPr lang="fr-FR" altLang="en-US" dirty="0" err="1">
                <a:solidFill>
                  <a:srgbClr val="000000"/>
                </a:solidFill>
                <a:latin typeface="Cambria" panose="02040503050406030204" pitchFamily="18" charset="0"/>
              </a:rPr>
              <a:t>nonconstant</a:t>
            </a:r>
            <a:r>
              <a:rPr lang="fr-FR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 data (Fig. 8.11)</a:t>
            </a:r>
          </a:p>
          <a:p>
            <a:pPr lvl="1" eaLnBrk="1" hangingPunct="1"/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a constant pointer to constant data (Fig. 8.12)</a:t>
            </a:r>
          </a:p>
          <a:p>
            <a:pPr eaLnBrk="1" hangingPunct="1"/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Each combination provides a different level of access privilege.</a:t>
            </a:r>
          </a:p>
        </p:txBody>
      </p:sp>
      <p:sp>
        <p:nvSpPr>
          <p:cNvPr id="52228" name="Footer Placeholder 3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/>
              <a:t>©1992-2017 by Pearson Education, Inc. All Rights Reserved.</a:t>
            </a:r>
            <a:endParaRPr lang="en-US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1"/>
            <a:r>
              <a:rPr lang="en-US" altLang="en-US" sz="3400" dirty="0">
                <a:solidFill>
                  <a:srgbClr val="000000"/>
                </a:solidFill>
                <a:latin typeface="Cambria" panose="02040503050406030204" pitchFamily="18" charset="0"/>
              </a:rPr>
              <a:t>a </a:t>
            </a:r>
            <a:r>
              <a:rPr lang="en-US" altLang="en-US" sz="3400" dirty="0" err="1">
                <a:solidFill>
                  <a:srgbClr val="000000"/>
                </a:solidFill>
                <a:latin typeface="Cambria" panose="02040503050406030204" pitchFamily="18" charset="0"/>
              </a:rPr>
              <a:t>nonconstant</a:t>
            </a:r>
            <a:r>
              <a:rPr lang="en-US" altLang="en-US" sz="3400" dirty="0">
                <a:solidFill>
                  <a:srgbClr val="000000"/>
                </a:solidFill>
                <a:latin typeface="Cambria" panose="02040503050406030204" pitchFamily="18" charset="0"/>
              </a:rPr>
              <a:t> pointer to constant data</a:t>
            </a:r>
          </a:p>
        </p:txBody>
      </p:sp>
      <p:sp>
        <p:nvSpPr>
          <p:cNvPr id="52228" name="Footer Placeholder 3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/>
              <a:t>©1992-2017 by Pearson Education, Inc. All Rights Reserved.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676" y="2005179"/>
            <a:ext cx="6216648" cy="1554162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6400" y="3402642"/>
            <a:ext cx="6163072" cy="2418555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85800" y="1073963"/>
            <a:ext cx="796131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/>
              <a:t>a pointer that can be modified to point to any data of the appropriate type, but the data to which it points cannot be modified through that pointer. </a:t>
            </a:r>
          </a:p>
        </p:txBody>
      </p:sp>
    </p:spTree>
    <p:extLst>
      <p:ext uri="{BB962C8B-B14F-4D97-AF65-F5344CB8AC3E}">
        <p14:creationId xmlns:p14="http://schemas.microsoft.com/office/powerpoint/2010/main" val="395667460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1"/>
            <a:r>
              <a:rPr lang="en-US" altLang="en-US" sz="3400" dirty="0">
                <a:solidFill>
                  <a:srgbClr val="000000"/>
                </a:solidFill>
                <a:latin typeface="Cambria" panose="02040503050406030204" pitchFamily="18" charset="0"/>
              </a:rPr>
              <a:t>Constant pointer to </a:t>
            </a:r>
            <a:r>
              <a:rPr lang="en-US" altLang="en-US" sz="3400" dirty="0" err="1">
                <a:solidFill>
                  <a:srgbClr val="000000"/>
                </a:solidFill>
                <a:latin typeface="Cambria" panose="02040503050406030204" pitchFamily="18" charset="0"/>
              </a:rPr>
              <a:t>Nonconstant</a:t>
            </a:r>
            <a:r>
              <a:rPr lang="en-US" altLang="en-US" sz="3400" dirty="0">
                <a:solidFill>
                  <a:srgbClr val="000000"/>
                </a:solidFill>
                <a:latin typeface="Cambria" panose="02040503050406030204" pitchFamily="18" charset="0"/>
              </a:rPr>
              <a:t> data</a:t>
            </a:r>
          </a:p>
        </p:txBody>
      </p:sp>
      <p:sp>
        <p:nvSpPr>
          <p:cNvPr id="52228" name="Footer Placeholder 3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/>
              <a:t>©1992-2017 by Pearson Education, Inc. All Rights Reserved.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905000"/>
            <a:ext cx="8546388" cy="310038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1094472"/>
            <a:ext cx="8001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/>
              <a:t>always points to the same memory location, and the data at that location can be modified through the pointer</a:t>
            </a:r>
          </a:p>
        </p:txBody>
      </p:sp>
    </p:spTree>
    <p:extLst>
      <p:ext uri="{BB962C8B-B14F-4D97-AF65-F5344CB8AC3E}">
        <p14:creationId xmlns:p14="http://schemas.microsoft.com/office/powerpoint/2010/main" val="128676868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3628" y="299145"/>
            <a:ext cx="8229600" cy="1143000"/>
          </a:xfrm>
        </p:spPr>
        <p:txBody>
          <a:bodyPr>
            <a:normAutofit/>
          </a:bodyPr>
          <a:lstStyle/>
          <a:p>
            <a:pPr lvl="1"/>
            <a:r>
              <a:rPr lang="en-US" altLang="en-US" sz="3400" dirty="0">
                <a:solidFill>
                  <a:srgbClr val="000000"/>
                </a:solidFill>
                <a:latin typeface="Cambria" panose="02040503050406030204" pitchFamily="18" charset="0"/>
              </a:rPr>
              <a:t>Constant pointer to constant data</a:t>
            </a:r>
          </a:p>
        </p:txBody>
      </p:sp>
      <p:sp>
        <p:nvSpPr>
          <p:cNvPr id="52228" name="Footer Placeholder 3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/>
              <a:t>©1992-2017 by Pearson Education, Inc. All Rights Reserved.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1828800"/>
            <a:ext cx="7472823" cy="3457575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43634" y="1055489"/>
            <a:ext cx="810347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/>
              <a:t>such a pointer always points to the same memory location, and the data at that location cannot be modified via the pointer. </a:t>
            </a:r>
          </a:p>
        </p:txBody>
      </p:sp>
    </p:spTree>
    <p:extLst>
      <p:ext uri="{BB962C8B-B14F-4D97-AF65-F5344CB8AC3E}">
        <p14:creationId xmlns:p14="http://schemas.microsoft.com/office/powerpoint/2010/main" val="276031309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rgbClr val="24B5A1"/>
                </a:solidFill>
                <a:latin typeface="Calibri" panose="020F0502020204030204" pitchFamily="34" charset="0"/>
              </a:rPr>
              <a:t>8.7  </a:t>
            </a:r>
            <a:r>
              <a:rPr lang="en-US" dirty="0">
                <a:solidFill>
                  <a:srgbClr val="3380E6"/>
                </a:solidFill>
                <a:latin typeface="Consolas" panose="020B0609020204030204" pitchFamily="49" charset="0"/>
              </a:rPr>
              <a:t>sizeof</a:t>
            </a:r>
            <a:r>
              <a:rPr lang="en-US" dirty="0">
                <a:solidFill>
                  <a:srgbClr val="3380E6"/>
                </a:solidFill>
                <a:latin typeface="Calibri" panose="020F0502020204030204" pitchFamily="34" charset="0"/>
              </a:rPr>
              <a:t> Operator</a:t>
            </a:r>
          </a:p>
        </p:txBody>
      </p:sp>
      <p:sp>
        <p:nvSpPr>
          <p:cNvPr id="80899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The unary operator </a:t>
            </a:r>
            <a:r>
              <a:rPr lang="en-US" altLang="en-US" dirty="0" err="1">
                <a:solidFill>
                  <a:srgbClr val="0000FF"/>
                </a:solidFill>
                <a:latin typeface="Consolas" panose="020B0609020204030204" pitchFamily="49" charset="0"/>
              </a:rPr>
              <a:t>sizeof</a:t>
            </a: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 determines the size in bytes of a built-in array or of any other data type, variable or constant </a:t>
            </a:r>
            <a:r>
              <a:rPr lang="en-US" altLang="en-US" i="1" dirty="0">
                <a:solidFill>
                  <a:srgbClr val="000000"/>
                </a:solidFill>
                <a:latin typeface="Cambria" panose="02040503050406030204" pitchFamily="18" charset="0"/>
              </a:rPr>
              <a:t>during program compilation</a:t>
            </a: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.</a:t>
            </a:r>
          </a:p>
          <a:p>
            <a:pPr eaLnBrk="1" hangingPunct="1"/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When applied to a built-in array’s name, as in Fig. 8.13, the </a:t>
            </a:r>
            <a:r>
              <a:rPr lang="en-US" alt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sizeof</a:t>
            </a: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 operator returns the </a:t>
            </a:r>
            <a:r>
              <a:rPr lang="en-US" altLang="en-US" i="1" dirty="0">
                <a:solidFill>
                  <a:srgbClr val="000000"/>
                </a:solidFill>
                <a:latin typeface="Cambria" panose="02040503050406030204" pitchFamily="18" charset="0"/>
              </a:rPr>
              <a:t>total number of bytes in the built-in array</a:t>
            </a: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 as a value of type </a:t>
            </a:r>
            <a:r>
              <a:rPr lang="en-US" alt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size_t</a:t>
            </a: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.</a:t>
            </a:r>
          </a:p>
        </p:txBody>
      </p:sp>
      <p:sp>
        <p:nvSpPr>
          <p:cNvPr id="72708" name="Footer Placeholder 3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/>
              <a:t>©1992-2017 by Pearson Education, Inc. All Rights Reserved.</a:t>
            </a:r>
            <a:endParaRPr lang="en-US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rgbClr val="24B5A1"/>
                </a:solidFill>
                <a:latin typeface="Calibri" panose="020F0502020204030204" pitchFamily="34" charset="0"/>
              </a:rPr>
              <a:t>8.7  </a:t>
            </a:r>
            <a:r>
              <a:rPr lang="en-US" dirty="0">
                <a:solidFill>
                  <a:srgbClr val="3380E6"/>
                </a:solidFill>
                <a:latin typeface="Consolas" panose="020B0609020204030204" pitchFamily="49" charset="0"/>
              </a:rPr>
              <a:t>sizeof</a:t>
            </a:r>
            <a:r>
              <a:rPr lang="en-US" dirty="0">
                <a:solidFill>
                  <a:srgbClr val="3380E6"/>
                </a:solidFill>
                <a:latin typeface="Calibri" panose="020F0502020204030204" pitchFamily="34" charset="0"/>
              </a:rPr>
              <a:t> Operator (cont.)</a:t>
            </a:r>
          </a:p>
        </p:txBody>
      </p:sp>
      <p:sp>
        <p:nvSpPr>
          <p:cNvPr id="84995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2500" dirty="0">
                <a:solidFill>
                  <a:srgbClr val="000000"/>
                </a:solidFill>
                <a:latin typeface="Cambria" panose="02040503050406030204" pitchFamily="18" charset="0"/>
              </a:rPr>
              <a:t>To determine the number of elements in the built-in array </a:t>
            </a:r>
            <a:r>
              <a:rPr lang="en-US" altLang="en-US" sz="2500" dirty="0">
                <a:solidFill>
                  <a:srgbClr val="000000"/>
                </a:solidFill>
                <a:latin typeface="Consolas" panose="020B0609020204030204" pitchFamily="49" charset="0"/>
              </a:rPr>
              <a:t>numbers</a:t>
            </a:r>
            <a:r>
              <a:rPr lang="en-US" altLang="en-US" sz="2500" dirty="0">
                <a:solidFill>
                  <a:srgbClr val="000000"/>
                </a:solidFill>
                <a:latin typeface="Cambria" panose="02040503050406030204" pitchFamily="18" charset="0"/>
              </a:rPr>
              <a:t>, use the following expression (which is evaluated at </a:t>
            </a:r>
            <a:r>
              <a:rPr lang="en-US" altLang="en-US" sz="2500" i="1" dirty="0">
                <a:solidFill>
                  <a:srgbClr val="000000"/>
                </a:solidFill>
                <a:latin typeface="Cambria" panose="02040503050406030204" pitchFamily="18" charset="0"/>
              </a:rPr>
              <a:t>compile time</a:t>
            </a:r>
            <a:r>
              <a:rPr lang="en-US" altLang="en-US" sz="2500" dirty="0">
                <a:solidFill>
                  <a:srgbClr val="000000"/>
                </a:solidFill>
                <a:latin typeface="Cambria" panose="02040503050406030204" pitchFamily="18" charset="0"/>
              </a:rPr>
              <a:t>) :</a:t>
            </a:r>
          </a:p>
          <a:p>
            <a:pPr lvl="2" eaLnBrk="1" hangingPunct="1"/>
            <a:r>
              <a:rPr lang="en-US" altLang="en-US" sz="1900" dirty="0" err="1">
                <a:solidFill>
                  <a:srgbClr val="0000FF"/>
                </a:solidFill>
                <a:latin typeface="Consolas" panose="020B0609020204030204" pitchFamily="49" charset="0"/>
              </a:rPr>
              <a:t>sizeof</a:t>
            </a:r>
            <a:r>
              <a:rPr lang="en-US" altLang="en-US" sz="1900" dirty="0">
                <a:solidFill>
                  <a:srgbClr val="000000"/>
                </a:solidFill>
                <a:latin typeface="Consolas" panose="020B0609020204030204" pitchFamily="49" charset="0"/>
              </a:rPr>
              <a:t> numbers / </a:t>
            </a:r>
            <a:r>
              <a:rPr lang="en-US" altLang="en-US" sz="1900" dirty="0" err="1">
                <a:solidFill>
                  <a:srgbClr val="0000FF"/>
                </a:solidFill>
                <a:latin typeface="Consolas" panose="020B0609020204030204" pitchFamily="49" charset="0"/>
              </a:rPr>
              <a:t>sizeof</a:t>
            </a:r>
            <a:r>
              <a:rPr lang="en-US" altLang="en-US" sz="1900" dirty="0">
                <a:solidFill>
                  <a:srgbClr val="000000"/>
                </a:solidFill>
                <a:latin typeface="Consolas" panose="020B0609020204030204" pitchFamily="49" charset="0"/>
              </a:rPr>
              <a:t>(numbers[</a:t>
            </a:r>
            <a:r>
              <a:rPr lang="en-US" altLang="en-US" sz="1900" dirty="0">
                <a:solidFill>
                  <a:srgbClr val="128AFF"/>
                </a:solidFill>
                <a:latin typeface="Consolas" panose="020B0609020204030204" pitchFamily="49" charset="0"/>
              </a:rPr>
              <a:t>0</a:t>
            </a:r>
            <a:r>
              <a:rPr lang="en-US" altLang="en-US" sz="1900" dirty="0">
                <a:solidFill>
                  <a:srgbClr val="000000"/>
                </a:solidFill>
                <a:latin typeface="Consolas" panose="020B0609020204030204" pitchFamily="49" charset="0"/>
              </a:rPr>
              <a:t>]) </a:t>
            </a:r>
          </a:p>
          <a:p>
            <a:pPr eaLnBrk="1" hangingPunct="1"/>
            <a:r>
              <a:rPr lang="en-US" altLang="en-US" sz="2500" dirty="0">
                <a:solidFill>
                  <a:srgbClr val="000000"/>
                </a:solidFill>
                <a:latin typeface="Cambria" panose="02040503050406030204" pitchFamily="18" charset="0"/>
              </a:rPr>
              <a:t>The expression divides the number of bytes in </a:t>
            </a:r>
            <a:r>
              <a:rPr lang="en-US" altLang="en-US" sz="2500" dirty="0">
                <a:solidFill>
                  <a:srgbClr val="000000"/>
                </a:solidFill>
                <a:latin typeface="Consolas" panose="020B0609020204030204" pitchFamily="49" charset="0"/>
              </a:rPr>
              <a:t>numbers</a:t>
            </a:r>
            <a:r>
              <a:rPr lang="en-US" altLang="en-US" sz="2500" dirty="0">
                <a:solidFill>
                  <a:srgbClr val="000000"/>
                </a:solidFill>
                <a:latin typeface="Cambria" panose="02040503050406030204" pitchFamily="18" charset="0"/>
              </a:rPr>
              <a:t> by the number of bytes in the built-in array’s zeroth element.</a:t>
            </a:r>
          </a:p>
        </p:txBody>
      </p:sp>
      <p:sp>
        <p:nvSpPr>
          <p:cNvPr id="76804" name="Footer Placeholder 3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/>
              <a:t>©1992-2017 by Pearson Education, Inc. All Rights Reserved.</a:t>
            </a:r>
            <a:endParaRPr lang="en-US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8_Page_42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69273"/>
            <a:ext cx="9144000" cy="532014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©1992-2017 by Pearson Education, Inc.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33273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8_Page_43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501" y="761999"/>
            <a:ext cx="9156501" cy="5327419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©1992-2017 by Pearson Education, Inc.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406804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8_Page_44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26394"/>
            <a:ext cx="9144000" cy="3604022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©1992-2017 by Pearson Education, Inc.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071514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8_Page_45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69294"/>
            <a:ext cx="9144000" cy="291941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©1992-2017 by Pearson Education, Inc.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754618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rgbClr val="24B5A1"/>
                </a:solidFill>
                <a:latin typeface="Calibri" panose="020F0502020204030204" pitchFamily="34" charset="0"/>
              </a:rPr>
              <a:t>8.7  </a:t>
            </a:r>
            <a:r>
              <a:rPr lang="en-US" dirty="0">
                <a:solidFill>
                  <a:srgbClr val="3380E6"/>
                </a:solidFill>
                <a:latin typeface="Consolas" panose="020B0609020204030204" pitchFamily="49" charset="0"/>
              </a:rPr>
              <a:t>sizeof</a:t>
            </a:r>
            <a:r>
              <a:rPr lang="en-US" dirty="0">
                <a:solidFill>
                  <a:srgbClr val="3380E6"/>
                </a:solidFill>
                <a:latin typeface="Calibri" panose="020F0502020204030204" pitchFamily="34" charset="0"/>
              </a:rPr>
              <a:t> Operator (cont.)</a:t>
            </a:r>
          </a:p>
        </p:txBody>
      </p:sp>
      <p:sp>
        <p:nvSpPr>
          <p:cNvPr id="91139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Operator </a:t>
            </a:r>
            <a:r>
              <a:rPr lang="en-US" alt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sizeof</a:t>
            </a: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 can be applied to any expression or type name.</a:t>
            </a:r>
          </a:p>
          <a:p>
            <a:pPr eaLnBrk="1" hangingPunct="1"/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When </a:t>
            </a:r>
            <a:r>
              <a:rPr lang="en-US" alt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sizeof</a:t>
            </a: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 is applied to a variable name (which is not a built-in array’s name) or other expression, the number of bytes used to store the specific type of the expression is returned.</a:t>
            </a:r>
          </a:p>
          <a:p>
            <a:pPr eaLnBrk="1" hangingPunct="1"/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The parentheses used with </a:t>
            </a:r>
            <a:r>
              <a:rPr lang="en-US" alt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sizeof</a:t>
            </a: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 are required </a:t>
            </a:r>
            <a:r>
              <a:rPr lang="en-US" altLang="en-US" i="1" dirty="0">
                <a:solidFill>
                  <a:srgbClr val="000000"/>
                </a:solidFill>
                <a:latin typeface="Cambria" panose="02040503050406030204" pitchFamily="18" charset="0"/>
              </a:rPr>
              <a:t>only</a:t>
            </a: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 if a type name is supplied as its operand.</a:t>
            </a:r>
          </a:p>
        </p:txBody>
      </p:sp>
      <p:sp>
        <p:nvSpPr>
          <p:cNvPr id="81924" name="Footer Placeholder 3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/>
              <a:t>©1992-2017 by Pearson Education, Inc. All Rights Reserved.</a:t>
            </a:r>
            <a:endParaRPr lang="en-US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rgbClr val="24B5A1"/>
                </a:solidFill>
                <a:latin typeface="Calibri" panose="020F0502020204030204" pitchFamily="34" charset="0"/>
              </a:rPr>
              <a:t>8.8  </a:t>
            </a:r>
            <a:r>
              <a:rPr lang="en-US" dirty="0">
                <a:solidFill>
                  <a:srgbClr val="3380E6"/>
                </a:solidFill>
                <a:latin typeface="Calibri" panose="020F0502020204030204" pitchFamily="34" charset="0"/>
              </a:rPr>
              <a:t>Pointer Expressions and Pointer Arithmetic</a:t>
            </a:r>
          </a:p>
        </p:txBody>
      </p:sp>
      <p:sp>
        <p:nvSpPr>
          <p:cNvPr id="9216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Pointers are valid operands in arithmetic expressions, assignment expressions and comparison expressions.</a:t>
            </a:r>
          </a:p>
          <a:p>
            <a:pPr eaLnBrk="1" hangingPunct="1"/>
            <a:r>
              <a:rPr lang="en-US" altLang="en-US" dirty="0">
                <a:latin typeface="Cambria" panose="02040503050406030204" pitchFamily="18" charset="0"/>
              </a:rPr>
              <a:t>C++ enables </a:t>
            </a:r>
            <a:r>
              <a:rPr lang="en-US" altLang="en-US" dirty="0">
                <a:solidFill>
                  <a:srgbClr val="0000FF"/>
                </a:solidFill>
                <a:latin typeface="Cambria" panose="02040503050406030204" pitchFamily="18" charset="0"/>
              </a:rPr>
              <a:t>pointer arithmetic</a:t>
            </a: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—a few arithmetic operations may be performed on pointers:</a:t>
            </a:r>
          </a:p>
          <a:p>
            <a:pPr lvl="1" eaLnBrk="1" hangingPunct="1"/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increment (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++</a:t>
            </a: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)</a:t>
            </a:r>
          </a:p>
          <a:p>
            <a:pPr lvl="1" eaLnBrk="1" hangingPunct="1"/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decremented (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--</a:t>
            </a: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)</a:t>
            </a:r>
          </a:p>
          <a:p>
            <a:pPr lvl="1" eaLnBrk="1" hangingPunct="1"/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an integer may be added to a pointer (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+</a:t>
            </a: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 or 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+=</a:t>
            </a: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)</a:t>
            </a:r>
          </a:p>
          <a:p>
            <a:pPr lvl="1" eaLnBrk="1" hangingPunct="1"/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an integer may be subtracted from a pointer (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-</a:t>
            </a: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 or 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-=</a:t>
            </a: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) </a:t>
            </a:r>
          </a:p>
          <a:p>
            <a:pPr lvl="1" eaLnBrk="1" hangingPunct="1"/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one pointer may be subtracted from another of the same type—this particular operation is appropriate only for two pointers that point to elements of the same built-in array</a:t>
            </a:r>
          </a:p>
        </p:txBody>
      </p:sp>
      <p:sp>
        <p:nvSpPr>
          <p:cNvPr id="86020" name="Footer Placeholder 3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/>
              <a:t>©1992-2017 by Pearson Education, Inc. All Rights Reserved.</a:t>
            </a:r>
            <a:endParaRPr lang="en-US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8_Page_46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71675"/>
            <a:ext cx="9144000" cy="291346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©1992-2017 by Pearson Education, Inc.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416133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rgbClr val="24B5A1"/>
                </a:solidFill>
                <a:latin typeface="Calibri" panose="020F0502020204030204" pitchFamily="34" charset="0"/>
              </a:rPr>
              <a:t>8.8  </a:t>
            </a:r>
            <a:r>
              <a:rPr lang="en-US" dirty="0">
                <a:solidFill>
                  <a:srgbClr val="3380E6"/>
                </a:solidFill>
                <a:latin typeface="Calibri" panose="020F0502020204030204" pitchFamily="34" charset="0"/>
              </a:rPr>
              <a:t>Pointer Expressions and Pointer Arithmetic</a:t>
            </a:r>
          </a:p>
        </p:txBody>
      </p:sp>
      <p:sp>
        <p:nvSpPr>
          <p:cNvPr id="94211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Assume that </a:t>
            </a:r>
            <a:r>
              <a:rPr lang="en-US" alt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int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 v[5]</a:t>
            </a: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 has been declared and that its first element is at memory location 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3000</a:t>
            </a: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. </a:t>
            </a:r>
          </a:p>
          <a:p>
            <a:pPr eaLnBrk="1" hangingPunct="1"/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Assume that pointer </a:t>
            </a:r>
            <a:r>
              <a:rPr lang="en-US" alt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vPtr</a:t>
            </a: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 has been initialized to point to 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v[0]</a:t>
            </a: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 (i.e., the value of </a:t>
            </a:r>
            <a:r>
              <a:rPr lang="en-US" alt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vPtr</a:t>
            </a: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 is 3000). </a:t>
            </a:r>
          </a:p>
          <a:p>
            <a:pPr eaLnBrk="1" hangingPunct="1"/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Figure 8.15 diagrams this situation for a machine with four-byte integers. Variable </a:t>
            </a:r>
            <a:r>
              <a:rPr lang="en-US" alt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vPtr</a:t>
            </a: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 can be initialized to point to 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v</a:t>
            </a: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 with either of the following statements:</a:t>
            </a:r>
          </a:p>
          <a:p>
            <a:pPr marL="603250" lvl="2" indent="0" eaLnBrk="1" hangingPunct="1">
              <a:buFont typeface="Wingdings 2" panose="05020102010507070707" pitchFamily="18" charset="2"/>
              <a:buNone/>
            </a:pPr>
            <a:r>
              <a:rPr lang="en-US" altLang="en-US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* </a:t>
            </a:r>
            <a:r>
              <a:rPr lang="en-US" alt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vPtr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{v};</a:t>
            </a:r>
          </a:p>
          <a:p>
            <a:pPr marL="603250" lvl="2" indent="0" eaLnBrk="1" hangingPunct="1">
              <a:buFont typeface="Wingdings 2" panose="05020102010507070707" pitchFamily="18" charset="2"/>
              <a:buNone/>
            </a:pPr>
            <a:r>
              <a:rPr lang="en-US" altLang="en-US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* </a:t>
            </a:r>
            <a:r>
              <a:rPr lang="en-US" alt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vPtr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{&amp;v[</a:t>
            </a:r>
            <a:r>
              <a:rPr lang="en-US" altLang="en-US" dirty="0">
                <a:solidFill>
                  <a:srgbClr val="00B0F0"/>
                </a:solidFill>
                <a:latin typeface="Consolas" panose="020B0609020204030204" pitchFamily="49" charset="0"/>
              </a:rPr>
              <a:t>0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]};</a:t>
            </a:r>
          </a:p>
          <a:p>
            <a:pPr eaLnBrk="1" hangingPunct="1"/>
            <a:endParaRPr lang="en-US" altLang="en-US" dirty="0">
              <a:solidFill>
                <a:srgbClr val="000000"/>
              </a:solidFill>
              <a:latin typeface="Cambria" panose="02040503050406030204" pitchFamily="18" charset="0"/>
            </a:endParaRPr>
          </a:p>
        </p:txBody>
      </p:sp>
      <p:sp>
        <p:nvSpPr>
          <p:cNvPr id="86020" name="Footer Placeholder 3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/>
              <a:t>©1992-2017 by Pearson Education, Inc. All Rights Reserved.</a:t>
            </a:r>
            <a:endParaRPr lang="en-US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8_Page_47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63279"/>
            <a:ext cx="9144000" cy="393025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©1992-2017 by Pearson Education, Inc.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7859452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dirty="0">
                <a:solidFill>
                  <a:srgbClr val="24B5A1"/>
                </a:solidFill>
                <a:latin typeface="Calibri" panose="020F0502020204030204" pitchFamily="34" charset="0"/>
              </a:rPr>
              <a:t>8.8.1  </a:t>
            </a:r>
            <a:r>
              <a:rPr lang="en-US" dirty="0">
                <a:solidFill>
                  <a:srgbClr val="3380E6"/>
                </a:solidFill>
                <a:latin typeface="Calibri" panose="020F0502020204030204" pitchFamily="34" charset="0"/>
              </a:rPr>
              <a:t>Adding Integers to and Subtracting Integers from Pointers</a:t>
            </a:r>
            <a:br>
              <a:rPr lang="en-US" dirty="0">
                <a:solidFill>
                  <a:srgbClr val="3380E6"/>
                </a:solidFill>
                <a:latin typeface="Calibri" panose="020F0502020204030204" pitchFamily="34" charset="0"/>
              </a:rPr>
            </a:br>
            <a:endParaRPr lang="en-US" dirty="0">
              <a:solidFill>
                <a:srgbClr val="3380E6"/>
              </a:solidFill>
              <a:latin typeface="Calibri" panose="020F0502020204030204" pitchFamily="34" charset="0"/>
            </a:endParaRPr>
          </a:p>
        </p:txBody>
      </p:sp>
      <p:sp>
        <p:nvSpPr>
          <p:cNvPr id="88067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z="2800" dirty="0">
                <a:solidFill>
                  <a:srgbClr val="000000"/>
                </a:solidFill>
                <a:latin typeface="Cambria" panose="02040503050406030204" pitchFamily="18" charset="0"/>
              </a:rPr>
              <a:t>In conventional arithmetic, the addition 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3000</a:t>
            </a:r>
            <a:r>
              <a:rPr lang="en-US" sz="2800" dirty="0">
                <a:solidFill>
                  <a:srgbClr val="000000"/>
                </a:solidFill>
                <a:latin typeface="Cambria" panose="02040503050406030204" pitchFamily="18" charset="0"/>
              </a:rPr>
              <a:t> 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+</a:t>
            </a:r>
            <a:r>
              <a:rPr lang="en-US" sz="2800" dirty="0">
                <a:solidFill>
                  <a:srgbClr val="000000"/>
                </a:solidFill>
                <a:latin typeface="Cambria" panose="02040503050406030204" pitchFamily="18" charset="0"/>
              </a:rPr>
              <a:t> 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2</a:t>
            </a:r>
            <a:r>
              <a:rPr lang="en-US" sz="2800" dirty="0">
                <a:solidFill>
                  <a:srgbClr val="000000"/>
                </a:solidFill>
                <a:latin typeface="Cambria" panose="02040503050406030204" pitchFamily="18" charset="0"/>
              </a:rPr>
              <a:t> yields the value 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3002</a:t>
            </a:r>
            <a:r>
              <a:rPr lang="en-US" sz="2800" dirty="0">
                <a:solidFill>
                  <a:srgbClr val="000000"/>
                </a:solidFill>
                <a:latin typeface="Cambria" panose="02040503050406030204" pitchFamily="18" charset="0"/>
              </a:rPr>
              <a:t>.</a:t>
            </a:r>
          </a:p>
          <a:p>
            <a:pPr lvl="1" eaLnBrk="1" hangingPunct="1">
              <a:defRPr/>
            </a:pPr>
            <a:r>
              <a:rPr lang="en-US" sz="2400" dirty="0">
                <a:solidFill>
                  <a:srgbClr val="000000"/>
                </a:solidFill>
                <a:latin typeface="Cambria" panose="02040503050406030204" pitchFamily="18" charset="0"/>
              </a:rPr>
              <a:t>This is normally not the case with pointer arithmetic.</a:t>
            </a:r>
          </a:p>
          <a:p>
            <a:pPr lvl="1" eaLnBrk="1" hangingPunct="1">
              <a:defRPr/>
            </a:pPr>
            <a:r>
              <a:rPr lang="en-US" sz="2400" dirty="0">
                <a:solidFill>
                  <a:srgbClr val="000000"/>
                </a:solidFill>
                <a:latin typeface="Cambria" panose="02040503050406030204" pitchFamily="18" charset="0"/>
              </a:rPr>
              <a:t>When an integer is added to, or subtracted from, a pointer, the pointer is not simply incremented or decremented by that integer, but by that integer </a:t>
            </a:r>
            <a:r>
              <a:rPr lang="en-US" sz="2400" i="1" dirty="0">
                <a:solidFill>
                  <a:srgbClr val="000000"/>
                </a:solidFill>
                <a:latin typeface="Cambria" panose="02040503050406030204" pitchFamily="18" charset="0"/>
              </a:rPr>
              <a:t>times the size of the memory object to which the pointer refers</a:t>
            </a:r>
            <a:r>
              <a:rPr lang="en-US" sz="2400" dirty="0">
                <a:solidFill>
                  <a:srgbClr val="000000"/>
                </a:solidFill>
                <a:latin typeface="Cambria" panose="02040503050406030204" pitchFamily="18" charset="0"/>
              </a:rPr>
              <a:t>.</a:t>
            </a:r>
          </a:p>
          <a:p>
            <a:pPr lvl="1" eaLnBrk="1" hangingPunct="1">
              <a:defRPr/>
            </a:pPr>
            <a:r>
              <a:rPr lang="en-US" sz="2400" dirty="0">
                <a:solidFill>
                  <a:srgbClr val="000000"/>
                </a:solidFill>
                <a:latin typeface="Cambria" panose="02040503050406030204" pitchFamily="18" charset="0"/>
              </a:rPr>
              <a:t>The number of bytes depends on the memory object’s data type.</a:t>
            </a:r>
            <a:endParaRPr lang="en-US" sz="2400" b="1" dirty="0">
              <a:solidFill>
                <a:srgbClr val="000000"/>
              </a:solidFill>
              <a:latin typeface="Courier" pitchFamily="49" charset="0"/>
            </a:endParaRPr>
          </a:p>
        </p:txBody>
      </p:sp>
      <p:sp>
        <p:nvSpPr>
          <p:cNvPr id="91140" name="Footer Placeholder 3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/>
              <a:t>©1992-2017 by Pearson Education, Inc. All Rights Reserved.</a:t>
            </a:r>
            <a:endParaRPr lang="en-US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dirty="0">
                <a:solidFill>
                  <a:srgbClr val="24B5A1"/>
                </a:solidFill>
                <a:latin typeface="Calibri" panose="020F0502020204030204" pitchFamily="34" charset="0"/>
              </a:rPr>
              <a:t>8.8.1  </a:t>
            </a:r>
            <a:r>
              <a:rPr lang="en-US" dirty="0">
                <a:solidFill>
                  <a:srgbClr val="3380E6"/>
                </a:solidFill>
                <a:latin typeface="Calibri" panose="020F0502020204030204" pitchFamily="34" charset="0"/>
              </a:rPr>
              <a:t>Adding Integers to and Subtracting Integers from Pointers</a:t>
            </a:r>
          </a:p>
        </p:txBody>
      </p:sp>
      <p:sp>
        <p:nvSpPr>
          <p:cNvPr id="9728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 err="1">
                <a:solidFill>
                  <a:srgbClr val="00000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vPtr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 += </a:t>
            </a:r>
            <a:r>
              <a:rPr lang="en-US" altLang="en-US" dirty="0">
                <a:solidFill>
                  <a:srgbClr val="00B0F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2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;</a:t>
            </a:r>
          </a:p>
          <a:p>
            <a:pPr lvl="1"/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  <a:cs typeface="Times New Roman" panose="02020603050405020304" pitchFamily="18" charset="0"/>
              </a:rPr>
              <a:t>would produce 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3008</a:t>
            </a: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  <a:cs typeface="Times New Roman" panose="02020603050405020304" pitchFamily="18" charset="0"/>
              </a:rPr>
              <a:t> (from the calculation 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3000 + 2 * 4</a:t>
            </a: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  <a:cs typeface="Times New Roman" panose="02020603050405020304" pitchFamily="18" charset="0"/>
              </a:rPr>
              <a:t>), assuming that an </a:t>
            </a:r>
            <a:r>
              <a:rPr lang="en-US" altLang="en-US" dirty="0" err="1">
                <a:solidFill>
                  <a:srgbClr val="000000"/>
                </a:solidFill>
                <a:latin typeface="Cambria" panose="02040503050406030204" pitchFamily="18" charset="0"/>
                <a:cs typeface="Times New Roman" panose="02020603050405020304" pitchFamily="18" charset="0"/>
              </a:rPr>
              <a:t>int</a:t>
            </a: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  <a:cs typeface="Times New Roman" panose="02020603050405020304" pitchFamily="18" charset="0"/>
              </a:rPr>
              <a:t> is stored in four bytes of memory. </a:t>
            </a:r>
          </a:p>
          <a:p>
            <a:pPr eaLnBrk="1" hangingPunct="1"/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  <a:cs typeface="Times New Roman" panose="02020603050405020304" pitchFamily="18" charset="0"/>
              </a:rPr>
              <a:t>In the built-in array 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v</a:t>
            </a: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dirty="0" err="1">
                <a:solidFill>
                  <a:srgbClr val="00000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vPtr</a:t>
            </a: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  <a:cs typeface="Times New Roman" panose="02020603050405020304" pitchFamily="18" charset="0"/>
              </a:rPr>
              <a:t> would now point to 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v[2]</a:t>
            </a: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  <a:cs typeface="Times New Roman" panose="02020603050405020304" pitchFamily="18" charset="0"/>
              </a:rPr>
              <a:t> (Fig. 8.16). </a:t>
            </a:r>
          </a:p>
          <a:p>
            <a:pPr eaLnBrk="1" hangingPunct="1"/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  <a:cs typeface="Times New Roman" panose="02020603050405020304" pitchFamily="18" charset="0"/>
              </a:rPr>
              <a:t>If an integer is stored in eight bytes of memory, then the preceding calculation would result in memory location 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3016</a:t>
            </a: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  <a:cs typeface="Times New Roman" panose="02020603050405020304" pitchFamily="18" charset="0"/>
              </a:rPr>
              <a:t> (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3000 + 2 * 8</a:t>
            </a: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  <a:cs typeface="Times New Roman" panose="02020603050405020304" pitchFamily="18" charset="0"/>
              </a:rPr>
              <a:t>). </a:t>
            </a:r>
          </a:p>
        </p:txBody>
      </p:sp>
      <p:sp>
        <p:nvSpPr>
          <p:cNvPr id="91140" name="Footer Placeholder 3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/>
              <a:t>©1992-2017 by Pearson Education, Inc. All Rights Reserved.</a:t>
            </a:r>
            <a:endParaRPr lang="en-US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8_Page_48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21607"/>
            <a:ext cx="9144000" cy="4013597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©1992-2017 by Pearson Education, Inc.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1135348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8_Page_49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65698"/>
            <a:ext cx="9144000" cy="332541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©1992-2017 by Pearson Education, Inc.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5277704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dirty="0">
                <a:solidFill>
                  <a:srgbClr val="24B5A1"/>
                </a:solidFill>
                <a:latin typeface="Calibri" panose="020F0502020204030204" pitchFamily="34" charset="0"/>
              </a:rPr>
              <a:t>8.8.3  </a:t>
            </a:r>
            <a:r>
              <a:rPr lang="en-US" dirty="0">
                <a:solidFill>
                  <a:srgbClr val="3380E6"/>
                </a:solidFill>
                <a:latin typeface="Calibri" panose="020F0502020204030204" pitchFamily="34" charset="0"/>
              </a:rPr>
              <a:t>Subtracting Pointers </a:t>
            </a:r>
          </a:p>
        </p:txBody>
      </p:sp>
      <p:sp>
        <p:nvSpPr>
          <p:cNvPr id="90115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>
                <a:solidFill>
                  <a:srgbClr val="000000"/>
                </a:solidFill>
                <a:latin typeface="Cambria" panose="02040503050406030204" pitchFamily="18" charset="0"/>
              </a:rPr>
              <a:t>Pointer variables pointing to the </a:t>
            </a:r>
            <a:r>
              <a:rPr lang="en-US" i="1" dirty="0">
                <a:solidFill>
                  <a:srgbClr val="000000"/>
                </a:solidFill>
                <a:latin typeface="Cambria" panose="02040503050406030204" pitchFamily="18" charset="0"/>
              </a:rPr>
              <a:t>same</a:t>
            </a:r>
            <a:r>
              <a:rPr lang="en-US" dirty="0">
                <a:solidFill>
                  <a:srgbClr val="000000"/>
                </a:solidFill>
                <a:latin typeface="Cambria" panose="02040503050406030204" pitchFamily="18" charset="0"/>
              </a:rPr>
              <a:t> built-in array may be subtracted from one another.</a:t>
            </a:r>
          </a:p>
          <a:p>
            <a:pPr eaLnBrk="1" hangingPunct="1">
              <a:defRPr/>
            </a:pPr>
            <a:r>
              <a:rPr lang="en-US" dirty="0">
                <a:solidFill>
                  <a:srgbClr val="000000"/>
                </a:solidFill>
                <a:latin typeface="Cambria" panose="02040503050406030204" pitchFamily="18" charset="0"/>
              </a:rPr>
              <a:t>For example, if 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vPtr</a:t>
            </a:r>
            <a:r>
              <a:rPr lang="en-US" dirty="0">
                <a:solidFill>
                  <a:srgbClr val="000000"/>
                </a:solidFill>
                <a:latin typeface="Cambria" panose="02040503050406030204" pitchFamily="18" charset="0"/>
              </a:rPr>
              <a:t> contains the address 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3000</a:t>
            </a:r>
            <a:r>
              <a:rPr lang="en-US" dirty="0">
                <a:solidFill>
                  <a:srgbClr val="000000"/>
                </a:solidFill>
                <a:latin typeface="Cambria" panose="02040503050406030204" pitchFamily="18" charset="0"/>
              </a:rPr>
              <a:t> and 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v2Ptr</a:t>
            </a:r>
            <a:r>
              <a:rPr lang="en-US" dirty="0">
                <a:solidFill>
                  <a:srgbClr val="000000"/>
                </a:solidFill>
                <a:latin typeface="Cambria" panose="02040503050406030204" pitchFamily="18" charset="0"/>
              </a:rPr>
              <a:t> contains the address 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3008</a:t>
            </a:r>
            <a:r>
              <a:rPr lang="en-US" dirty="0">
                <a:solidFill>
                  <a:srgbClr val="000000"/>
                </a:solidFill>
                <a:latin typeface="Cambria" panose="02040503050406030204" pitchFamily="18" charset="0"/>
              </a:rPr>
              <a:t>, the statement</a:t>
            </a:r>
          </a:p>
          <a:p>
            <a:pPr marL="630238" lvl="2" indent="0" eaLnBrk="1" hangingPunct="1">
              <a:buFont typeface="Wingdings 2" panose="05020102010507070707" pitchFamily="18" charset="2"/>
              <a:buNone/>
              <a:defRPr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x = v2Ptr - vPtr;</a:t>
            </a:r>
          </a:p>
          <a:p>
            <a:pPr eaLnBrk="1" hangingPunct="1">
              <a:defRPr/>
            </a:pPr>
            <a:r>
              <a:rPr lang="en-US" dirty="0">
                <a:solidFill>
                  <a:srgbClr val="000000"/>
                </a:solidFill>
                <a:latin typeface="Cambria" panose="02040503050406030204" pitchFamily="18" charset="0"/>
              </a:rPr>
              <a:t>would assign to 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x</a:t>
            </a:r>
            <a:r>
              <a:rPr lang="en-US" dirty="0">
                <a:solidFill>
                  <a:srgbClr val="000000"/>
                </a:solidFill>
                <a:latin typeface="Cambria" panose="02040503050406030204" pitchFamily="18" charset="0"/>
              </a:rPr>
              <a:t> the number of built-in array elements from 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vPtr</a:t>
            </a:r>
            <a:r>
              <a:rPr lang="en-US" dirty="0">
                <a:solidFill>
                  <a:srgbClr val="000000"/>
                </a:solidFill>
                <a:latin typeface="Cambria" panose="02040503050406030204" pitchFamily="18" charset="0"/>
              </a:rPr>
              <a:t> to 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v2Ptr</a:t>
            </a:r>
            <a:r>
              <a:rPr lang="en-US" dirty="0">
                <a:solidFill>
                  <a:srgbClr val="000000"/>
                </a:solidFill>
                <a:latin typeface="Cambria" panose="02040503050406030204" pitchFamily="18" charset="0"/>
              </a:rPr>
              <a:t>—in this case, 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2</a:t>
            </a:r>
            <a:r>
              <a:rPr lang="en-US" dirty="0">
                <a:solidFill>
                  <a:srgbClr val="000000"/>
                </a:solidFill>
                <a:latin typeface="Cambria" panose="02040503050406030204" pitchFamily="18" charset="0"/>
              </a:rPr>
              <a:t>.</a:t>
            </a:r>
          </a:p>
          <a:p>
            <a:pPr eaLnBrk="1" hangingPunct="1">
              <a:defRPr/>
            </a:pPr>
            <a:r>
              <a:rPr lang="en-US" i="1" dirty="0">
                <a:solidFill>
                  <a:srgbClr val="000000"/>
                </a:solidFill>
                <a:latin typeface="Cambria" panose="02040503050406030204" pitchFamily="18" charset="0"/>
              </a:rPr>
              <a:t>Pointer arithmetic is meaningful only on a pointer that points to a built-in array.</a:t>
            </a:r>
          </a:p>
        </p:txBody>
      </p:sp>
      <p:sp>
        <p:nvSpPr>
          <p:cNvPr id="95236" name="Footer Placeholder 3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/>
              <a:t>©1992-2017 by Pearson Education, Inc. All Rights Reserved.</a:t>
            </a:r>
            <a:endParaRPr lang="en-US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8_Page_50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395538"/>
            <a:ext cx="9144000" cy="206692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©1992-2017 by Pearson Education, Inc.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795405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rgbClr val="24B5A1"/>
                </a:solidFill>
                <a:latin typeface="Calibri" panose="020F0502020204030204" pitchFamily="34" charset="0"/>
              </a:rPr>
              <a:t>8.8.3  </a:t>
            </a:r>
            <a:r>
              <a:rPr lang="en-US" dirty="0">
                <a:solidFill>
                  <a:srgbClr val="3380E6"/>
                </a:solidFill>
                <a:latin typeface="Calibri" panose="020F0502020204030204" pitchFamily="34" charset="0"/>
              </a:rPr>
              <a:t>Pointer Assignment</a:t>
            </a:r>
          </a:p>
        </p:txBody>
      </p:sp>
      <p:sp>
        <p:nvSpPr>
          <p:cNvPr id="9216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447800"/>
            <a:ext cx="8229600" cy="4525963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>
                <a:solidFill>
                  <a:srgbClr val="000000"/>
                </a:solidFill>
                <a:latin typeface="Cambria" panose="02040503050406030204" pitchFamily="18" charset="0"/>
              </a:rPr>
              <a:t>A pointer can be assigned to another pointer if both pointers are of the </a:t>
            </a:r>
            <a:r>
              <a:rPr lang="en-US" i="1" dirty="0">
                <a:solidFill>
                  <a:srgbClr val="000000"/>
                </a:solidFill>
                <a:latin typeface="Cambria" panose="02040503050406030204" pitchFamily="18" charset="0"/>
              </a:rPr>
              <a:t>same</a:t>
            </a:r>
            <a:r>
              <a:rPr lang="en-US" dirty="0">
                <a:solidFill>
                  <a:srgbClr val="000000"/>
                </a:solidFill>
                <a:latin typeface="Cambria" panose="02040503050406030204" pitchFamily="18" charset="0"/>
              </a:rPr>
              <a:t> type.</a:t>
            </a:r>
          </a:p>
          <a:p>
            <a:pPr eaLnBrk="1" hangingPunct="1">
              <a:defRPr/>
            </a:pPr>
            <a:r>
              <a:rPr lang="en-US" dirty="0">
                <a:solidFill>
                  <a:srgbClr val="000000"/>
                </a:solidFill>
                <a:latin typeface="Cambria" panose="02040503050406030204" pitchFamily="18" charset="0"/>
              </a:rPr>
              <a:t>Otherwise, a cast operator (normally a 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reinterpret_cast</a:t>
            </a:r>
            <a:r>
              <a:rPr lang="en-US" dirty="0">
                <a:solidFill>
                  <a:srgbClr val="000000"/>
                </a:solidFill>
                <a:latin typeface="Cambria" panose="02040503050406030204" pitchFamily="18" charset="0"/>
              </a:rPr>
              <a:t>; discussed in Section 14.7) must be used to convert the value of the pointer on the right of the assignment to the pointer type on the left of the assignment.</a:t>
            </a:r>
          </a:p>
          <a:p>
            <a:pPr lvl="1" eaLnBrk="1" hangingPunct="1">
              <a:defRPr/>
            </a:pPr>
            <a:r>
              <a:rPr lang="en-US" dirty="0">
                <a:solidFill>
                  <a:srgbClr val="000000"/>
                </a:solidFill>
                <a:latin typeface="Cambria" panose="02040503050406030204" pitchFamily="18" charset="0"/>
              </a:rPr>
              <a:t>Exception to this rule is the </a:t>
            </a:r>
            <a:r>
              <a:rPr lang="en-US" dirty="0">
                <a:solidFill>
                  <a:srgbClr val="0000FF"/>
                </a:solidFill>
                <a:latin typeface="Cambria" panose="02040503050406030204" pitchFamily="18" charset="0"/>
              </a:rPr>
              <a:t>pointer to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dirty="0">
                <a:solidFill>
                  <a:srgbClr val="0000FF"/>
                </a:solidFill>
                <a:latin typeface="Cambria" panose="02040503050406030204" pitchFamily="18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Cambria" panose="02040503050406030204" pitchFamily="18" charset="0"/>
              </a:rPr>
              <a:t>(i.e.,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void*</a:t>
            </a:r>
            <a:r>
              <a:rPr lang="en-US" dirty="0">
                <a:solidFill>
                  <a:srgbClr val="000000"/>
                </a:solidFill>
                <a:latin typeface="Cambria" panose="02040503050406030204" pitchFamily="18" charset="0"/>
              </a:rPr>
              <a:t>).</a:t>
            </a:r>
          </a:p>
          <a:p>
            <a:pPr eaLnBrk="1" hangingPunct="1">
              <a:defRPr/>
            </a:pPr>
            <a:r>
              <a:rPr lang="en-US" i="1" dirty="0">
                <a:solidFill>
                  <a:srgbClr val="000000"/>
                </a:solidFill>
                <a:latin typeface="Cambria" panose="02040503050406030204" pitchFamily="18" charset="0"/>
              </a:rPr>
              <a:t>Any pointer to a fundamental type or class type can be assigned to a pointer of type </a:t>
            </a:r>
            <a:r>
              <a:rPr lang="en-US" i="1" dirty="0">
                <a:solidFill>
                  <a:srgbClr val="000000"/>
                </a:solidFill>
                <a:latin typeface="Consolas" panose="020B0609020204030204" pitchFamily="49" charset="0"/>
              </a:rPr>
              <a:t>void*</a:t>
            </a:r>
            <a:r>
              <a:rPr lang="en-US" i="1" dirty="0">
                <a:solidFill>
                  <a:srgbClr val="000000"/>
                </a:solidFill>
                <a:latin typeface="Cambria" panose="02040503050406030204" pitchFamily="18" charset="0"/>
              </a:rPr>
              <a:t> without casting.</a:t>
            </a:r>
          </a:p>
        </p:txBody>
      </p:sp>
      <p:sp>
        <p:nvSpPr>
          <p:cNvPr id="97284" name="Footer Placeholder 3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/>
              <a:t>©1992-2017 by Pearson Education, Inc. All Rights Reserved.</a:t>
            </a:r>
            <a:endParaRPr lang="en-US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8_Page_51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233613"/>
            <a:ext cx="9144000" cy="239077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©1992-2017 by Pearson Education, Inc.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7453895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rgbClr val="24B5A1"/>
                </a:solidFill>
                <a:latin typeface="Calibri" panose="020F0502020204030204" pitchFamily="34" charset="0"/>
              </a:rPr>
              <a:t>8.8.4  </a:t>
            </a:r>
            <a:r>
              <a:rPr lang="en-US" dirty="0">
                <a:solidFill>
                  <a:srgbClr val="3380E6"/>
                </a:solidFill>
                <a:latin typeface="Calibri" panose="020F0502020204030204" pitchFamily="34" charset="0"/>
              </a:rPr>
              <a:t>Cannot Dereference a </a:t>
            </a:r>
            <a:r>
              <a:rPr lang="en-US" dirty="0">
                <a:solidFill>
                  <a:srgbClr val="3380E6"/>
                </a:solidFill>
                <a:latin typeface="Consolas" panose="020B0609020204030204" pitchFamily="49" charset="0"/>
              </a:rPr>
              <a:t>void*</a:t>
            </a:r>
          </a:p>
        </p:txBody>
      </p:sp>
      <p:sp>
        <p:nvSpPr>
          <p:cNvPr id="103427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A 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void*</a:t>
            </a: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 pointer </a:t>
            </a:r>
            <a:r>
              <a:rPr lang="en-US" altLang="en-US" i="1" dirty="0">
                <a:solidFill>
                  <a:srgbClr val="000000"/>
                </a:solidFill>
                <a:latin typeface="Cambria" panose="02040503050406030204" pitchFamily="18" charset="0"/>
              </a:rPr>
              <a:t>cannot</a:t>
            </a: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 be dereferenced.</a:t>
            </a:r>
          </a:p>
          <a:p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The compiler “knows” that an </a:t>
            </a:r>
            <a:r>
              <a:rPr lang="en-US" alt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int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*</a:t>
            </a: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 points to four bytes of memory on a machine with four-byte integers—dereferencing an </a:t>
            </a:r>
            <a:r>
              <a:rPr lang="en-US" alt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int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*</a:t>
            </a: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 creates an </a:t>
            </a:r>
            <a:r>
              <a:rPr lang="en-US" altLang="en-US" i="1" dirty="0" err="1">
                <a:solidFill>
                  <a:srgbClr val="000000"/>
                </a:solidFill>
                <a:latin typeface="Cambria" panose="02040503050406030204" pitchFamily="18" charset="0"/>
              </a:rPr>
              <a:t>lvalue</a:t>
            </a: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 that is an alias for the </a:t>
            </a:r>
            <a:r>
              <a:rPr lang="en-US" alt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int</a:t>
            </a:r>
            <a:r>
              <a:rPr lang="en-US" altLang="en-US" dirty="0" err="1">
                <a:solidFill>
                  <a:srgbClr val="000000"/>
                </a:solidFill>
                <a:latin typeface="Cambria" panose="02040503050406030204" pitchFamily="18" charset="0"/>
              </a:rPr>
              <a:t>’s</a:t>
            </a: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 four bytes in memory. </a:t>
            </a:r>
          </a:p>
          <a:p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A 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void*</a:t>
            </a: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 simply contains a memory address for an unknown data type. </a:t>
            </a:r>
          </a:p>
          <a:p>
            <a:pPr lvl="1"/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You cannot dereference a 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void*</a:t>
            </a: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 because the compiler does not know the type of the data to which the pointer refers and thus not the number of bytes.</a:t>
            </a:r>
          </a:p>
        </p:txBody>
      </p:sp>
      <p:sp>
        <p:nvSpPr>
          <p:cNvPr id="100356" name="Footer Placeholder 3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/>
              <a:t>©1992-2017 by Pearson Education, Inc. All Rights Reserved.</a:t>
            </a:r>
            <a:endParaRPr lang="en-US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8_Page_52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72841"/>
            <a:ext cx="9144000" cy="3311128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©1992-2017 by Pearson Education, Inc.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2422714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dirty="0">
                <a:solidFill>
                  <a:srgbClr val="24B5A1"/>
                </a:solidFill>
                <a:latin typeface="Calibri" panose="020F0502020204030204" pitchFamily="34" charset="0"/>
              </a:rPr>
              <a:t>8.8.5  </a:t>
            </a:r>
            <a:r>
              <a:rPr lang="en-US" dirty="0">
                <a:solidFill>
                  <a:srgbClr val="3380E6"/>
                </a:solidFill>
                <a:latin typeface="Calibri" panose="020F0502020204030204" pitchFamily="34" charset="0"/>
              </a:rPr>
              <a:t>Comparing Pointers</a:t>
            </a:r>
          </a:p>
        </p:txBody>
      </p:sp>
      <p:sp>
        <p:nvSpPr>
          <p:cNvPr id="96259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>
                <a:solidFill>
                  <a:srgbClr val="000000"/>
                </a:solidFill>
                <a:latin typeface="Cambria" panose="02040503050406030204" pitchFamily="18" charset="0"/>
              </a:rPr>
              <a:t>Pointers can be compared using equality and relational operators.</a:t>
            </a:r>
          </a:p>
          <a:p>
            <a:pPr lvl="1" eaLnBrk="1" hangingPunct="1">
              <a:defRPr/>
            </a:pPr>
            <a:r>
              <a:rPr lang="en-US" dirty="0">
                <a:solidFill>
                  <a:srgbClr val="000000"/>
                </a:solidFill>
                <a:latin typeface="Cambria" panose="02040503050406030204" pitchFamily="18" charset="0"/>
              </a:rPr>
              <a:t>Comparisons using relational operators are meaningless unless the pointers point to elements of the </a:t>
            </a:r>
            <a:r>
              <a:rPr lang="en-US" i="1" dirty="0">
                <a:solidFill>
                  <a:srgbClr val="000000"/>
                </a:solidFill>
                <a:latin typeface="Cambria" panose="02040503050406030204" pitchFamily="18" charset="0"/>
              </a:rPr>
              <a:t>same</a:t>
            </a:r>
            <a:r>
              <a:rPr lang="en-US" dirty="0">
                <a:solidFill>
                  <a:srgbClr val="000000"/>
                </a:solidFill>
                <a:latin typeface="Cambria" panose="02040503050406030204" pitchFamily="18" charset="0"/>
              </a:rPr>
              <a:t> built-in array.</a:t>
            </a:r>
          </a:p>
          <a:p>
            <a:pPr lvl="1" eaLnBrk="1" hangingPunct="1">
              <a:defRPr/>
            </a:pPr>
            <a:r>
              <a:rPr lang="en-US" dirty="0">
                <a:solidFill>
                  <a:srgbClr val="000000"/>
                </a:solidFill>
                <a:latin typeface="Cambria" panose="02040503050406030204" pitchFamily="18" charset="0"/>
              </a:rPr>
              <a:t>Pointer comparisons compare the </a:t>
            </a:r>
            <a:r>
              <a:rPr lang="en-US" i="1" dirty="0">
                <a:solidFill>
                  <a:srgbClr val="000000"/>
                </a:solidFill>
                <a:latin typeface="Cambria" panose="02040503050406030204" pitchFamily="18" charset="0"/>
              </a:rPr>
              <a:t>addresses</a:t>
            </a:r>
            <a:r>
              <a:rPr lang="en-US" dirty="0">
                <a:solidFill>
                  <a:srgbClr val="000000"/>
                </a:solidFill>
                <a:latin typeface="Cambria" panose="02040503050406030204" pitchFamily="18" charset="0"/>
              </a:rPr>
              <a:t> stored in the pointers.</a:t>
            </a:r>
          </a:p>
          <a:p>
            <a:pPr eaLnBrk="1" hangingPunct="1">
              <a:defRPr/>
            </a:pPr>
            <a:r>
              <a:rPr lang="en-US" dirty="0">
                <a:solidFill>
                  <a:srgbClr val="000000"/>
                </a:solidFill>
                <a:latin typeface="Cambria" panose="02040503050406030204" pitchFamily="18" charset="0"/>
              </a:rPr>
              <a:t>A common use of pointer comparison is determining whether a pointer has the value 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nullptr</a:t>
            </a:r>
            <a:r>
              <a:rPr lang="en-US" dirty="0">
                <a:solidFill>
                  <a:srgbClr val="000000"/>
                </a:solidFill>
                <a:latin typeface="Cambria" panose="02040503050406030204" pitchFamily="18" charset="0"/>
              </a:rPr>
              <a:t>, 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0</a:t>
            </a:r>
            <a:r>
              <a:rPr lang="en-US" dirty="0">
                <a:solidFill>
                  <a:srgbClr val="000000"/>
                </a:solidFill>
                <a:latin typeface="Cambria" panose="02040503050406030204" pitchFamily="18" charset="0"/>
              </a:rPr>
              <a:t> or 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NULL</a:t>
            </a:r>
            <a:r>
              <a:rPr lang="en-US" dirty="0">
                <a:solidFill>
                  <a:srgbClr val="000000"/>
                </a:solidFill>
                <a:latin typeface="Cambria" panose="02040503050406030204" pitchFamily="18" charset="0"/>
              </a:rPr>
              <a:t> (i.e., the pointer does not point to anything).</a:t>
            </a:r>
          </a:p>
        </p:txBody>
      </p:sp>
      <p:sp>
        <p:nvSpPr>
          <p:cNvPr id="101380" name="Footer Placeholder 3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/>
              <a:t>©1992-2017 by Pearson Education, Inc. All Rights Reserved.</a:t>
            </a:r>
            <a:endParaRPr lang="en-US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rgbClr val="24B5A1"/>
                </a:solidFill>
                <a:latin typeface="Calibri" panose="020F0502020204030204" pitchFamily="34" charset="0"/>
              </a:rPr>
              <a:t>8.9  </a:t>
            </a:r>
            <a:r>
              <a:rPr lang="en-US" dirty="0">
                <a:solidFill>
                  <a:srgbClr val="3380E6"/>
                </a:solidFill>
                <a:latin typeface="Calibri" panose="020F0502020204030204" pitchFamily="34" charset="0"/>
              </a:rPr>
              <a:t>Relationship Between Pointers and Built-In Arrays</a:t>
            </a:r>
          </a:p>
        </p:txBody>
      </p:sp>
      <p:sp>
        <p:nvSpPr>
          <p:cNvPr id="10752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500" dirty="0">
                <a:solidFill>
                  <a:srgbClr val="000000"/>
                </a:solidFill>
                <a:latin typeface="Cambria" panose="02040503050406030204" pitchFamily="18" charset="0"/>
              </a:rPr>
              <a:t>Pointers can be used to do any operation involving array subscripting.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500" dirty="0">
                <a:solidFill>
                  <a:srgbClr val="000000"/>
                </a:solidFill>
                <a:latin typeface="Cambria" panose="02040503050406030204" pitchFamily="18" charset="0"/>
              </a:rPr>
              <a:t>Assume the following declarations:</a:t>
            </a:r>
          </a:p>
          <a:p>
            <a:pPr marL="630238" lvl="2" indent="0" eaLnBrk="1" hangingPunct="1">
              <a:lnSpc>
                <a:spcPct val="90000"/>
              </a:lnSpc>
              <a:buFont typeface="Wingdings 2" panose="05020102010507070707" pitchFamily="18" charset="2"/>
              <a:buNone/>
            </a:pPr>
            <a:r>
              <a:rPr lang="en-US" altLang="en-US" sz="1900" dirty="0">
                <a:solidFill>
                  <a:srgbClr val="00BF00"/>
                </a:solidFill>
                <a:latin typeface="Consolas" panose="020B0609020204030204" pitchFamily="49" charset="0"/>
              </a:rPr>
              <a:t>// create 5-element </a:t>
            </a:r>
            <a:r>
              <a:rPr lang="en-US" altLang="en-US" sz="1900" dirty="0" err="1">
                <a:solidFill>
                  <a:srgbClr val="00BF00"/>
                </a:solidFill>
                <a:latin typeface="Consolas" panose="020B0609020204030204" pitchFamily="49" charset="0"/>
              </a:rPr>
              <a:t>int</a:t>
            </a:r>
            <a:r>
              <a:rPr lang="en-US" altLang="en-US" sz="1900" dirty="0">
                <a:solidFill>
                  <a:srgbClr val="00BF00"/>
                </a:solidFill>
                <a:latin typeface="Consolas" panose="020B0609020204030204" pitchFamily="49" charset="0"/>
              </a:rPr>
              <a:t> array b; b is a </a:t>
            </a:r>
            <a:r>
              <a:rPr lang="en-US" altLang="en-US" sz="1900" dirty="0" err="1">
                <a:solidFill>
                  <a:srgbClr val="00BF00"/>
                </a:solidFill>
                <a:latin typeface="Consolas" panose="020B0609020204030204" pitchFamily="49" charset="0"/>
              </a:rPr>
              <a:t>const</a:t>
            </a:r>
            <a:r>
              <a:rPr lang="en-US" altLang="en-US" sz="1900" dirty="0">
                <a:solidFill>
                  <a:srgbClr val="00BF00"/>
                </a:solidFill>
                <a:latin typeface="Consolas" panose="020B0609020204030204" pitchFamily="49" charset="0"/>
              </a:rPr>
              <a:t> pointer </a:t>
            </a:r>
          </a:p>
          <a:p>
            <a:pPr marL="630238" lvl="2" indent="0" eaLnBrk="1" hangingPunct="1">
              <a:lnSpc>
                <a:spcPct val="90000"/>
              </a:lnSpc>
              <a:buFont typeface="Wingdings 2" panose="05020102010507070707" pitchFamily="18" charset="2"/>
              <a:buNone/>
            </a:pPr>
            <a:r>
              <a:rPr lang="en-US" altLang="en-US" sz="19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altLang="en-US" sz="1900" dirty="0">
                <a:solidFill>
                  <a:srgbClr val="000000"/>
                </a:solidFill>
                <a:latin typeface="Consolas" panose="020B0609020204030204" pitchFamily="49" charset="0"/>
              </a:rPr>
              <a:t> b[</a:t>
            </a:r>
            <a:r>
              <a:rPr lang="en-US" altLang="en-US" sz="1900" dirty="0">
                <a:solidFill>
                  <a:srgbClr val="128AFF"/>
                </a:solidFill>
                <a:latin typeface="Consolas" panose="020B0609020204030204" pitchFamily="49" charset="0"/>
              </a:rPr>
              <a:t>5</a:t>
            </a:r>
            <a:r>
              <a:rPr lang="en-US" altLang="en-US" sz="1900" dirty="0">
                <a:solidFill>
                  <a:srgbClr val="000000"/>
                </a:solidFill>
                <a:latin typeface="Consolas" panose="020B0609020204030204" pitchFamily="49" charset="0"/>
              </a:rPr>
              <a:t>]; </a:t>
            </a:r>
            <a:br>
              <a:rPr lang="en-US" altLang="en-US" sz="1900" dirty="0">
                <a:solidFill>
                  <a:srgbClr val="00BF00"/>
                </a:solidFill>
                <a:latin typeface="Consolas" panose="020B0609020204030204" pitchFamily="49" charset="0"/>
              </a:rPr>
            </a:br>
            <a:r>
              <a:rPr lang="en-US" altLang="en-US" sz="1900" dirty="0">
                <a:solidFill>
                  <a:srgbClr val="00BF00"/>
                </a:solidFill>
                <a:latin typeface="Consolas" panose="020B0609020204030204" pitchFamily="49" charset="0"/>
              </a:rPr>
              <a:t>// create </a:t>
            </a:r>
            <a:r>
              <a:rPr lang="en-US" altLang="en-US" sz="1900" dirty="0" err="1">
                <a:solidFill>
                  <a:srgbClr val="00BF00"/>
                </a:solidFill>
                <a:latin typeface="Consolas" panose="020B0609020204030204" pitchFamily="49" charset="0"/>
              </a:rPr>
              <a:t>int</a:t>
            </a:r>
            <a:r>
              <a:rPr lang="en-US" altLang="en-US" sz="1900" dirty="0">
                <a:solidFill>
                  <a:srgbClr val="00BF00"/>
                </a:solidFill>
                <a:latin typeface="Consolas" panose="020B0609020204030204" pitchFamily="49" charset="0"/>
              </a:rPr>
              <a:t> pointer </a:t>
            </a:r>
            <a:r>
              <a:rPr lang="en-US" altLang="en-US" sz="1900" dirty="0" err="1">
                <a:solidFill>
                  <a:srgbClr val="00BF00"/>
                </a:solidFill>
                <a:latin typeface="Consolas" panose="020B0609020204030204" pitchFamily="49" charset="0"/>
              </a:rPr>
              <a:t>bPtr</a:t>
            </a:r>
            <a:r>
              <a:rPr lang="en-US" altLang="en-US" sz="1900" dirty="0">
                <a:solidFill>
                  <a:srgbClr val="00BF00"/>
                </a:solidFill>
                <a:latin typeface="Consolas" panose="020B0609020204030204" pitchFamily="49" charset="0"/>
              </a:rPr>
              <a:t>, which isn't a </a:t>
            </a:r>
            <a:r>
              <a:rPr lang="en-US" altLang="en-US" sz="1900" dirty="0" err="1">
                <a:solidFill>
                  <a:srgbClr val="00BF00"/>
                </a:solidFill>
                <a:latin typeface="Consolas" panose="020B0609020204030204" pitchFamily="49" charset="0"/>
              </a:rPr>
              <a:t>const</a:t>
            </a:r>
            <a:r>
              <a:rPr lang="en-US" altLang="en-US" sz="1900" dirty="0">
                <a:solidFill>
                  <a:srgbClr val="00BF00"/>
                </a:solidFill>
                <a:latin typeface="Consolas" panose="020B0609020204030204" pitchFamily="49" charset="0"/>
              </a:rPr>
              <a:t> pointer</a:t>
            </a:r>
          </a:p>
          <a:p>
            <a:pPr marL="630238" lvl="2" indent="0" eaLnBrk="1" hangingPunct="1">
              <a:lnSpc>
                <a:spcPct val="90000"/>
              </a:lnSpc>
              <a:buFont typeface="Wingdings 2" panose="05020102010507070707" pitchFamily="18" charset="2"/>
              <a:buNone/>
            </a:pPr>
            <a:r>
              <a:rPr lang="en-US" altLang="en-US" sz="19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altLang="en-US" sz="1900" dirty="0">
                <a:solidFill>
                  <a:srgbClr val="000000"/>
                </a:solidFill>
                <a:latin typeface="Consolas" panose="020B0609020204030204" pitchFamily="49" charset="0"/>
              </a:rPr>
              <a:t>* </a:t>
            </a:r>
            <a:r>
              <a:rPr lang="en-US" altLang="en-US" sz="1900" dirty="0" err="1">
                <a:solidFill>
                  <a:srgbClr val="000000"/>
                </a:solidFill>
                <a:latin typeface="Consolas" panose="020B0609020204030204" pitchFamily="49" charset="0"/>
              </a:rPr>
              <a:t>bPtr</a:t>
            </a:r>
            <a:r>
              <a:rPr lang="en-US" altLang="en-US" sz="19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endParaRPr lang="en-US" altLang="en-US" sz="1900" dirty="0">
              <a:solidFill>
                <a:srgbClr val="00BF00"/>
              </a:solidFill>
              <a:latin typeface="Consolas" panose="020B0609020204030204" pitchFamily="49" charset="0"/>
            </a:endParaRPr>
          </a:p>
        </p:txBody>
      </p:sp>
      <p:sp>
        <p:nvSpPr>
          <p:cNvPr id="102404" name="Footer Placeholder 3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/>
              <a:t>©1992-2017 by Pearson Education, Inc. All Rights Reserved.</a:t>
            </a:r>
            <a:endParaRPr lang="en-US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rgbClr val="24B5A1"/>
                </a:solidFill>
                <a:latin typeface="Calibri" panose="020F0502020204030204" pitchFamily="34" charset="0"/>
              </a:rPr>
              <a:t>8.9  </a:t>
            </a:r>
            <a:r>
              <a:rPr lang="en-US" dirty="0">
                <a:solidFill>
                  <a:srgbClr val="3380E6"/>
                </a:solidFill>
                <a:latin typeface="Calibri" panose="020F0502020204030204" pitchFamily="34" charset="0"/>
              </a:rPr>
              <a:t>Relationship Between Pointers and Built-In Arrays</a:t>
            </a:r>
          </a:p>
        </p:txBody>
      </p:sp>
      <p:sp>
        <p:nvSpPr>
          <p:cNvPr id="108547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500" dirty="0">
                <a:solidFill>
                  <a:srgbClr val="000000"/>
                </a:solidFill>
                <a:latin typeface="Cambria" panose="02040503050406030204" pitchFamily="18" charset="0"/>
              </a:rPr>
              <a:t>We can set </a:t>
            </a:r>
            <a:r>
              <a:rPr lang="en-US" altLang="en-US" sz="2500" dirty="0" err="1">
                <a:solidFill>
                  <a:srgbClr val="000000"/>
                </a:solidFill>
                <a:latin typeface="Consolas" panose="020B0609020204030204" pitchFamily="49" charset="0"/>
              </a:rPr>
              <a:t>bPtr</a:t>
            </a:r>
            <a:r>
              <a:rPr lang="en-US" altLang="en-US" sz="2500" dirty="0">
                <a:solidFill>
                  <a:srgbClr val="000000"/>
                </a:solidFill>
                <a:latin typeface="Cambria" panose="02040503050406030204" pitchFamily="18" charset="0"/>
              </a:rPr>
              <a:t> to the address of the first element in the built-in array </a:t>
            </a:r>
            <a:r>
              <a:rPr lang="en-US" altLang="en-US" sz="2500" dirty="0">
                <a:solidFill>
                  <a:srgbClr val="000000"/>
                </a:solidFill>
                <a:latin typeface="Consolas" panose="020B0609020204030204" pitchFamily="49" charset="0"/>
              </a:rPr>
              <a:t>b</a:t>
            </a:r>
            <a:r>
              <a:rPr lang="en-US" altLang="en-US" sz="2500" dirty="0">
                <a:solidFill>
                  <a:srgbClr val="000000"/>
                </a:solidFill>
                <a:latin typeface="Cambria" panose="02040503050406030204" pitchFamily="18" charset="0"/>
              </a:rPr>
              <a:t> with the statement </a:t>
            </a:r>
          </a:p>
          <a:p>
            <a:pPr marL="630238" lvl="2" indent="0" eaLnBrk="1" hangingPunct="1">
              <a:lnSpc>
                <a:spcPct val="90000"/>
              </a:lnSpc>
              <a:buFont typeface="Wingdings 2" panose="05020102010507070707" pitchFamily="18" charset="2"/>
              <a:buNone/>
            </a:pPr>
            <a:r>
              <a:rPr lang="en-US" altLang="en-US" sz="1900" dirty="0">
                <a:solidFill>
                  <a:srgbClr val="00BF00"/>
                </a:solidFill>
                <a:latin typeface="Consolas" panose="020B0609020204030204" pitchFamily="49" charset="0"/>
              </a:rPr>
              <a:t>// assign address of built-in array b to </a:t>
            </a:r>
            <a:r>
              <a:rPr lang="en-US" altLang="en-US" sz="1900" dirty="0" err="1">
                <a:solidFill>
                  <a:srgbClr val="00BF00"/>
                </a:solidFill>
                <a:latin typeface="Consolas" panose="020B0609020204030204" pitchFamily="49" charset="0"/>
              </a:rPr>
              <a:t>bPtr</a:t>
            </a:r>
            <a:endParaRPr lang="en-US" altLang="en-US" sz="19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630238" lvl="2" indent="0" eaLnBrk="1" hangingPunct="1">
              <a:lnSpc>
                <a:spcPct val="90000"/>
              </a:lnSpc>
              <a:buFont typeface="Wingdings 2" panose="05020102010507070707" pitchFamily="18" charset="2"/>
              <a:buNone/>
            </a:pPr>
            <a:r>
              <a:rPr lang="en-US" altLang="en-US" sz="1900" dirty="0" err="1">
                <a:solidFill>
                  <a:srgbClr val="000000"/>
                </a:solidFill>
                <a:latin typeface="Consolas" panose="020B0609020204030204" pitchFamily="49" charset="0"/>
              </a:rPr>
              <a:t>bPtr</a:t>
            </a:r>
            <a:r>
              <a:rPr lang="en-US" altLang="en-US" sz="1900" dirty="0">
                <a:solidFill>
                  <a:srgbClr val="000000"/>
                </a:solidFill>
                <a:latin typeface="Consolas" panose="020B0609020204030204" pitchFamily="49" charset="0"/>
              </a:rPr>
              <a:t> = b; </a:t>
            </a:r>
            <a:endParaRPr lang="en-US" altLang="en-US" sz="1900" dirty="0">
              <a:solidFill>
                <a:srgbClr val="00BF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en-US" sz="2500" dirty="0">
                <a:solidFill>
                  <a:srgbClr val="000000"/>
                </a:solidFill>
                <a:latin typeface="Cambria" panose="02040503050406030204" pitchFamily="18" charset="0"/>
              </a:rPr>
              <a:t>This is equivalent to assigning the address of the first element as follows:</a:t>
            </a:r>
          </a:p>
          <a:p>
            <a:pPr marL="630238" lvl="2" indent="0" eaLnBrk="1" hangingPunct="1">
              <a:lnSpc>
                <a:spcPct val="90000"/>
              </a:lnSpc>
              <a:buFont typeface="Wingdings 2" panose="05020102010507070707" pitchFamily="18" charset="2"/>
              <a:buNone/>
            </a:pPr>
            <a:r>
              <a:rPr lang="en-US" altLang="en-US" sz="1900" dirty="0">
                <a:solidFill>
                  <a:srgbClr val="00BF00"/>
                </a:solidFill>
                <a:latin typeface="Consolas" panose="020B0609020204030204" pitchFamily="49" charset="0"/>
              </a:rPr>
              <a:t>// also assigns address of built-in array b to </a:t>
            </a:r>
            <a:r>
              <a:rPr lang="en-US" altLang="en-US" sz="1900" dirty="0" err="1">
                <a:solidFill>
                  <a:srgbClr val="00BF00"/>
                </a:solidFill>
                <a:latin typeface="Consolas" panose="020B0609020204030204" pitchFamily="49" charset="0"/>
              </a:rPr>
              <a:t>bPtr</a:t>
            </a:r>
            <a:endParaRPr lang="en-US" altLang="en-US" sz="19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630238" lvl="2" indent="0" eaLnBrk="1" hangingPunct="1">
              <a:lnSpc>
                <a:spcPct val="90000"/>
              </a:lnSpc>
              <a:buFont typeface="Wingdings 2" panose="05020102010507070707" pitchFamily="18" charset="2"/>
              <a:buNone/>
            </a:pPr>
            <a:r>
              <a:rPr lang="en-US" altLang="en-US" sz="1900" dirty="0" err="1">
                <a:solidFill>
                  <a:srgbClr val="000000"/>
                </a:solidFill>
                <a:latin typeface="Consolas" panose="020B0609020204030204" pitchFamily="49" charset="0"/>
              </a:rPr>
              <a:t>bPtr</a:t>
            </a:r>
            <a:r>
              <a:rPr lang="en-US" altLang="en-US" sz="1900" dirty="0">
                <a:solidFill>
                  <a:srgbClr val="000000"/>
                </a:solidFill>
                <a:latin typeface="Consolas" panose="020B0609020204030204" pitchFamily="49" charset="0"/>
              </a:rPr>
              <a:t> = &amp;b[</a:t>
            </a:r>
            <a:r>
              <a:rPr lang="en-US" altLang="en-US" sz="1900" dirty="0">
                <a:solidFill>
                  <a:srgbClr val="128AFF"/>
                </a:solidFill>
                <a:latin typeface="Consolas" panose="020B0609020204030204" pitchFamily="49" charset="0"/>
              </a:rPr>
              <a:t>0</a:t>
            </a:r>
            <a:r>
              <a:rPr lang="en-US" altLang="en-US" sz="1900" dirty="0">
                <a:solidFill>
                  <a:srgbClr val="000000"/>
                </a:solidFill>
                <a:latin typeface="Consolas" panose="020B0609020204030204" pitchFamily="49" charset="0"/>
              </a:rPr>
              <a:t>]; </a:t>
            </a:r>
          </a:p>
        </p:txBody>
      </p:sp>
      <p:sp>
        <p:nvSpPr>
          <p:cNvPr id="102404" name="Footer Placeholder 3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/>
              <a:t>©1992-2017 by Pearson Education, Inc. All Rights Reserved.</a:t>
            </a:r>
            <a:endParaRPr lang="en-US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dirty="0">
                <a:solidFill>
                  <a:srgbClr val="24B5A1"/>
                </a:solidFill>
                <a:latin typeface="Calibri" panose="020F0502020204030204" pitchFamily="34" charset="0"/>
              </a:rPr>
              <a:t>8.9.1  </a:t>
            </a:r>
            <a:r>
              <a:rPr lang="en-US" dirty="0">
                <a:solidFill>
                  <a:srgbClr val="3380E6"/>
                </a:solidFill>
                <a:latin typeface="Calibri" panose="020F0502020204030204" pitchFamily="34" charset="0"/>
              </a:rPr>
              <a:t>Pointer/Offset Notation</a:t>
            </a:r>
          </a:p>
        </p:txBody>
      </p:sp>
      <p:sp>
        <p:nvSpPr>
          <p:cNvPr id="98307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>
                <a:solidFill>
                  <a:srgbClr val="000000"/>
                </a:solidFill>
                <a:latin typeface="Cambria" panose="02040503050406030204" pitchFamily="18" charset="0"/>
              </a:rPr>
              <a:t>Built-in array element 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b[3</a:t>
            </a:r>
            <a:r>
              <a:rPr lang="en-US" dirty="0">
                <a:solidFill>
                  <a:srgbClr val="000000"/>
                </a:solidFill>
                <a:latin typeface="Cambria" panose="02040503050406030204" pitchFamily="18" charset="0"/>
              </a:rPr>
              <a:t>] can alternatively be referenced with the pointer expression</a:t>
            </a:r>
          </a:p>
          <a:p>
            <a:pPr lvl="2" eaLnBrk="1" hangingPunct="1">
              <a:defRPr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*(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bPtr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en-US" dirty="0">
                <a:solidFill>
                  <a:srgbClr val="128AFF"/>
                </a:solidFill>
                <a:latin typeface="Consolas" panose="020B0609020204030204" pitchFamily="49" charset="0"/>
              </a:rPr>
              <a:t>3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eaLnBrk="1" hangingPunct="1">
              <a:defRPr/>
            </a:pPr>
            <a:r>
              <a:rPr lang="en-US" dirty="0">
                <a:solidFill>
                  <a:srgbClr val="000000"/>
                </a:solidFill>
                <a:latin typeface="Cambria" panose="02040503050406030204" pitchFamily="18" charset="0"/>
              </a:rPr>
              <a:t>The 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3</a:t>
            </a:r>
            <a:r>
              <a:rPr lang="en-US" dirty="0">
                <a:solidFill>
                  <a:srgbClr val="000000"/>
                </a:solidFill>
                <a:latin typeface="Cambria" panose="02040503050406030204" pitchFamily="18" charset="0"/>
              </a:rPr>
              <a:t> in the preceding expression is the </a:t>
            </a:r>
            <a:r>
              <a:rPr lang="en-US" dirty="0">
                <a:solidFill>
                  <a:srgbClr val="0000FF"/>
                </a:solidFill>
                <a:latin typeface="Cambria" panose="02040503050406030204" pitchFamily="18" charset="0"/>
              </a:rPr>
              <a:t>offset</a:t>
            </a:r>
            <a:r>
              <a:rPr lang="en-US" dirty="0">
                <a:solidFill>
                  <a:srgbClr val="000000"/>
                </a:solidFill>
                <a:latin typeface="Cambria" panose="02040503050406030204" pitchFamily="18" charset="0"/>
              </a:rPr>
              <a:t> to the pointer.</a:t>
            </a:r>
          </a:p>
          <a:p>
            <a:pPr eaLnBrk="1" hangingPunct="1">
              <a:defRPr/>
            </a:pPr>
            <a:r>
              <a:rPr lang="en-US" dirty="0">
                <a:solidFill>
                  <a:srgbClr val="000000"/>
                </a:solidFill>
                <a:latin typeface="Cambria" panose="02040503050406030204" pitchFamily="18" charset="0"/>
              </a:rPr>
              <a:t>This notation is referred to as </a:t>
            </a:r>
            <a:r>
              <a:rPr lang="en-US" dirty="0">
                <a:solidFill>
                  <a:srgbClr val="0000FF"/>
                </a:solidFill>
                <a:latin typeface="Cambria" panose="02040503050406030204" pitchFamily="18" charset="0"/>
              </a:rPr>
              <a:t>pointer/offset notation</a:t>
            </a:r>
            <a:r>
              <a:rPr lang="en-US" dirty="0">
                <a:solidFill>
                  <a:srgbClr val="000000"/>
                </a:solidFill>
                <a:latin typeface="Cambria" panose="02040503050406030204" pitchFamily="18" charset="0"/>
              </a:rPr>
              <a:t>.</a:t>
            </a:r>
          </a:p>
          <a:p>
            <a:pPr lvl="1" eaLnBrk="1" hangingPunct="1">
              <a:defRPr/>
            </a:pPr>
            <a:r>
              <a:rPr lang="en-US" dirty="0">
                <a:solidFill>
                  <a:srgbClr val="000000"/>
                </a:solidFill>
                <a:latin typeface="Cambria" panose="02040503050406030204" pitchFamily="18" charset="0"/>
              </a:rPr>
              <a:t>The parentheses are necessary, because the precedence of 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*</a:t>
            </a:r>
            <a:r>
              <a:rPr lang="en-US" dirty="0">
                <a:solidFill>
                  <a:srgbClr val="000000"/>
                </a:solidFill>
                <a:latin typeface="Cambria" panose="02040503050406030204" pitchFamily="18" charset="0"/>
              </a:rPr>
              <a:t> is higher than that of 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+</a:t>
            </a:r>
            <a:r>
              <a:rPr lang="en-US" dirty="0">
                <a:solidFill>
                  <a:srgbClr val="000000"/>
                </a:solidFill>
                <a:latin typeface="Cambria" panose="02040503050406030204" pitchFamily="18" charset="0"/>
              </a:rPr>
              <a:t>.</a:t>
            </a:r>
          </a:p>
        </p:txBody>
      </p:sp>
      <p:sp>
        <p:nvSpPr>
          <p:cNvPr id="103428" name="Footer Placeholder 3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/>
              <a:t>©1992-2017 by Pearson Education, Inc. All Rights Reserved.</a:t>
            </a:r>
            <a:endParaRPr lang="en-US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rgbClr val="24B5A1"/>
                </a:solidFill>
                <a:latin typeface="Calibri" panose="020F0502020204030204" pitchFamily="34" charset="0"/>
              </a:rPr>
              <a:t>8.9  </a:t>
            </a:r>
            <a:r>
              <a:rPr lang="en-US" dirty="0">
                <a:solidFill>
                  <a:srgbClr val="3380E6"/>
                </a:solidFill>
                <a:latin typeface="Calibri" panose="020F0502020204030204" pitchFamily="34" charset="0"/>
              </a:rPr>
              <a:t>Relationship Between Pointers and Built-In Arrays (cont.)</a:t>
            </a:r>
          </a:p>
        </p:txBody>
      </p:sp>
      <p:sp>
        <p:nvSpPr>
          <p:cNvPr id="110595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500" dirty="0">
                <a:solidFill>
                  <a:srgbClr val="000000"/>
                </a:solidFill>
                <a:latin typeface="Cambria" panose="02040503050406030204" pitchFamily="18" charset="0"/>
              </a:rPr>
              <a:t>Just as the built-in array element can be referenced with a pointer expression, the </a:t>
            </a:r>
            <a:r>
              <a:rPr lang="en-US" altLang="en-US" sz="2500" i="1" dirty="0">
                <a:solidFill>
                  <a:srgbClr val="000000"/>
                </a:solidFill>
                <a:latin typeface="Cambria" panose="02040503050406030204" pitchFamily="18" charset="0"/>
              </a:rPr>
              <a:t>address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sz="1900" dirty="0">
                <a:solidFill>
                  <a:srgbClr val="000000"/>
                </a:solidFill>
                <a:latin typeface="Consolas" panose="020B0609020204030204" pitchFamily="49" charset="0"/>
              </a:rPr>
              <a:t>&amp;b[</a:t>
            </a:r>
            <a:r>
              <a:rPr lang="en-US" altLang="en-US" sz="1900" dirty="0">
                <a:solidFill>
                  <a:srgbClr val="128AFF"/>
                </a:solidFill>
                <a:latin typeface="Consolas" panose="020B0609020204030204" pitchFamily="49" charset="0"/>
              </a:rPr>
              <a:t>3</a:t>
            </a:r>
            <a:r>
              <a:rPr lang="en-US" altLang="en-US" sz="1900" dirty="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500" dirty="0">
                <a:solidFill>
                  <a:srgbClr val="000000"/>
                </a:solidFill>
                <a:latin typeface="Cambria" panose="02040503050406030204" pitchFamily="18" charset="0"/>
              </a:rPr>
              <a:t>can be written with the pointer expression 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sz="1900" dirty="0" err="1">
                <a:solidFill>
                  <a:srgbClr val="000000"/>
                </a:solidFill>
                <a:latin typeface="Consolas" panose="020B0609020204030204" pitchFamily="49" charset="0"/>
              </a:rPr>
              <a:t>bPtr</a:t>
            </a:r>
            <a:r>
              <a:rPr lang="en-US" altLang="en-US" sz="1900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en-US" altLang="en-US" sz="1900" dirty="0">
                <a:solidFill>
                  <a:srgbClr val="128AFF"/>
                </a:solidFill>
                <a:latin typeface="Consolas" panose="020B0609020204030204" pitchFamily="49" charset="0"/>
              </a:rPr>
              <a:t>3</a:t>
            </a:r>
          </a:p>
        </p:txBody>
      </p:sp>
      <p:sp>
        <p:nvSpPr>
          <p:cNvPr id="104452" name="Footer Placeholder 3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/>
              <a:t>©1992-2017 by Pearson Education, Inc. All Rights Reserved.</a:t>
            </a:r>
            <a:endParaRPr lang="en-US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dirty="0">
                <a:solidFill>
                  <a:srgbClr val="24B5A1"/>
                </a:solidFill>
                <a:latin typeface="Calibri" panose="020F0502020204030204" pitchFamily="34" charset="0"/>
              </a:rPr>
              <a:t>8.9.2  </a:t>
            </a:r>
            <a:r>
              <a:rPr lang="en-US" dirty="0">
                <a:solidFill>
                  <a:srgbClr val="3380E6"/>
                </a:solidFill>
                <a:latin typeface="Calibri" panose="020F0502020204030204" pitchFamily="34" charset="0"/>
              </a:rPr>
              <a:t>Pointer/Offset Notation with the Built-In Array’s Name as the Pointer</a:t>
            </a:r>
          </a:p>
        </p:txBody>
      </p:sp>
      <p:sp>
        <p:nvSpPr>
          <p:cNvPr id="99331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en-US" sz="2500" dirty="0">
                <a:solidFill>
                  <a:srgbClr val="000000"/>
                </a:solidFill>
                <a:latin typeface="Cambria" panose="02040503050406030204" pitchFamily="18" charset="0"/>
              </a:rPr>
              <a:t>The built-in array name can be treated as a pointer and used in pointer arithmetic.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sz="2500" dirty="0">
                <a:solidFill>
                  <a:srgbClr val="000000"/>
                </a:solidFill>
                <a:latin typeface="Cambria" panose="02040503050406030204" pitchFamily="18" charset="0"/>
              </a:rPr>
              <a:t>For example, the expression</a:t>
            </a:r>
          </a:p>
          <a:p>
            <a:pPr lvl="2" eaLnBrk="1" hangingPunct="1">
              <a:lnSpc>
                <a:spcPct val="90000"/>
              </a:lnSpc>
              <a:defRPr/>
            </a:pPr>
            <a:r>
              <a:rPr lang="en-US" sz="1900" dirty="0">
                <a:solidFill>
                  <a:srgbClr val="000000"/>
                </a:solidFill>
                <a:latin typeface="Consolas" panose="020B0609020204030204" pitchFamily="49" charset="0"/>
              </a:rPr>
              <a:t>*(b + </a:t>
            </a:r>
            <a:r>
              <a:rPr lang="en-US" sz="1900" dirty="0">
                <a:solidFill>
                  <a:srgbClr val="128AFF"/>
                </a:solidFill>
                <a:latin typeface="Consolas" panose="020B0609020204030204" pitchFamily="49" charset="0"/>
              </a:rPr>
              <a:t>3</a:t>
            </a:r>
            <a:r>
              <a:rPr lang="en-US" sz="19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sz="2500" dirty="0">
                <a:solidFill>
                  <a:srgbClr val="000000"/>
                </a:solidFill>
                <a:latin typeface="Cambria" panose="02040503050406030204" pitchFamily="18" charset="0"/>
              </a:rPr>
              <a:t>also refers to the element </a:t>
            </a:r>
            <a:r>
              <a:rPr lang="en-US" sz="2500" dirty="0">
                <a:solidFill>
                  <a:srgbClr val="000000"/>
                </a:solidFill>
                <a:latin typeface="Consolas" panose="020B0609020204030204" pitchFamily="49" charset="0"/>
              </a:rPr>
              <a:t>b[3</a:t>
            </a:r>
            <a:r>
              <a:rPr lang="en-US" sz="2500" dirty="0">
                <a:solidFill>
                  <a:srgbClr val="000000"/>
                </a:solidFill>
                <a:latin typeface="Cambria" panose="02040503050406030204" pitchFamily="18" charset="0"/>
              </a:rPr>
              <a:t>].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sz="2500" dirty="0">
                <a:solidFill>
                  <a:srgbClr val="000000"/>
                </a:solidFill>
                <a:latin typeface="Cambria" panose="02040503050406030204" pitchFamily="18" charset="0"/>
              </a:rPr>
              <a:t>In general, all subscripted built-in array expressions can be written with a pointer and an offset.</a:t>
            </a:r>
          </a:p>
        </p:txBody>
      </p:sp>
      <p:sp>
        <p:nvSpPr>
          <p:cNvPr id="104452" name="Footer Placeholder 3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/>
              <a:t>©1992-2017 by Pearson Education, Inc. All Rights Reserved.</a:t>
            </a:r>
            <a:endParaRPr lang="en-US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dirty="0">
                <a:solidFill>
                  <a:srgbClr val="24B5A1"/>
                </a:solidFill>
                <a:latin typeface="Calibri" panose="020F0502020204030204" pitchFamily="34" charset="0"/>
              </a:rPr>
              <a:t>8.9.3  </a:t>
            </a:r>
            <a:r>
              <a:rPr lang="en-US" dirty="0">
                <a:solidFill>
                  <a:srgbClr val="3380E6"/>
                </a:solidFill>
                <a:latin typeface="Calibri" panose="020F0502020204030204" pitchFamily="34" charset="0"/>
              </a:rPr>
              <a:t>Pointer/Subscript Notation</a:t>
            </a:r>
          </a:p>
        </p:txBody>
      </p:sp>
      <p:sp>
        <p:nvSpPr>
          <p:cNvPr id="10240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>
                <a:solidFill>
                  <a:srgbClr val="000000"/>
                </a:solidFill>
                <a:latin typeface="Cambria" panose="02040503050406030204" pitchFamily="18" charset="0"/>
              </a:rPr>
              <a:t>Pointers can be subscripted exactly as built-in arrays can.</a:t>
            </a:r>
          </a:p>
          <a:p>
            <a:pPr eaLnBrk="1" hangingPunct="1">
              <a:defRPr/>
            </a:pPr>
            <a:r>
              <a:rPr lang="en-US" dirty="0">
                <a:solidFill>
                  <a:srgbClr val="000000"/>
                </a:solidFill>
                <a:latin typeface="Cambria" panose="02040503050406030204" pitchFamily="18" charset="0"/>
              </a:rPr>
              <a:t>For example, the expression</a:t>
            </a:r>
          </a:p>
          <a:p>
            <a:pPr lvl="2" eaLnBrk="1" hangingPunct="1">
              <a:defRPr/>
            </a:pP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bPtr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dirty="0">
                <a:solidFill>
                  <a:srgbClr val="128AFF"/>
                </a:solidFill>
                <a:latin typeface="Consolas" panose="020B0609020204030204" pitchFamily="49" charset="0"/>
              </a:rPr>
              <a:t>1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</a:p>
          <a:p>
            <a:pPr eaLnBrk="1" hangingPunct="1">
              <a:defRPr/>
            </a:pPr>
            <a:r>
              <a:rPr lang="en-US" dirty="0">
                <a:solidFill>
                  <a:srgbClr val="000000"/>
                </a:solidFill>
                <a:latin typeface="Cambria" panose="02040503050406030204" pitchFamily="18" charset="0"/>
              </a:rPr>
              <a:t>refers to 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b[1</a:t>
            </a:r>
            <a:r>
              <a:rPr lang="en-US" dirty="0">
                <a:solidFill>
                  <a:srgbClr val="000000"/>
                </a:solidFill>
                <a:latin typeface="Cambria" panose="02040503050406030204" pitchFamily="18" charset="0"/>
              </a:rPr>
              <a:t>]; this expression uses </a:t>
            </a:r>
            <a:r>
              <a:rPr lang="en-US" dirty="0">
                <a:solidFill>
                  <a:srgbClr val="0000FF"/>
                </a:solidFill>
                <a:latin typeface="Cambria" panose="02040503050406030204" pitchFamily="18" charset="0"/>
              </a:rPr>
              <a:t>pointer/subscript notation</a:t>
            </a:r>
            <a:r>
              <a:rPr lang="en-US" dirty="0">
                <a:solidFill>
                  <a:srgbClr val="000000"/>
                </a:solidFill>
                <a:latin typeface="Cambria" panose="02040503050406030204" pitchFamily="18" charset="0"/>
              </a:rPr>
              <a:t>.</a:t>
            </a:r>
          </a:p>
        </p:txBody>
      </p:sp>
      <p:sp>
        <p:nvSpPr>
          <p:cNvPr id="107524" name="Footer Placeholder 3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/>
              <a:t>©1992-2017 by Pearson Education, Inc. All Rights Reserved.</a:t>
            </a:r>
            <a:endParaRPr lang="en-US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8_Page_53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393156"/>
            <a:ext cx="9144000" cy="2071688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©1992-2017 by Pearson Education, Inc.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497299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dirty="0">
                <a:solidFill>
                  <a:srgbClr val="24B5A1"/>
                </a:solidFill>
                <a:latin typeface="Calibri" panose="020F0502020204030204" pitchFamily="34" charset="0"/>
              </a:rPr>
              <a:t>8.9.4  </a:t>
            </a:r>
            <a:r>
              <a:rPr lang="en-US" dirty="0">
                <a:solidFill>
                  <a:srgbClr val="3380E6"/>
                </a:solidFill>
                <a:latin typeface="Calibri" panose="020F0502020204030204" pitchFamily="34" charset="0"/>
              </a:rPr>
              <a:t>Demonstrating the Relationship Between Pointers and Built-In Arrays</a:t>
            </a:r>
          </a:p>
        </p:txBody>
      </p:sp>
      <p:sp>
        <p:nvSpPr>
          <p:cNvPr id="106499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>
                <a:solidFill>
                  <a:srgbClr val="000000"/>
                </a:solidFill>
                <a:latin typeface="Cambria" panose="02040503050406030204" pitchFamily="18" charset="0"/>
              </a:rPr>
              <a:t>Figure 8.17 uses the four notations we just discussed </a:t>
            </a:r>
          </a:p>
          <a:p>
            <a:pPr lvl="1">
              <a:defRPr/>
            </a:pPr>
            <a:r>
              <a:rPr lang="en-US" dirty="0">
                <a:solidFill>
                  <a:srgbClr val="000000"/>
                </a:solidFill>
                <a:latin typeface="Cambria" panose="02040503050406030204" pitchFamily="18" charset="0"/>
              </a:rPr>
              <a:t>array subscript notation</a:t>
            </a:r>
          </a:p>
          <a:p>
            <a:pPr lvl="1">
              <a:defRPr/>
            </a:pPr>
            <a:r>
              <a:rPr lang="en-US" dirty="0">
                <a:solidFill>
                  <a:srgbClr val="000000"/>
                </a:solidFill>
                <a:latin typeface="Cambria" panose="02040503050406030204" pitchFamily="18" charset="0"/>
              </a:rPr>
              <a:t>pointer/offset notation with the built-in array’s name as a pointer</a:t>
            </a:r>
          </a:p>
          <a:p>
            <a:pPr lvl="1">
              <a:defRPr/>
            </a:pPr>
            <a:r>
              <a:rPr lang="en-US" dirty="0">
                <a:solidFill>
                  <a:srgbClr val="000000"/>
                </a:solidFill>
                <a:latin typeface="Cambria" panose="02040503050406030204" pitchFamily="18" charset="0"/>
              </a:rPr>
              <a:t>pointer subscript notation </a:t>
            </a:r>
          </a:p>
          <a:p>
            <a:pPr lvl="1">
              <a:defRPr/>
            </a:pPr>
            <a:r>
              <a:rPr lang="en-US" dirty="0">
                <a:solidFill>
                  <a:srgbClr val="000000"/>
                </a:solidFill>
                <a:latin typeface="Cambria" panose="02040503050406030204" pitchFamily="18" charset="0"/>
              </a:rPr>
              <a:t>pointer/offset notation with a pointer</a:t>
            </a:r>
          </a:p>
          <a:p>
            <a:pPr>
              <a:defRPr/>
            </a:pPr>
            <a:r>
              <a:rPr lang="en-US" dirty="0">
                <a:solidFill>
                  <a:srgbClr val="000000"/>
                </a:solidFill>
                <a:latin typeface="Cambria" panose="02040503050406030204" pitchFamily="18" charset="0"/>
              </a:rPr>
              <a:t>to accomplish the same task, namely displaying the four elements of the built-in array of 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ambria" panose="02040503050406030204" pitchFamily="18" charset="0"/>
              </a:rPr>
              <a:t>s named 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b</a:t>
            </a:r>
            <a:r>
              <a:rPr lang="en-US" dirty="0">
                <a:solidFill>
                  <a:srgbClr val="000000"/>
                </a:solidFill>
                <a:latin typeface="Cambria" panose="02040503050406030204" pitchFamily="18" charset="0"/>
              </a:rPr>
              <a:t>.</a:t>
            </a:r>
          </a:p>
        </p:txBody>
      </p:sp>
      <p:sp>
        <p:nvSpPr>
          <p:cNvPr id="111620" name="Footer Placeholder 3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/>
              <a:t>©1992-2017 by Pearson Education, Inc. All Rights Reserved.</a:t>
            </a:r>
            <a:endParaRPr lang="en-US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8_Page_54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24640"/>
            <a:ext cx="9144000" cy="6409554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©1992-2017 by Pearson Education, Inc.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7643606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8_Page_55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85838"/>
            <a:ext cx="9144000" cy="488513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©1992-2017 by Pearson Education, Inc.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8401261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8_Page_56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5925"/>
            <a:ext cx="9143999" cy="6667017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©1992-2017 by Pearson Education, Inc.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6465596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rgbClr val="24B5A1"/>
                </a:solidFill>
                <a:latin typeface="Calibri" panose="020F0502020204030204" pitchFamily="34" charset="0"/>
              </a:rPr>
              <a:t>8.10  </a:t>
            </a:r>
            <a:r>
              <a:rPr lang="en-US" dirty="0">
                <a:solidFill>
                  <a:srgbClr val="3380E6"/>
                </a:solidFill>
                <a:latin typeface="Calibri" panose="020F0502020204030204" pitchFamily="34" charset="0"/>
              </a:rPr>
              <a:t>Pointer-Based Strings</a:t>
            </a:r>
          </a:p>
        </p:txBody>
      </p:sp>
      <p:sp>
        <p:nvSpPr>
          <p:cNvPr id="119811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This section introduces C-style, pointer-based strings, which we’ll simply call </a:t>
            </a:r>
            <a:r>
              <a:rPr lang="en-US" altLang="en-US" dirty="0">
                <a:solidFill>
                  <a:srgbClr val="0000FF"/>
                </a:solidFill>
                <a:latin typeface="Cambria" panose="02040503050406030204" pitchFamily="18" charset="0"/>
              </a:rPr>
              <a:t>C strings</a:t>
            </a: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.</a:t>
            </a:r>
          </a:p>
          <a:p>
            <a:pPr eaLnBrk="1" hangingPunct="1"/>
            <a:r>
              <a:rPr lang="en-US" altLang="en-US" i="1" dirty="0">
                <a:solidFill>
                  <a:srgbClr val="000000"/>
                </a:solidFill>
                <a:latin typeface="Cambria" panose="02040503050406030204" pitchFamily="18" charset="0"/>
              </a:rPr>
              <a:t>C++’s </a:t>
            </a:r>
            <a:r>
              <a:rPr lang="en-US" altLang="en-US" i="1" dirty="0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en-US" altLang="en-US" i="1" dirty="0">
                <a:solidFill>
                  <a:srgbClr val="000000"/>
                </a:solidFill>
                <a:latin typeface="Cambria" panose="02040503050406030204" pitchFamily="18" charset="0"/>
              </a:rPr>
              <a:t> class is preferred</a:t>
            </a:r>
          </a:p>
          <a:p>
            <a:pPr lvl="1"/>
            <a:r>
              <a:rPr lang="en-US" altLang="en-US" i="1" dirty="0">
                <a:solidFill>
                  <a:srgbClr val="000000"/>
                </a:solidFill>
                <a:latin typeface="Cambria" panose="02040503050406030204" pitchFamily="18" charset="0"/>
              </a:rPr>
              <a:t>it eliminates many of the security problems that can be caused by manipulating C strings.</a:t>
            </a:r>
          </a:p>
          <a:p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We cover C strings for a deeper understanding of arrays, and because there are some cases in which C string processing is required.</a:t>
            </a:r>
          </a:p>
          <a:p>
            <a:pPr eaLnBrk="1" hangingPunct="1"/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Also, if you work with legacy C and C++ programs, you’re likely to encounter pointer-based strings.</a:t>
            </a:r>
          </a:p>
        </p:txBody>
      </p:sp>
      <p:sp>
        <p:nvSpPr>
          <p:cNvPr id="112644" name="Footer Placeholder 3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/>
              <a:t>©1992-2017 by Pearson Education, Inc. All Rights Reserved.</a:t>
            </a:r>
            <a:endParaRPr lang="en-US"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rgbClr val="24B5A1"/>
                </a:solidFill>
                <a:latin typeface="Calibri" panose="020F0502020204030204" pitchFamily="34" charset="0"/>
              </a:rPr>
              <a:t>8.10  </a:t>
            </a:r>
            <a:r>
              <a:rPr lang="en-US" dirty="0">
                <a:solidFill>
                  <a:srgbClr val="3380E6"/>
                </a:solidFill>
                <a:latin typeface="Calibri" panose="020F0502020204030204" pitchFamily="34" charset="0"/>
              </a:rPr>
              <a:t>Pointer-Based Strings (cont.)</a:t>
            </a:r>
          </a:p>
        </p:txBody>
      </p:sp>
      <p:sp>
        <p:nvSpPr>
          <p:cNvPr id="108547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09537" indent="0" eaLnBrk="1" hangingPunct="1">
              <a:lnSpc>
                <a:spcPct val="80000"/>
              </a:lnSpc>
              <a:buFont typeface="Wingdings 3" panose="05040102010807070707" pitchFamily="18" charset="2"/>
              <a:buNone/>
              <a:defRPr/>
            </a:pPr>
            <a:r>
              <a:rPr lang="en-US" sz="2400" b="1" i="1" dirty="0">
                <a:solidFill>
                  <a:srgbClr val="000000"/>
                </a:solidFill>
                <a:latin typeface="Cambria" panose="02040503050406030204" pitchFamily="18" charset="0"/>
              </a:rPr>
              <a:t>Characters and Character Constants</a:t>
            </a:r>
          </a:p>
          <a:p>
            <a:pPr eaLnBrk="1" hangingPunct="1">
              <a:lnSpc>
                <a:spcPct val="80000"/>
              </a:lnSpc>
              <a:defRPr/>
            </a:pPr>
            <a:r>
              <a:rPr lang="en-US" sz="2400" dirty="0">
                <a:solidFill>
                  <a:srgbClr val="000000"/>
                </a:solidFill>
                <a:latin typeface="Cambria" panose="02040503050406030204" pitchFamily="18" charset="0"/>
              </a:rPr>
              <a:t>Characters are the fundamental building blocks of C++ source programs.</a:t>
            </a:r>
          </a:p>
          <a:p>
            <a:pPr eaLnBrk="1" hangingPunct="1">
              <a:lnSpc>
                <a:spcPct val="80000"/>
              </a:lnSpc>
              <a:defRPr/>
            </a:pPr>
            <a:r>
              <a:rPr lang="en-US" sz="2400" dirty="0">
                <a:solidFill>
                  <a:srgbClr val="0000FF"/>
                </a:solidFill>
                <a:latin typeface="Cambria" panose="02040503050406030204" pitchFamily="18" charset="0"/>
              </a:rPr>
              <a:t>Character constant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sz="2400" dirty="0">
                <a:solidFill>
                  <a:srgbClr val="000000"/>
                </a:solidFill>
                <a:latin typeface="Cambria" panose="02040503050406030204" pitchFamily="18" charset="0"/>
              </a:rPr>
              <a:t>An integer value represented as a character in single quotes.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sz="2400" dirty="0">
                <a:solidFill>
                  <a:srgbClr val="000000"/>
                </a:solidFill>
                <a:latin typeface="Cambria" panose="02040503050406030204" pitchFamily="18" charset="0"/>
              </a:rPr>
              <a:t>The </a:t>
            </a:r>
            <a:r>
              <a:rPr lang="en-US" sz="2400" i="1" dirty="0">
                <a:solidFill>
                  <a:srgbClr val="000000"/>
                </a:solidFill>
                <a:latin typeface="Cambria" panose="02040503050406030204" pitchFamily="18" charset="0"/>
              </a:rPr>
              <a:t>value</a:t>
            </a:r>
            <a:r>
              <a:rPr lang="en-US" sz="2400" dirty="0">
                <a:solidFill>
                  <a:srgbClr val="000000"/>
                </a:solidFill>
                <a:latin typeface="Cambria" panose="02040503050406030204" pitchFamily="18" charset="0"/>
              </a:rPr>
              <a:t> of a character constant is the integer value of the character in the machine’s character set.</a:t>
            </a:r>
          </a:p>
        </p:txBody>
      </p:sp>
      <p:sp>
        <p:nvSpPr>
          <p:cNvPr id="113668" name="Footer Placeholder 3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/>
              <a:t>©1992-2017 by Pearson Education, Inc. All Rights Reserved.</a:t>
            </a:r>
            <a:endParaRPr lang="en-US" dirty="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rgbClr val="24B5A1"/>
                </a:solidFill>
                <a:latin typeface="Calibri" panose="020F0502020204030204" pitchFamily="34" charset="0"/>
              </a:rPr>
              <a:t>8.10  </a:t>
            </a:r>
            <a:r>
              <a:rPr lang="en-US" dirty="0">
                <a:solidFill>
                  <a:srgbClr val="3380E6"/>
                </a:solidFill>
                <a:latin typeface="Calibri" panose="020F0502020204030204" pitchFamily="34" charset="0"/>
              </a:rPr>
              <a:t>Pointer-Based Strings (cont.)</a:t>
            </a:r>
          </a:p>
        </p:txBody>
      </p:sp>
      <p:sp>
        <p:nvSpPr>
          <p:cNvPr id="108547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09537" indent="0" eaLnBrk="1" hangingPunct="1">
              <a:lnSpc>
                <a:spcPct val="80000"/>
              </a:lnSpc>
              <a:buFont typeface="Wingdings 3" panose="05040102010807070707" pitchFamily="18" charset="2"/>
              <a:buNone/>
              <a:defRPr/>
            </a:pPr>
            <a:r>
              <a:rPr lang="en-US" sz="3200" b="1" i="1" dirty="0">
                <a:solidFill>
                  <a:srgbClr val="000000"/>
                </a:solidFill>
                <a:latin typeface="Cambria" panose="02040503050406030204" pitchFamily="18" charset="0"/>
              </a:rPr>
              <a:t>Strings</a:t>
            </a:r>
          </a:p>
          <a:p>
            <a:pPr eaLnBrk="1" hangingPunct="1">
              <a:lnSpc>
                <a:spcPct val="80000"/>
              </a:lnSpc>
              <a:defRPr/>
            </a:pPr>
            <a:r>
              <a:rPr lang="en-US" sz="3200" dirty="0">
                <a:solidFill>
                  <a:srgbClr val="000000"/>
                </a:solidFill>
                <a:latin typeface="Cambria" panose="02040503050406030204" pitchFamily="18" charset="0"/>
              </a:rPr>
              <a:t>A string is a series of characters treated as a single unit.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sz="2800" dirty="0">
                <a:solidFill>
                  <a:srgbClr val="000000"/>
                </a:solidFill>
                <a:latin typeface="Cambria" panose="02040503050406030204" pitchFamily="18" charset="0"/>
              </a:rPr>
              <a:t>May include letters, digits and various </a:t>
            </a:r>
            <a:r>
              <a:rPr lang="en-US" sz="2800" dirty="0">
                <a:solidFill>
                  <a:srgbClr val="0000FF"/>
                </a:solidFill>
                <a:latin typeface="Cambria" panose="02040503050406030204" pitchFamily="18" charset="0"/>
              </a:rPr>
              <a:t>special characters</a:t>
            </a:r>
            <a:r>
              <a:rPr lang="en-US" sz="2800" dirty="0">
                <a:solidFill>
                  <a:srgbClr val="000000"/>
                </a:solidFill>
                <a:latin typeface="Cambria" panose="02040503050406030204" pitchFamily="18" charset="0"/>
              </a:rPr>
              <a:t> such as 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+</a:t>
            </a:r>
            <a:r>
              <a:rPr lang="en-US" sz="2800" dirty="0">
                <a:solidFill>
                  <a:srgbClr val="000000"/>
                </a:solidFill>
                <a:latin typeface="Cambria" panose="02040503050406030204" pitchFamily="18" charset="0"/>
              </a:rPr>
              <a:t>, 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-</a:t>
            </a:r>
            <a:r>
              <a:rPr lang="en-US" sz="2800" dirty="0">
                <a:solidFill>
                  <a:srgbClr val="000000"/>
                </a:solidFill>
                <a:latin typeface="Cambria" panose="02040503050406030204" pitchFamily="18" charset="0"/>
              </a:rPr>
              <a:t>, 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*</a:t>
            </a:r>
            <a:r>
              <a:rPr lang="en-US" sz="2800" dirty="0">
                <a:solidFill>
                  <a:srgbClr val="000000"/>
                </a:solidFill>
                <a:latin typeface="Cambria" panose="02040503050406030204" pitchFamily="18" charset="0"/>
              </a:rPr>
              <a:t>, 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/</a:t>
            </a:r>
            <a:r>
              <a:rPr lang="en-US" sz="2800" dirty="0">
                <a:solidFill>
                  <a:srgbClr val="000000"/>
                </a:solidFill>
                <a:latin typeface="Cambria" panose="02040503050406030204" pitchFamily="18" charset="0"/>
              </a:rPr>
              <a:t>and 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$</a:t>
            </a:r>
            <a:r>
              <a:rPr lang="en-US" sz="2800" dirty="0">
                <a:solidFill>
                  <a:srgbClr val="000000"/>
                </a:solidFill>
                <a:latin typeface="Cambria" panose="02040503050406030204" pitchFamily="18" charset="0"/>
              </a:rPr>
              <a:t>.</a:t>
            </a:r>
          </a:p>
          <a:p>
            <a:pPr eaLnBrk="1" hangingPunct="1">
              <a:lnSpc>
                <a:spcPct val="80000"/>
              </a:lnSpc>
              <a:defRPr/>
            </a:pPr>
            <a:r>
              <a:rPr lang="en-US" sz="3200" dirty="0">
                <a:solidFill>
                  <a:srgbClr val="0000FF"/>
                </a:solidFill>
                <a:latin typeface="Cambria" panose="02040503050406030204" pitchFamily="18" charset="0"/>
              </a:rPr>
              <a:t>String literals</a:t>
            </a:r>
            <a:r>
              <a:rPr lang="en-US" sz="3200" dirty="0">
                <a:solidFill>
                  <a:srgbClr val="000000"/>
                </a:solidFill>
                <a:latin typeface="Cambria" panose="02040503050406030204" pitchFamily="18" charset="0"/>
              </a:rPr>
              <a:t>, or </a:t>
            </a:r>
            <a:r>
              <a:rPr lang="en-US" sz="3200" dirty="0">
                <a:solidFill>
                  <a:srgbClr val="0000FF"/>
                </a:solidFill>
                <a:latin typeface="Cambria" panose="02040503050406030204" pitchFamily="18" charset="0"/>
              </a:rPr>
              <a:t>string constants</a:t>
            </a:r>
            <a:r>
              <a:rPr lang="en-US" sz="3200" dirty="0">
                <a:solidFill>
                  <a:srgbClr val="000000"/>
                </a:solidFill>
                <a:latin typeface="Cambria" panose="02040503050406030204" pitchFamily="18" charset="0"/>
              </a:rPr>
              <a:t>, in C++ are written in double quotation marks</a:t>
            </a:r>
          </a:p>
        </p:txBody>
      </p:sp>
      <p:sp>
        <p:nvSpPr>
          <p:cNvPr id="113668" name="Footer Placeholder 3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/>
              <a:t>©1992-2017 by Pearson Education, Inc. All Rights Reserved.</a:t>
            </a:r>
            <a:endParaRPr lang="en-US" dirty="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rgbClr val="24B5A1"/>
                </a:solidFill>
                <a:latin typeface="Calibri" panose="020F0502020204030204" pitchFamily="34" charset="0"/>
              </a:rPr>
              <a:t>8.10  </a:t>
            </a:r>
            <a:r>
              <a:rPr lang="en-US" dirty="0">
                <a:solidFill>
                  <a:srgbClr val="3380E6"/>
                </a:solidFill>
                <a:latin typeface="Calibri" panose="020F0502020204030204" pitchFamily="34" charset="0"/>
              </a:rPr>
              <a:t>Pointer-Based Strings (cont.)</a:t>
            </a:r>
          </a:p>
        </p:txBody>
      </p:sp>
      <p:sp>
        <p:nvSpPr>
          <p:cNvPr id="108547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09537" indent="0" eaLnBrk="1" hangingPunct="1">
              <a:lnSpc>
                <a:spcPct val="80000"/>
              </a:lnSpc>
              <a:buFont typeface="Wingdings 3" panose="05040102010807070707" pitchFamily="18" charset="2"/>
              <a:buNone/>
              <a:defRPr/>
            </a:pPr>
            <a:r>
              <a:rPr lang="en-US" sz="3200" b="1" i="1" dirty="0">
                <a:solidFill>
                  <a:srgbClr val="000000"/>
                </a:solidFill>
                <a:latin typeface="Cambria" panose="02040503050406030204" pitchFamily="18" charset="0"/>
              </a:rPr>
              <a:t>Pointer-Based Strings</a:t>
            </a:r>
          </a:p>
          <a:p>
            <a:pPr eaLnBrk="1" hangingPunct="1">
              <a:lnSpc>
                <a:spcPct val="80000"/>
              </a:lnSpc>
              <a:defRPr/>
            </a:pPr>
            <a:r>
              <a:rPr lang="en-US" sz="3200" dirty="0">
                <a:solidFill>
                  <a:srgbClr val="000000"/>
                </a:solidFill>
                <a:latin typeface="Cambria" panose="02040503050406030204" pitchFamily="18" charset="0"/>
              </a:rPr>
              <a:t>A pointer-based string is a built-in array of characters ending with a </a:t>
            </a:r>
            <a:r>
              <a:rPr lang="en-US" sz="3200" dirty="0">
                <a:solidFill>
                  <a:srgbClr val="0000FF"/>
                </a:solidFill>
                <a:latin typeface="Cambria" panose="02040503050406030204" pitchFamily="18" charset="0"/>
              </a:rPr>
              <a:t>null character</a:t>
            </a:r>
            <a:r>
              <a:rPr lang="en-US" sz="3200" dirty="0">
                <a:solidFill>
                  <a:srgbClr val="000000"/>
                </a:solidFill>
                <a:latin typeface="Cambria" panose="02040503050406030204" pitchFamily="18" charset="0"/>
              </a:rPr>
              <a:t> </a:t>
            </a:r>
            <a:r>
              <a:rPr lang="en-US" sz="3200" dirty="0">
                <a:solidFill>
                  <a:srgbClr val="0000FF"/>
                </a:solidFill>
                <a:latin typeface="Cambria" panose="02040503050406030204" pitchFamily="18" charset="0"/>
              </a:rPr>
              <a:t>(</a:t>
            </a:r>
            <a:r>
              <a:rPr lang="en-US" sz="3200" dirty="0">
                <a:solidFill>
                  <a:srgbClr val="0000FF"/>
                </a:solidFill>
                <a:latin typeface="Consolas" panose="020B0609020204030204" pitchFamily="49" charset="0"/>
              </a:rPr>
              <a:t>'\0'</a:t>
            </a:r>
            <a:r>
              <a:rPr lang="en-US" sz="3200" dirty="0">
                <a:solidFill>
                  <a:srgbClr val="0000FF"/>
                </a:solidFill>
                <a:latin typeface="Cambria" panose="02040503050406030204" pitchFamily="18" charset="0"/>
              </a:rPr>
              <a:t>)</a:t>
            </a:r>
            <a:r>
              <a:rPr lang="en-US" sz="3200" dirty="0">
                <a:solidFill>
                  <a:srgbClr val="000000"/>
                </a:solidFill>
                <a:latin typeface="Cambria" panose="02040503050406030204" pitchFamily="18" charset="0"/>
              </a:rPr>
              <a:t>.</a:t>
            </a:r>
          </a:p>
          <a:p>
            <a:pPr eaLnBrk="1" hangingPunct="1">
              <a:lnSpc>
                <a:spcPct val="80000"/>
              </a:lnSpc>
              <a:defRPr/>
            </a:pPr>
            <a:r>
              <a:rPr lang="en-US" sz="3200" dirty="0">
                <a:solidFill>
                  <a:srgbClr val="000000"/>
                </a:solidFill>
                <a:latin typeface="Cambria" panose="02040503050406030204" pitchFamily="18" charset="0"/>
              </a:rPr>
              <a:t>A string is accessed via a pointer to its first character.</a:t>
            </a:r>
          </a:p>
          <a:p>
            <a:pPr eaLnBrk="1" hangingPunct="1">
              <a:lnSpc>
                <a:spcPct val="80000"/>
              </a:lnSpc>
              <a:defRPr/>
            </a:pPr>
            <a:r>
              <a:rPr lang="en-US" sz="3200" dirty="0">
                <a:solidFill>
                  <a:srgbClr val="000000"/>
                </a:solidFill>
                <a:latin typeface="Cambria" panose="02040503050406030204" pitchFamily="18" charset="0"/>
              </a:rPr>
              <a:t>The </a:t>
            </a:r>
            <a:r>
              <a:rPr 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sizeof</a:t>
            </a:r>
            <a:r>
              <a:rPr lang="en-US" sz="3200" dirty="0">
                <a:solidFill>
                  <a:srgbClr val="000000"/>
                </a:solidFill>
                <a:latin typeface="Cambria" panose="02040503050406030204" pitchFamily="18" charset="0"/>
              </a:rPr>
              <a:t> a string literal is the length of the string including the terminating null character.</a:t>
            </a:r>
          </a:p>
          <a:p>
            <a:pPr eaLnBrk="1" hangingPunct="1">
              <a:lnSpc>
                <a:spcPct val="80000"/>
              </a:lnSpc>
              <a:defRPr/>
            </a:pPr>
            <a:endParaRPr lang="en-US" sz="3200" dirty="0">
              <a:solidFill>
                <a:srgbClr val="000000"/>
              </a:solidFill>
              <a:latin typeface="Cambria" panose="02040503050406030204" pitchFamily="18" charset="0"/>
            </a:endParaRPr>
          </a:p>
        </p:txBody>
      </p:sp>
      <p:sp>
        <p:nvSpPr>
          <p:cNvPr id="113668" name="Footer Placeholder 3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/>
              <a:t>©1992-2017 by Pearson Education, Inc. All Rights Reserved.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2590800" y="5202029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GB" dirty="0"/>
              <a:t>char </a:t>
            </a:r>
            <a:r>
              <a:rPr lang="en-GB" dirty="0" err="1"/>
              <a:t>color</a:t>
            </a:r>
            <a:r>
              <a:rPr lang="en-GB" dirty="0"/>
              <a:t>[]{"blue"}; </a:t>
            </a:r>
          </a:p>
          <a:p>
            <a:r>
              <a:rPr lang="en-GB" dirty="0" err="1"/>
              <a:t>const</a:t>
            </a:r>
            <a:r>
              <a:rPr lang="en-GB" dirty="0"/>
              <a:t> char* </a:t>
            </a:r>
            <a:r>
              <a:rPr lang="en-GB" dirty="0" err="1"/>
              <a:t>colorPtr</a:t>
            </a:r>
            <a:r>
              <a:rPr lang="en-GB" dirty="0"/>
              <a:t>{"blue"}</a:t>
            </a:r>
          </a:p>
        </p:txBody>
      </p:sp>
    </p:spTree>
    <p:extLst>
      <p:ext uri="{BB962C8B-B14F-4D97-AF65-F5344CB8AC3E}">
        <p14:creationId xmlns:p14="http://schemas.microsoft.com/office/powerpoint/2010/main" val="3439018006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rgbClr val="24B5A1"/>
                </a:solidFill>
                <a:latin typeface="Calibri" panose="020F0502020204030204" pitchFamily="34" charset="0"/>
              </a:rPr>
              <a:t>8.10  </a:t>
            </a:r>
            <a:r>
              <a:rPr lang="en-US" dirty="0">
                <a:solidFill>
                  <a:srgbClr val="3380E6"/>
                </a:solidFill>
                <a:latin typeface="Calibri" panose="020F0502020204030204" pitchFamily="34" charset="0"/>
              </a:rPr>
              <a:t>Pointer-Based Strings (cont.)</a:t>
            </a:r>
          </a:p>
        </p:txBody>
      </p:sp>
      <p:sp>
        <p:nvSpPr>
          <p:cNvPr id="113667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09537" indent="0" eaLnBrk="1" hangingPunct="1">
              <a:buFont typeface="Wingdings 3" panose="05040102010807070707" pitchFamily="18" charset="2"/>
              <a:buNone/>
              <a:defRPr/>
            </a:pPr>
            <a:r>
              <a:rPr lang="en-US" b="1" i="1" dirty="0">
                <a:solidFill>
                  <a:srgbClr val="000000"/>
                </a:solidFill>
                <a:latin typeface="Cambria" panose="02040503050406030204" pitchFamily="18" charset="0"/>
              </a:rPr>
              <a:t>Accessing Characters in a C String</a:t>
            </a:r>
          </a:p>
          <a:p>
            <a:pPr eaLnBrk="1" hangingPunct="1">
              <a:defRPr/>
            </a:pPr>
            <a:r>
              <a:rPr lang="en-US" dirty="0">
                <a:solidFill>
                  <a:srgbClr val="000000"/>
                </a:solidFill>
                <a:latin typeface="Cambria" panose="02040503050406030204" pitchFamily="18" charset="0"/>
              </a:rPr>
              <a:t>Because a C string is a built-in array of characters, we can access individual characters in a string directly with array subscript notation.</a:t>
            </a:r>
          </a:p>
        </p:txBody>
      </p:sp>
      <p:sp>
        <p:nvSpPr>
          <p:cNvPr id="119812" name="Footer Placeholder 3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/>
              <a:t>©1992-2017 by Pearson Education, Inc. All Rights Reserved.</a:t>
            </a:r>
            <a:endParaRPr lang="en-US" dirty="0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rgbClr val="24B5A1"/>
                </a:solidFill>
                <a:latin typeface="Calibri" panose="020F0502020204030204" pitchFamily="34" charset="0"/>
              </a:rPr>
              <a:t>8.10  </a:t>
            </a:r>
            <a:r>
              <a:rPr lang="en-US" dirty="0">
                <a:solidFill>
                  <a:srgbClr val="3380E6"/>
                </a:solidFill>
                <a:latin typeface="Calibri" panose="020F0502020204030204" pitchFamily="34" charset="0"/>
              </a:rPr>
              <a:t>Pointer-Based Strings (cont.)</a:t>
            </a:r>
          </a:p>
        </p:txBody>
      </p:sp>
      <p:sp>
        <p:nvSpPr>
          <p:cNvPr id="113667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09537" indent="0">
              <a:buNone/>
              <a:defRPr/>
            </a:pPr>
            <a:r>
              <a:rPr lang="en-US" b="1" i="1" dirty="0">
                <a:solidFill>
                  <a:srgbClr val="000000"/>
                </a:solidFill>
                <a:latin typeface="Cambria" panose="02040503050406030204" pitchFamily="18" charset="0"/>
              </a:rPr>
              <a:t>Reading Strings into Built-In Arrays of </a:t>
            </a:r>
            <a:r>
              <a:rPr lang="en-US" b="1" i="1" dirty="0">
                <a:solidFill>
                  <a:srgbClr val="000000"/>
                </a:solidFill>
                <a:latin typeface="Consolas" panose="020B0609020204030204" pitchFamily="49" charset="0"/>
              </a:rPr>
              <a:t>char</a:t>
            </a:r>
            <a:r>
              <a:rPr lang="en-US" b="1" i="1" dirty="0">
                <a:solidFill>
                  <a:srgbClr val="000000"/>
                </a:solidFill>
                <a:latin typeface="Cambria" panose="02040503050406030204" pitchFamily="18" charset="0"/>
              </a:rPr>
              <a:t> with </a:t>
            </a:r>
            <a:r>
              <a:rPr lang="en-US" b="1" i="1" dirty="0">
                <a:solidFill>
                  <a:srgbClr val="000000"/>
                </a:solidFill>
                <a:latin typeface="Consolas" panose="020B0609020204030204" pitchFamily="49" charset="0"/>
              </a:rPr>
              <a:t>cin</a:t>
            </a:r>
          </a:p>
          <a:p>
            <a:pPr eaLnBrk="1" hangingPunct="1">
              <a:defRPr/>
            </a:pPr>
            <a:r>
              <a:rPr lang="en-US" dirty="0">
                <a:solidFill>
                  <a:srgbClr val="000000"/>
                </a:solidFill>
                <a:latin typeface="Cambria" panose="02040503050406030204" pitchFamily="18" charset="0"/>
              </a:rPr>
              <a:t>A string can be read into a built-in array of 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char</a:t>
            </a:r>
            <a:r>
              <a:rPr lang="en-US" dirty="0">
                <a:solidFill>
                  <a:srgbClr val="000000"/>
                </a:solidFill>
                <a:latin typeface="Cambria" panose="02040503050406030204" pitchFamily="18" charset="0"/>
              </a:rPr>
              <a:t>s using stream extraction with 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cin</a:t>
            </a:r>
            <a:r>
              <a:rPr lang="en-US" dirty="0">
                <a:solidFill>
                  <a:srgbClr val="000000"/>
                </a:solidFill>
                <a:latin typeface="Cambria" panose="02040503050406030204" pitchFamily="18" charset="0"/>
              </a:rPr>
              <a:t>.</a:t>
            </a:r>
          </a:p>
          <a:p>
            <a:pPr eaLnBrk="1" hangingPunct="1">
              <a:defRPr/>
            </a:pPr>
            <a:r>
              <a:rPr lang="en-US" dirty="0">
                <a:solidFill>
                  <a:srgbClr val="000000"/>
                </a:solidFill>
                <a:latin typeface="Cambria" panose="02040503050406030204" pitchFamily="18" charset="0"/>
              </a:rPr>
              <a:t>The 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setw</a:t>
            </a:r>
            <a:r>
              <a:rPr lang="en-US" dirty="0">
                <a:solidFill>
                  <a:srgbClr val="000000"/>
                </a:solidFill>
                <a:latin typeface="Cambria" panose="02040503050406030204" pitchFamily="18" charset="0"/>
              </a:rPr>
              <a:t> stream manipulator can be used to </a:t>
            </a:r>
            <a:r>
              <a:rPr lang="en-US" i="1" dirty="0">
                <a:solidFill>
                  <a:srgbClr val="000000"/>
                </a:solidFill>
                <a:latin typeface="Cambria" panose="02040503050406030204" pitchFamily="18" charset="0"/>
              </a:rPr>
              <a:t>ensure</a:t>
            </a:r>
            <a:r>
              <a:rPr lang="en-US" dirty="0">
                <a:solidFill>
                  <a:srgbClr val="000000"/>
                </a:solidFill>
                <a:latin typeface="Cambria" panose="02040503050406030204" pitchFamily="18" charset="0"/>
              </a:rPr>
              <a:t> that the string read into 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word</a:t>
            </a:r>
            <a:r>
              <a:rPr lang="en-US" dirty="0">
                <a:solidFill>
                  <a:srgbClr val="000000"/>
                </a:solidFill>
                <a:latin typeface="Cambria" panose="02040503050406030204" pitchFamily="18" charset="0"/>
              </a:rPr>
              <a:t> </a:t>
            </a:r>
            <a:r>
              <a:rPr lang="en-US" i="1" dirty="0">
                <a:solidFill>
                  <a:srgbClr val="000000"/>
                </a:solidFill>
                <a:latin typeface="Cambria" panose="02040503050406030204" pitchFamily="18" charset="0"/>
              </a:rPr>
              <a:t>does not exceed the size of the built-in array</a:t>
            </a:r>
            <a:r>
              <a:rPr lang="en-US" dirty="0">
                <a:solidFill>
                  <a:srgbClr val="000000"/>
                </a:solidFill>
                <a:latin typeface="Cambria" panose="02040503050406030204" pitchFamily="18" charset="0"/>
              </a:rPr>
              <a:t>.</a:t>
            </a:r>
          </a:p>
          <a:p>
            <a:pPr lvl="1" eaLnBrk="1" hangingPunct="1">
              <a:defRPr/>
            </a:pPr>
            <a:r>
              <a:rPr lang="en-US" dirty="0">
                <a:solidFill>
                  <a:srgbClr val="000000"/>
                </a:solidFill>
                <a:latin typeface="Cambria" panose="02040503050406030204" pitchFamily="18" charset="0"/>
              </a:rPr>
              <a:t>Applies </a:t>
            </a:r>
            <a:r>
              <a:rPr lang="en-US" i="1" dirty="0">
                <a:solidFill>
                  <a:srgbClr val="000000"/>
                </a:solidFill>
                <a:latin typeface="Cambria" panose="02040503050406030204" pitchFamily="18" charset="0"/>
              </a:rPr>
              <a:t>only</a:t>
            </a:r>
            <a:r>
              <a:rPr lang="en-US" dirty="0">
                <a:solidFill>
                  <a:srgbClr val="000000"/>
                </a:solidFill>
                <a:latin typeface="Cambria" panose="02040503050406030204" pitchFamily="18" charset="0"/>
              </a:rPr>
              <a:t> to the next value being input.</a:t>
            </a:r>
          </a:p>
        </p:txBody>
      </p:sp>
      <p:sp>
        <p:nvSpPr>
          <p:cNvPr id="119812" name="Footer Placeholder 3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/>
              <a:t>©1992-2017 by Pearson Education, Inc. All Rights Reserved.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3210088" y="5181600"/>
            <a:ext cx="27238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 err="1"/>
              <a:t>cin</a:t>
            </a:r>
            <a:r>
              <a:rPr lang="en-GB" dirty="0"/>
              <a:t> &gt;&gt; </a:t>
            </a:r>
            <a:r>
              <a:rPr lang="en-GB" dirty="0" err="1"/>
              <a:t>setw</a:t>
            </a:r>
            <a:r>
              <a:rPr lang="en-GB" dirty="0"/>
              <a:t>(20) &gt;&gt; word;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rgbClr val="24B5A1"/>
                </a:solidFill>
                <a:latin typeface="Calibri" panose="020F0502020204030204" pitchFamily="34" charset="0"/>
              </a:rPr>
              <a:t>8.10  </a:t>
            </a:r>
            <a:r>
              <a:rPr lang="en-US" dirty="0">
                <a:solidFill>
                  <a:srgbClr val="3380E6"/>
                </a:solidFill>
                <a:latin typeface="Calibri" panose="020F0502020204030204" pitchFamily="34" charset="0"/>
              </a:rPr>
              <a:t>Pointer-Based Strings (cont.)</a:t>
            </a:r>
          </a:p>
        </p:txBody>
      </p:sp>
      <p:sp>
        <p:nvSpPr>
          <p:cNvPr id="114691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65238"/>
            <a:ext cx="8229600" cy="4525962"/>
          </a:xfrm>
        </p:spPr>
        <p:txBody>
          <a:bodyPr/>
          <a:lstStyle/>
          <a:p>
            <a:pPr marL="109537" indent="0">
              <a:lnSpc>
                <a:spcPct val="80000"/>
              </a:lnSpc>
              <a:buNone/>
              <a:defRPr/>
            </a:pPr>
            <a:r>
              <a:rPr lang="en-US" sz="2500" b="1" i="1" dirty="0">
                <a:solidFill>
                  <a:srgbClr val="000000"/>
                </a:solidFill>
                <a:latin typeface="Cambria" panose="02040503050406030204" pitchFamily="18" charset="0"/>
              </a:rPr>
              <a:t>Reading Lines of Text into Built-In Arrays of </a:t>
            </a:r>
            <a:r>
              <a:rPr lang="en-US" sz="24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char</a:t>
            </a:r>
            <a:r>
              <a:rPr lang="en-US" sz="2500" b="1" i="1" dirty="0">
                <a:solidFill>
                  <a:srgbClr val="000000"/>
                </a:solidFill>
                <a:latin typeface="Cambria" panose="02040503050406030204" pitchFamily="18" charset="0"/>
              </a:rPr>
              <a:t> with </a:t>
            </a:r>
            <a:r>
              <a:rPr lang="en-US" sz="25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cin.getline</a:t>
            </a:r>
          </a:p>
          <a:p>
            <a:pPr eaLnBrk="1" hangingPunct="1">
              <a:lnSpc>
                <a:spcPct val="80000"/>
              </a:lnSpc>
              <a:defRPr/>
            </a:pPr>
            <a:r>
              <a:rPr lang="en-US" sz="2500" dirty="0">
                <a:solidFill>
                  <a:srgbClr val="000000"/>
                </a:solidFill>
                <a:latin typeface="Cambria" panose="02040503050406030204" pitchFamily="18" charset="0"/>
              </a:rPr>
              <a:t>In some cases, it’s desirable to input an </a:t>
            </a:r>
            <a:r>
              <a:rPr lang="en-US" sz="2500" i="1" dirty="0">
                <a:solidFill>
                  <a:srgbClr val="000000"/>
                </a:solidFill>
                <a:latin typeface="Cambria" panose="02040503050406030204" pitchFamily="18" charset="0"/>
              </a:rPr>
              <a:t>entire line of text </a:t>
            </a:r>
            <a:r>
              <a:rPr lang="en-US" sz="2500" dirty="0">
                <a:solidFill>
                  <a:srgbClr val="000000"/>
                </a:solidFill>
                <a:latin typeface="Cambria" panose="02040503050406030204" pitchFamily="18" charset="0"/>
              </a:rPr>
              <a:t>into a built-in array of </a:t>
            </a:r>
            <a:r>
              <a:rPr lang="en-US" sz="2500" dirty="0">
                <a:solidFill>
                  <a:srgbClr val="000000"/>
                </a:solidFill>
                <a:latin typeface="Consolas" panose="020B0609020204030204" pitchFamily="49" charset="0"/>
              </a:rPr>
              <a:t>char</a:t>
            </a:r>
            <a:r>
              <a:rPr lang="en-US" sz="2500" dirty="0">
                <a:solidFill>
                  <a:srgbClr val="000000"/>
                </a:solidFill>
                <a:latin typeface="Cambria" panose="02040503050406030204" pitchFamily="18" charset="0"/>
              </a:rPr>
              <a:t>s.</a:t>
            </a:r>
          </a:p>
          <a:p>
            <a:pPr eaLnBrk="1" hangingPunct="1">
              <a:lnSpc>
                <a:spcPct val="80000"/>
              </a:lnSpc>
              <a:defRPr/>
            </a:pPr>
            <a:r>
              <a:rPr lang="en-US" sz="2500" dirty="0">
                <a:solidFill>
                  <a:srgbClr val="000000"/>
                </a:solidFill>
                <a:latin typeface="Cambria" panose="02040503050406030204" pitchFamily="18" charset="0"/>
              </a:rPr>
              <a:t>For this purpose, the </a:t>
            </a:r>
            <a:r>
              <a:rPr lang="en-US" sz="2500" dirty="0">
                <a:solidFill>
                  <a:srgbClr val="000000"/>
                </a:solidFill>
                <a:latin typeface="Consolas" panose="020B0609020204030204" pitchFamily="49" charset="0"/>
              </a:rPr>
              <a:t>cin</a:t>
            </a:r>
            <a:r>
              <a:rPr lang="en-US" sz="2500" dirty="0">
                <a:solidFill>
                  <a:srgbClr val="000000"/>
                </a:solidFill>
                <a:latin typeface="Cambria" panose="02040503050406030204" pitchFamily="18" charset="0"/>
              </a:rPr>
              <a:t> object provides the member function </a:t>
            </a:r>
            <a:r>
              <a:rPr lang="en-US" sz="2500" dirty="0">
                <a:solidFill>
                  <a:srgbClr val="0000FF"/>
                </a:solidFill>
                <a:latin typeface="Consolas" panose="020B0609020204030204" pitchFamily="49" charset="0"/>
              </a:rPr>
              <a:t>getline</a:t>
            </a:r>
            <a:r>
              <a:rPr lang="en-US" sz="2500" dirty="0">
                <a:solidFill>
                  <a:srgbClr val="000000"/>
                </a:solidFill>
                <a:latin typeface="Cambria" panose="02040503050406030204" pitchFamily="18" charset="0"/>
              </a:rPr>
              <a:t>, which takes three arguments—a </a:t>
            </a:r>
            <a:r>
              <a:rPr lang="en-US" sz="2500" i="1" dirty="0">
                <a:solidFill>
                  <a:srgbClr val="000000"/>
                </a:solidFill>
                <a:latin typeface="Cambria" panose="02040503050406030204" pitchFamily="18" charset="0"/>
              </a:rPr>
              <a:t>built-in array of </a:t>
            </a:r>
            <a:r>
              <a:rPr lang="en-US" sz="2500" i="1" dirty="0">
                <a:solidFill>
                  <a:srgbClr val="000000"/>
                </a:solidFill>
                <a:latin typeface="Consolas" panose="020B0609020204030204" pitchFamily="49" charset="0"/>
              </a:rPr>
              <a:t>char</a:t>
            </a:r>
            <a:r>
              <a:rPr lang="en-US" sz="2500" i="1" dirty="0">
                <a:solidFill>
                  <a:srgbClr val="000000"/>
                </a:solidFill>
                <a:latin typeface="Cambria" panose="02040503050406030204" pitchFamily="18" charset="0"/>
              </a:rPr>
              <a:t>s </a:t>
            </a:r>
            <a:r>
              <a:rPr lang="en-US" sz="2500" dirty="0">
                <a:solidFill>
                  <a:srgbClr val="000000"/>
                </a:solidFill>
                <a:latin typeface="Cambria" panose="02040503050406030204" pitchFamily="18" charset="0"/>
              </a:rPr>
              <a:t>in which the line of text will be stored, a </a:t>
            </a:r>
            <a:r>
              <a:rPr lang="en-US" sz="2500" i="1" dirty="0">
                <a:solidFill>
                  <a:srgbClr val="000000"/>
                </a:solidFill>
                <a:latin typeface="Cambria" panose="02040503050406030204" pitchFamily="18" charset="0"/>
              </a:rPr>
              <a:t>length</a:t>
            </a:r>
            <a:r>
              <a:rPr lang="en-US" sz="2500" dirty="0">
                <a:solidFill>
                  <a:srgbClr val="000000"/>
                </a:solidFill>
                <a:latin typeface="Cambria" panose="02040503050406030204" pitchFamily="18" charset="0"/>
              </a:rPr>
              <a:t> and a </a:t>
            </a:r>
            <a:r>
              <a:rPr lang="en-US" sz="2500" i="1" dirty="0">
                <a:solidFill>
                  <a:srgbClr val="000000"/>
                </a:solidFill>
                <a:latin typeface="Cambria" panose="02040503050406030204" pitchFamily="18" charset="0"/>
              </a:rPr>
              <a:t>delimiter character</a:t>
            </a:r>
            <a:r>
              <a:rPr lang="en-US" sz="2500" dirty="0">
                <a:solidFill>
                  <a:srgbClr val="000000"/>
                </a:solidFill>
                <a:latin typeface="Cambria" panose="02040503050406030204" pitchFamily="18" charset="0"/>
              </a:rPr>
              <a:t>.</a:t>
            </a:r>
          </a:p>
          <a:p>
            <a:pPr eaLnBrk="1" hangingPunct="1">
              <a:lnSpc>
                <a:spcPct val="80000"/>
              </a:lnSpc>
              <a:defRPr/>
            </a:pPr>
            <a:r>
              <a:rPr lang="en-US" sz="2500" dirty="0">
                <a:solidFill>
                  <a:srgbClr val="000000"/>
                </a:solidFill>
                <a:latin typeface="Cambria" panose="02040503050406030204" pitchFamily="18" charset="0"/>
              </a:rPr>
              <a:t>The function stops reading characters when the delimiter character </a:t>
            </a:r>
            <a:r>
              <a:rPr lang="en-US" sz="2500" dirty="0">
                <a:solidFill>
                  <a:srgbClr val="000000"/>
                </a:solidFill>
                <a:latin typeface="Consolas" panose="020B0609020204030204" pitchFamily="49" charset="0"/>
              </a:rPr>
              <a:t>'\n'</a:t>
            </a:r>
            <a:r>
              <a:rPr lang="en-US" sz="2500" dirty="0">
                <a:solidFill>
                  <a:srgbClr val="000000"/>
                </a:solidFill>
                <a:latin typeface="Cambria" panose="02040503050406030204" pitchFamily="18" charset="0"/>
              </a:rPr>
              <a:t> is encountered, when the </a:t>
            </a:r>
            <a:r>
              <a:rPr lang="en-US" sz="2500" i="1" dirty="0">
                <a:solidFill>
                  <a:srgbClr val="000000"/>
                </a:solidFill>
                <a:latin typeface="Cambria" panose="02040503050406030204" pitchFamily="18" charset="0"/>
              </a:rPr>
              <a:t>end-of-file indicator</a:t>
            </a:r>
            <a:r>
              <a:rPr lang="en-US" sz="2500" dirty="0">
                <a:solidFill>
                  <a:srgbClr val="000000"/>
                </a:solidFill>
                <a:latin typeface="Cambria" panose="02040503050406030204" pitchFamily="18" charset="0"/>
              </a:rPr>
              <a:t> is entered or when the number of characters read so far is one less than the length specified in the second argument.</a:t>
            </a:r>
          </a:p>
          <a:p>
            <a:pPr eaLnBrk="1" hangingPunct="1">
              <a:lnSpc>
                <a:spcPct val="80000"/>
              </a:lnSpc>
              <a:defRPr/>
            </a:pPr>
            <a:r>
              <a:rPr lang="en-US" sz="2500" dirty="0">
                <a:solidFill>
                  <a:srgbClr val="000000"/>
                </a:solidFill>
                <a:latin typeface="Cambria" panose="02040503050406030204" pitchFamily="18" charset="0"/>
              </a:rPr>
              <a:t>The third argument to </a:t>
            </a:r>
            <a:r>
              <a:rPr lang="en-US" sz="2500" dirty="0">
                <a:solidFill>
                  <a:srgbClr val="000000"/>
                </a:solidFill>
                <a:latin typeface="Consolas" panose="020B0609020204030204" pitchFamily="49" charset="0"/>
              </a:rPr>
              <a:t>cin.getline</a:t>
            </a:r>
            <a:r>
              <a:rPr lang="en-US" sz="2500" dirty="0">
                <a:solidFill>
                  <a:srgbClr val="000000"/>
                </a:solidFill>
                <a:latin typeface="Cambria" panose="02040503050406030204" pitchFamily="18" charset="0"/>
              </a:rPr>
              <a:t> has </a:t>
            </a:r>
            <a:r>
              <a:rPr lang="en-US" sz="2500" dirty="0">
                <a:solidFill>
                  <a:srgbClr val="000000"/>
                </a:solidFill>
                <a:latin typeface="Consolas" panose="020B0609020204030204" pitchFamily="49" charset="0"/>
              </a:rPr>
              <a:t>'\n'</a:t>
            </a:r>
            <a:r>
              <a:rPr lang="en-US" sz="2500" dirty="0">
                <a:solidFill>
                  <a:srgbClr val="000000"/>
                </a:solidFill>
                <a:latin typeface="Cambria" panose="02040503050406030204" pitchFamily="18" charset="0"/>
              </a:rPr>
              <a:t> as a default value.</a:t>
            </a:r>
          </a:p>
        </p:txBody>
      </p:sp>
      <p:sp>
        <p:nvSpPr>
          <p:cNvPr id="120836" name="Footer Placeholder 3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/>
              <a:t>©1992-2017 by Pearson Education, Inc. All Rights Reserved.</a:t>
            </a:r>
            <a:endParaRPr lang="en-US" dirty="0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rgbClr val="24B5A1"/>
                </a:solidFill>
                <a:latin typeface="Calibri" panose="020F0502020204030204" pitchFamily="34" charset="0"/>
              </a:rPr>
              <a:t>8.11  </a:t>
            </a:r>
            <a:r>
              <a:rPr lang="en-US" dirty="0">
                <a:solidFill>
                  <a:srgbClr val="3380E6"/>
                </a:solidFill>
                <a:latin typeface="Calibri" panose="020F0502020204030204" pitchFamily="34" charset="0"/>
              </a:rPr>
              <a:t>Note About Smart Pointers</a:t>
            </a:r>
          </a:p>
        </p:txBody>
      </p:sp>
      <p:sp>
        <p:nvSpPr>
          <p:cNvPr id="115715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95400"/>
            <a:ext cx="8229600" cy="4525963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rgbClr val="000000"/>
                </a:solidFill>
                <a:latin typeface="Cambria" panose="02040503050406030204" pitchFamily="18" charset="0"/>
              </a:rPr>
              <a:t>Later in the book, we introduce dynamic memory management with pointers, which allows you at execution time to create and destroy objects as needed. </a:t>
            </a:r>
          </a:p>
          <a:p>
            <a:pPr>
              <a:defRPr/>
            </a:pPr>
            <a:r>
              <a:rPr lang="en-US" dirty="0">
                <a:solidFill>
                  <a:srgbClr val="000000"/>
                </a:solidFill>
                <a:latin typeface="Cambria" panose="02040503050406030204" pitchFamily="18" charset="0"/>
              </a:rPr>
              <a:t>Improperly managing this process is a source of subtle errors. </a:t>
            </a:r>
          </a:p>
          <a:p>
            <a:pPr>
              <a:defRPr/>
            </a:pPr>
            <a:r>
              <a:rPr lang="en-US" dirty="0">
                <a:solidFill>
                  <a:srgbClr val="000000"/>
                </a:solidFill>
                <a:latin typeface="Cambria" panose="02040503050406030204" pitchFamily="18" charset="0"/>
              </a:rPr>
              <a:t>We’ll discuss “smart pointers,” which help you avoid dynamic memory management errors by providing additional functionality beyond that of built-in pointers. </a:t>
            </a:r>
          </a:p>
        </p:txBody>
      </p:sp>
      <p:sp>
        <p:nvSpPr>
          <p:cNvPr id="123908" name="Footer Placeholder 3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/>
              <a:t>©1992-2017 by Pearson Education, Inc.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865004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ppt/theme/themeOverride2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ppt/theme/themeOverride3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ppt/theme/themeOverride4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cpphtp10_04</Template>
  <TotalTime>3485</TotalTime>
  <Words>5460</Words>
  <Application>Microsoft Office PowerPoint</Application>
  <PresentationFormat>On-screen Show (4:3)</PresentationFormat>
  <Paragraphs>454</Paragraphs>
  <Slides>95</Slides>
  <Notes>2</Notes>
  <HiddenSlides>1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95</vt:i4>
      </vt:variant>
    </vt:vector>
  </HeadingPairs>
  <TitlesOfParts>
    <vt:vector size="107" baseType="lpstr">
      <vt:lpstr>Arial</vt:lpstr>
      <vt:lpstr>Calibri</vt:lpstr>
      <vt:lpstr>Cambria</vt:lpstr>
      <vt:lpstr>Consolas</vt:lpstr>
      <vt:lpstr>Courier</vt:lpstr>
      <vt:lpstr>Goudy Sans Medium</vt:lpstr>
      <vt:lpstr>Lucida Sans Unicode</vt:lpstr>
      <vt:lpstr>Verdana</vt:lpstr>
      <vt:lpstr>Wingdings</vt:lpstr>
      <vt:lpstr>Wingdings 2</vt:lpstr>
      <vt:lpstr>Wingdings 3</vt:lpstr>
      <vt:lpstr>Concourse</vt:lpstr>
      <vt:lpstr>Pointers</vt:lpstr>
      <vt:lpstr>8.1  Introduction</vt:lpstr>
      <vt:lpstr>PowerPoint Presentation</vt:lpstr>
      <vt:lpstr>8.2  Pointer Variable Declarations and Initialization</vt:lpstr>
      <vt:lpstr>PowerPoint Presentation</vt:lpstr>
      <vt:lpstr>8.2.1  Memory addresses</vt:lpstr>
      <vt:lpstr>8.2.1  Declaring Pointers</vt:lpstr>
      <vt:lpstr>PowerPoint Presentation</vt:lpstr>
      <vt:lpstr>8.2.2  Initializing Pointers</vt:lpstr>
      <vt:lpstr>PowerPoint Presentation</vt:lpstr>
      <vt:lpstr>8.2.3  Null Pointers Prior to C++11</vt:lpstr>
      <vt:lpstr>8.3.1  Address (&amp;) Operator</vt:lpstr>
      <vt:lpstr>PowerPoint Presentation</vt:lpstr>
      <vt:lpstr>8.3.2  Indirection (*) Operator</vt:lpstr>
      <vt:lpstr>8.3.2  Indirection (*) Operator</vt:lpstr>
      <vt:lpstr>PowerPoint Presentation</vt:lpstr>
      <vt:lpstr>PowerPoint Presentation</vt:lpstr>
      <vt:lpstr>PowerPoint Presentation</vt:lpstr>
      <vt:lpstr>8.3.3  Exercise</vt:lpstr>
      <vt:lpstr>8.4  Pass-by-Reference with Pointers</vt:lpstr>
      <vt:lpstr>8.4  Exercises</vt:lpstr>
      <vt:lpstr>8.4  Pass-by-Reference with Pointers</vt:lpstr>
      <vt:lpstr>8.4  Pass-by-Reference with Pointers (cont.)</vt:lpstr>
      <vt:lpstr>PowerPoint Presentation</vt:lpstr>
      <vt:lpstr>8.4  Pass-by-Reference with Pointers (cont.)</vt:lpstr>
      <vt:lpstr>PowerPoint Presentation</vt:lpstr>
      <vt:lpstr>8.4  Pass-by-Reference with Pointers (cont.)</vt:lpstr>
      <vt:lpstr>8.4  Pass-by-Reference with Pointers (cont.)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8.4  Exercises</vt:lpstr>
      <vt:lpstr>PowerPoint Presentation</vt:lpstr>
      <vt:lpstr>PowerPoint Presentation</vt:lpstr>
      <vt:lpstr>8.5  Built-In Arrays</vt:lpstr>
      <vt:lpstr>8.5.2  Initializing Built-In Arrays</vt:lpstr>
      <vt:lpstr>8.5.2  Initializing Built-In Arrays</vt:lpstr>
      <vt:lpstr>PowerPoint Presentation</vt:lpstr>
      <vt:lpstr>8.5.3  Passing Built-In Arrays to functions</vt:lpstr>
      <vt:lpstr>8.5.4  Declaring Built-In Arrays Parameters</vt:lpstr>
      <vt:lpstr>8.5.5  C++11: Standard Library Functions begin and end</vt:lpstr>
      <vt:lpstr>8.5.6  Built-In Array Limitations</vt:lpstr>
      <vt:lpstr>8.5.7  Built-In Arrays Sometimes Are Required</vt:lpstr>
      <vt:lpstr>8.5.7 Returning an array using pointers </vt:lpstr>
      <vt:lpstr>8.5.7 Returning an array using std::array </vt:lpstr>
      <vt:lpstr>8.6  Using const with Pointers</vt:lpstr>
      <vt:lpstr>PowerPoint Presentation</vt:lpstr>
      <vt:lpstr>8.6  Using const with Pointers (cont.)</vt:lpstr>
      <vt:lpstr>a nonconstant pointer to constant data</vt:lpstr>
      <vt:lpstr>Constant pointer to Nonconstant data</vt:lpstr>
      <vt:lpstr>Constant pointer to constant data</vt:lpstr>
      <vt:lpstr>8.7  sizeof Operator</vt:lpstr>
      <vt:lpstr>8.7  sizeof Operator (cont.)</vt:lpstr>
      <vt:lpstr>PowerPoint Presentation</vt:lpstr>
      <vt:lpstr>PowerPoint Presentation</vt:lpstr>
      <vt:lpstr>PowerPoint Presentation</vt:lpstr>
      <vt:lpstr>PowerPoint Presentation</vt:lpstr>
      <vt:lpstr>8.7  sizeof Operator (cont.)</vt:lpstr>
      <vt:lpstr>8.8  Pointer Expressions and Pointer Arithmetic</vt:lpstr>
      <vt:lpstr>PowerPoint Presentation</vt:lpstr>
      <vt:lpstr>8.8  Pointer Expressions and Pointer Arithmetic</vt:lpstr>
      <vt:lpstr>PowerPoint Presentation</vt:lpstr>
      <vt:lpstr>8.8.1  Adding Integers to and Subtracting Integers from Pointers </vt:lpstr>
      <vt:lpstr>8.8.1  Adding Integers to and Subtracting Integers from Pointers</vt:lpstr>
      <vt:lpstr>PowerPoint Presentation</vt:lpstr>
      <vt:lpstr>PowerPoint Presentation</vt:lpstr>
      <vt:lpstr>8.8.3  Subtracting Pointers </vt:lpstr>
      <vt:lpstr>PowerPoint Presentation</vt:lpstr>
      <vt:lpstr>8.8.3  Pointer Assignment</vt:lpstr>
      <vt:lpstr>PowerPoint Presentation</vt:lpstr>
      <vt:lpstr>8.8.4  Cannot Dereference a void*</vt:lpstr>
      <vt:lpstr>PowerPoint Presentation</vt:lpstr>
      <vt:lpstr>8.8.5  Comparing Pointers</vt:lpstr>
      <vt:lpstr>8.9  Relationship Between Pointers and Built-In Arrays</vt:lpstr>
      <vt:lpstr>8.9  Relationship Between Pointers and Built-In Arrays</vt:lpstr>
      <vt:lpstr>8.9.1  Pointer/Offset Notation</vt:lpstr>
      <vt:lpstr>8.9  Relationship Between Pointers and Built-In Arrays (cont.)</vt:lpstr>
      <vt:lpstr>8.9.2  Pointer/Offset Notation with the Built-In Array’s Name as the Pointer</vt:lpstr>
      <vt:lpstr>8.9.3  Pointer/Subscript Notation</vt:lpstr>
      <vt:lpstr>PowerPoint Presentation</vt:lpstr>
      <vt:lpstr>8.9.4  Demonstrating the Relationship Between Pointers and Built-In Arrays</vt:lpstr>
      <vt:lpstr>PowerPoint Presentation</vt:lpstr>
      <vt:lpstr>PowerPoint Presentation</vt:lpstr>
      <vt:lpstr>PowerPoint Presentation</vt:lpstr>
      <vt:lpstr>8.10  Pointer-Based Strings</vt:lpstr>
      <vt:lpstr>8.10  Pointer-Based Strings (cont.)</vt:lpstr>
      <vt:lpstr>8.10  Pointer-Based Strings (cont.)</vt:lpstr>
      <vt:lpstr>8.10  Pointer-Based Strings (cont.)</vt:lpstr>
      <vt:lpstr>8.10  Pointer-Based Strings (cont.)</vt:lpstr>
      <vt:lpstr>8.10  Pointer-Based Strings (cont.)</vt:lpstr>
      <vt:lpstr>8.10  Pointer-Based Strings (cont.)</vt:lpstr>
      <vt:lpstr>8.11  Note About Smart Pointers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Pointers</dc:title>
  <dc:creator>Windows User</dc:creator>
  <cp:lastModifiedBy>Farhan A. Siddiqui / Visiting Faculty</cp:lastModifiedBy>
  <cp:revision>99</cp:revision>
  <dcterms:created xsi:type="dcterms:W3CDTF">2009-09-14T19:22:56Z</dcterms:created>
  <dcterms:modified xsi:type="dcterms:W3CDTF">2024-11-03T17:51:18Z</dcterms:modified>
</cp:coreProperties>
</file>